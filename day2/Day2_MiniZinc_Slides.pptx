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14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Sets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Enum Types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สร้างโมเดลที่ยืดหยุ่น — รองรับข้อมูลทุกขนาด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จัดการตัวแปรหลายตัว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329184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Sets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ชุดค่าและการ filter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2560320" cy="822960"/>
          </a:xfrm>
          <a:prstGeom prst="rect">
            <a:avLst/>
          </a:prstGeom>
          <a:solidFill>
            <a:srgbClr val="203D5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612648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Enum Types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ชื่อแทนตัวเลข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กำหนดการวันที่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09:00–10:00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38528" y="107899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 และ Sets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49240" y="107899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การประกาศ, การเข้าถึง, set operations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64008" cy="54864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38528" y="17007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forall, sum, Comprehensions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49240" y="170078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functions, generators, where clause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23225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38528" y="23225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2A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49240" y="232257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Production Planning — ทดลองทำเอง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02920" y="294436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13:00–14:00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38528" y="294436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Enumerated Types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49240" y="2944368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declaration, array indexing, data 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64008" cy="5486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02920" y="3566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14:00–15:00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38528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Conditional Expressions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35661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if-then-else, bool2int, forall+where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87952"/>
            <a:ext cx="8412480" cy="5486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64008" cy="5486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15:00–16:00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38528" y="4187952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Workshop 2B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49240" y="4187952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Multi-Product Multi-Line — allowed lines, minimize cost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ทำไมต้องใช้ Arrays?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2179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ปัญหาจริง: จำนวนตัวแปรขึ้นอยู่กับข้อมูล — ไม่รู้ล่วงหน้าว่ามีกี่สินค้า กี่เครื่องจักร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3977640" cy="265176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77640" cy="41148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ไม่ใช้ Arrays (แย่)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79476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54864" cy="201168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331720"/>
            <a:ext cx="3630168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p1;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p2;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p3;  % ...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3*p1+5*p2+2*p3&lt;=120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ถ้าเพิ่มสินค้า → แก้ทุกบรรทัด!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4160520" cy="2651760"/>
          </a:xfrm>
          <a:prstGeom prst="rect">
            <a:avLst/>
          </a:prstGeom>
          <a:solidFill>
            <a:srgbClr val="E8F5E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617720" y="1828800"/>
            <a:ext cx="4160520" cy="4114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617720" y="18288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ใช้ Arrays (ดี)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3977640" cy="20116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54864" cy="2011680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855464" y="2331720"/>
            <a:ext cx="3813048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3;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labor;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(labor[i]*p[i]) &lt;= 120;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เพิ่มสินค้าได้เพียงแก้ n และ data — โมเดลไม่ต้องแก้!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Arrays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4124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Parameter Array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[1..5]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 = [400,300,500,200,450];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Decision Variable Array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</a:t>
            </a:r>
            <a:r>
              <a:rPr lang="en-US" sz="110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0..100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produce;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80944"/>
            <a:ext cx="8412480" cy="84124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035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 (ตาราง)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32841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[JOBS, MACHINES]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time_needed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เข้าถึงด้วย: time_needed[j, m]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64008" cy="84124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986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Literal (inline)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19342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[1..3,1..2] of </a:t>
            </a: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mat 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[| 1, 2 | 3, 4 | 5, 6 |];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| คั่นระหว่างแถว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Array Declarations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— ชุดของค่า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150876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150876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4864608" cy="1508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Set declarations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MACHINES = {1,2,3};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DAYS = 1..7;   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range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WEEKEND = {6, 7};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ตรวจสอบ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membership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0" y="108680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470857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1470857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47085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สมาชิก: 3 in {1,2,3}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818329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181832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818329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รวมเซต: A union 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2165801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2165801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165801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ตัดกัน: A intersect 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513273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669280" y="2513273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513273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ผลต่าง: A diff 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2860745"/>
            <a:ext cx="3200400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669280" y="2860745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card(S)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860745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จำนวนสมาชิก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3208217"/>
            <a:ext cx="320040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669280" y="3208217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208217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เป็นเซตย่อย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7249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ประยุกต์ใช้จริง: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1" y="3054096"/>
            <a:ext cx="5010912" cy="14173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3054096"/>
            <a:ext cx="54864" cy="14173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512064" y="3054096"/>
            <a:ext cx="8247888" cy="1417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กรองด้วย where: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ทำงานเฉพาะวันทำงาน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of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WORKDAYS = 1..5;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DAYS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in WORKDAYS)(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workers[d] &gt;= min_workers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เฉพาะวันธรรมดา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Sets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และ sum — หัวใจของ MiniZinc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07899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forall( generator )( constraint 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24869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ทุก resource </a:t>
            </a:r>
            <a:r>
              <a:rPr lang="en-US" sz="9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ต้องไม่เกิน</a:t>
            </a: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capacity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RESOURCES)(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(consumption[p,r] * produce[p]) &lt;= capacity[r]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64008" cy="1078992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 generator )( expression 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9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รวมกำไรทุกสินค้า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95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PRODUCTS)(profit[p] * produce[p]);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r>
              <a:rPr lang="en-US" sz="9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8412480" cy="107899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64008" cy="107899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3465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— filter generator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กรองเฉพาะที่เกี่ยวข้อง (หลีกเลี่ยง div by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RES)(sum(p in PRD </a:t>
            </a:r>
            <a:r>
              <a:rPr lang="en-US" sz="9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c[p,r]&gt;0)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(c[p,r]*produce[p]) &lt;= cap[r]);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forall + sum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ช่วงเช้า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669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expression  |  generator  where  condition 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274320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54864" cy="27432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12064" y="1737360"/>
            <a:ext cx="8247888" cy="2743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สร้าง list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ของกำไรรวมแต่ละสินค้า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[profit[p]*produce[p] | p in PRODUCTS]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Output: แสดงเฉพาะสินค้าที่ผลิต (&gt; 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show(p) ++ " = " ++ show(produce[p]) ++ "\n"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 in PRODUCTS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fix(produce[p]) &gt; 0 ]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นับจำนวนวันที่ OT (bool2int)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 in DAYS)(</a:t>
            </a: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bool2int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(overtime[d] &gt; 0))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exists: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มีอย่างน้อยหนึ่งที่เป็นจริง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exists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PRODUCTS)(produce[p] &gt; 5);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List Comprehensions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ตัวอย่างสมบูรณ์: Multi-Product Planning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029200" cy="35204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52044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4864608" cy="35204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4;   % สินค้า 4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ชนิด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[400, 300, 500, 200];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weight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[3, 2, 5, 1];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capacity = 10;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0..5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produce;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(weight[i]*produce[i]) &lt;= capacity;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1..n)(profit[i]*produce[i]);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261872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577840" y="1261872"/>
            <a:ext cx="54864" cy="65836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5669280" y="1261872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กำหนด n ครั้งเดียว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ตัวแปรอื่นตามอัตโนมัติ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2514600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577840" y="2514600"/>
            <a:ext cx="54864" cy="65836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669280" y="251460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1 constraint ครอบ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resource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931920"/>
            <a:ext cx="3200400" cy="658368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577840" y="3931920"/>
            <a:ext cx="54864" cy="658368"/>
          </a:xfrm>
          <a:prstGeom prst="rect">
            <a:avLst/>
          </a:prstGeom>
          <a:solidFill>
            <a:srgbClr val="1A6B4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objective ก็ใช้ sum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 hardcode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ตัวอย่าง Arrays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2A — Generic Production Planning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workshop2a_starter.mzn + workshop2a_data.dzn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499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7393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 forall(r in RESOURCES)( sum(...) &lt;= capacity[r] ) แทน TODO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12264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365760" y="21122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167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solve maximize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44144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 solve maximize sum(p in PRODUCTS)(profit[p] * produce[p]);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365760" y="27797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รันกับ data file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10896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minizinc workshop2a_starter.mzn workshop2a_data.dzn — ตรวจสอบผล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447288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365760" y="344728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502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data file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7764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เปลี่ยนเป็น workshop2a_data2.dzn (6 สินค้า) — โมเดลเดิมรันได้เลย!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Min requirement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444398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สินค้าแรกต้องผลิตอย่างน้อย 3 หน่วย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Workshop 2A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62F4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Types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Conditional Expressions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3456432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658368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declarations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indexing ด้วย enum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24528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58368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if-then-else-endif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608576"/>
            <a:ext cx="64008" cy="2743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58368" y="46085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Enumerated Types — ชื่อแทนตัวเลข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9436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แทนที่จะใช้ 1,2,3 — ใช้ชื่อจริง: ChairA, ChairB, TableX ทำให้อ่านและ debug ง่ายขึ้นมาก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4023360" cy="274320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023360" cy="384048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365760" y="181051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ก่อน — ใช้ตัวเลข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840480" cy="217627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54864" cy="2176272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603504" y="2267712"/>
            <a:ext cx="3675888" cy="21762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หมายเลข 1=Gear, 2=Axle, 3=Frame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[1..3]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 แสดง 1, 2, 3 — ไม่รู้คืออะไร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produce[1] != produce[2];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produce[1] คืออะไร?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10512"/>
            <a:ext cx="4206240" cy="27432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572000" y="1810512"/>
            <a:ext cx="4206240" cy="38404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4572000" y="18105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หลัง — ใช้ Enum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267712"/>
            <a:ext cx="4023360" cy="217627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663440" y="2267712"/>
            <a:ext cx="54864" cy="217627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4809744" y="2267712"/>
            <a:ext cx="3858768" cy="21762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{ Gear, Axle, Frame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output แสดง Gear, Axle, Frame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profit[Gear]  % ชัดเจน!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profit[Axle]  % ไม่สับสน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Enum Types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การประกาศและใช้งาน Enum Types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24028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224028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22402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กำหนดใน model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 = { LaserCutter, Welder, Assembler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= { ChairA, ChairB, TableX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กำหนดใน data file (.dzn)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ประกาศใน .mzn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ไม่กำหนดค่า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ใน .dzn:  PRODUCTS = { Bolt, Nut, Bracket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ใช้งาน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  % index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ด้วย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in MACHINES)(load[m] &lt;= cap[m]);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34564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จุดสำคัญ: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767328"/>
            <a:ext cx="841248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3767328"/>
            <a:ext cx="54864" cy="29260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02920" y="376732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ใน model vs. data file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376732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ถ้าประกาศใน .mzn ไม่ใส่ค่า → กำหนดค่าใน .dzn ได้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096512"/>
            <a:ext cx="84124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4096512"/>
            <a:ext cx="54864" cy="2926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ใช้เป็น array index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4096512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array[MACHINES] of int — ใช้ชื่อเครื่องแทนตัวเลข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25696"/>
            <a:ext cx="8412480" cy="292608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4425696"/>
            <a:ext cx="54864" cy="2926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02920" y="44256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ใน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4425696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show(p) จะแสดง 'ChairA' ไม่ใช่ '1'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Enum Declarations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 — Enum + Data File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production.mzn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06240" cy="30175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301752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512064" y="1371600"/>
            <a:ext cx="4041648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profit;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[RESOURCES]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[PRODUCTS,RESOURCES]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consume;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[PRODUCTS]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 var 0..100: produce;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 in RESOURCES)(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(consume[p,r]*produce[p])&lt;=cap[r]);</a:t>
            </a:r>
            <a:endParaRPr lang="en-US" sz="105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maximize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sum(p in PRODUCTS)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(profit[p]*produce[p]);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factory_a.dzn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4023360" cy="301752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54864" cy="3017520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4901184" y="1371600"/>
            <a:ext cx="3858768" cy="30175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  = { A, B };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 = { Labor, Mat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  = [800, 1200];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     = [120, 150];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  = [| 3, 5 | 5, 2 |];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เปลี่ยนโรงงาน → แก้ .dzn เท่านั้น: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PRODUCTS = { P1,P2,P3,P4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profit = [600,900,750,1100];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02920" y="45354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Model เดิม + Data ต่างกัน = แก้ปัญหาต่างโรงงานได้ทันที!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Generic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Expressions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&lt;bool&gt;  then  &lt;expr1&gt;  else  &lt;expr2&gt;  endif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1207008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64008" cy="120700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48640" y="17922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Constraints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สินค้าที่ไลน์อนุญาตเท่านั้นที่ผลิตได้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PRODUCTS, l in LINES)(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l in allowed[p]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produce[p,l]=0 endif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64008" cy="1207008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4728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แสดงสถานะแตกต่างกัน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fix(ot[d]) &gt; 0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"OT"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"normal" endif)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4462272"/>
            <a:ext cx="64008" cy="34747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0292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bool2int(expr) = 1 ถ้าเป็นจริง, 0 ถ้าเป็นเท็จ  →  sum(d in DAYS)(bool2int(ot[d]&gt;0)) = นับวัน 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Conditional Expressions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Production with Overtime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273552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273552"/>
          </a:xfrm>
          <a:prstGeom prst="rect">
            <a:avLst/>
          </a:prstGeom>
          <a:solidFill>
            <a:srgbClr val="0D768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273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 = 6;   % 6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วัน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demand = [10,15,8,20,12,5];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regular_cap = 12;   % ผลิตปกติสูงสุด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0..20: reg;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ปกติ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0..20: ot;   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OT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reg[d] + ot[d] &gt;= demand[d] /\ reg[d] &lt;= regular_cap);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cost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1..n)(100*reg[d] + 150*ot[d]);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ot_days = 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 in 1..n)(</a:t>
            </a: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bool2int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(ot[d]&gt;0));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 minimize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480560"/>
            <a:ext cx="8412480" cy="292608"/>
          </a:xfrm>
          <a:prstGeom prst="rect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bool2int(ot[d] &gt; 0) = 1 ถ้าวันนั้นมี OT, 0 ถ้าไม่มี — sum นับจำนวนวันที่ใช้ OT ได้เลย!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bool2int ตัวอย่าง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ช่วงบ่าย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+ where — กรองเงื่อนไข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291840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291840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2918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where กรองเฉพาะสิ่งที่ต้องการ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1. เฉพาะ resource ที่สินค้านั้นใช้จริง (หลีกเลี่ยง div by zero)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max_p = max(p in PRODUCTS)(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min(r in RESOURCES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consume[p,r] &gt; 0)(cap[r] div consume[p,r]));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2.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เฉพาะสินค้าที่ได้รับอนุญาตสำหรับไลน์นั้น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in PRODUCTS, l in LINES)(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(l in allowed[p]) then produce[p,l] = 0 endif);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3. Output: แสดงเฉพาะ row </a:t>
            </a:r>
            <a:r>
              <a:rPr lang="en-US" sz="1050" dirty="0" err="1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ที่มีค่า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show(p)++" บน "++show(l)++": "++show(produce[p,l])++"\n"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p in PRODUCTS, l in LINES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fix(produce[p,l]) &gt; 0 ]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50292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ใช้ได้ใน: forall, sum, exists, array comprehension — เป็น pattern ที่ใช้บ่อยมาก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forall + where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Workshop 2B — Multi-Product Multi-Line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เวลา: 60 นาที  |  ไฟล์: workshop2b_starter.mzn + workshop2b_data.dzn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102412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8183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โจทย์: โรงงานมีไลน์ผลิต 3 ไลน์ และสินค้า 5 ชนิด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แต่ละสินค้าใช้ได้แค่ไลน์ที่กำหนด (set of LINES: allowed)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ต้นทุนต่อหน่วยต่างกันในแต่ละไลน์ — minimize ต้นทุนรวม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ไลน์ที่ไม่อนุญาต → produce = 0: 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05072" y="2514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 not in allowed[p] then produce[p,l] = 0 endif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365760" y="2953512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29535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constraint: แต่ละไลน์ไม่เกิน line_capacity: 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05072" y="295351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forall(l in LINES)( sum(p in PRODUCTS)(produce[p,l]) &lt;= line_capacity[l] 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365760" y="3392424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3924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เปลี่ยน solve satisfy → solve minimize total_cost: 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05072" y="33924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total_cost คำนวณไว้แล้ว = sum(p,l)(unit_cost[p,l] * produce[p,l])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31336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365760" y="3831336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365760" y="3831336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38313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ตรวจสอบผล: 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05072" y="383133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แต่ละสินค้าใช้ไลน์ที่ถูกที่สุดหรือเปล่า? ทำไม?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70248"/>
            <a:ext cx="841248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65760" y="4270248"/>
            <a:ext cx="438912" cy="38404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65760" y="4270248"/>
            <a:ext cx="438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27024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(ท้าทาย) ห้ามใช้ Line2+Line3 พร้อมกัน: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005072" y="427024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sum(p)(produce[p,Line2]) = 0 \/ sum(p)(produce[p,Line3]) = 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Workshop 2B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ที่ใช้บ่อยในโมเดลจริง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Resource Capacity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forall(r in R)(sum(p in P)(c[p,r]*x[p]) &lt;= cap[r]);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89320" y="1389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resource ต้องไม่เกิน — ใช้ใน scheduling, production, routing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Enum + Data 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408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PRODUCTS; array[PRODUCTS] of int: profit;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2304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โมเดลยืดหยุ่น รองรับข้อมูลทุกขนาด ไม่ต้องแก้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48640" y="2962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Conditional Assignment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552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l in allowed[p] then true else produce[p,l]=0 endif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32186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กำหนดเงื่อนไขซับซ้อน เช่น ไลน์ที่อนุญาต, กะที่ทำได้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48640" y="38770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Count with bool2int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16966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 in DAYS)(bool2int(ot[d] &gt; 0))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9320" y="4133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นับจำนวนกรณีที่เกิดขึ้น เช่น วัน OT, เครื่องที่ใช้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Global Constraints — alldifferent, cumulative, table, disjunctive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Arrays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6732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6732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7673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DECLARATION 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name;              % 1D parameter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[1..n] of var 0..100: name;      % 1D variable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[ENUM1, ENUM2]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name;     % 2D enum-indexed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ACCESS ────────────────────────────────────────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name[i]         % 1D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name[i, j]      % 2D access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name[Enum1]     % enum-indexed access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AGGREGATION 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รวม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ค่าน้อยสุด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1..n)(a[i])         %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ค่ามากสุด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1..n)(constraint_i) % AND </a:t>
            </a:r>
            <a:r>
              <a:rPr lang="en-US" sz="1050" dirty="0" err="1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ทุกตัว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in 1..n)(constraint_i) % OR อย่างน้อยหนึ่ง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Quick Ref: Arrays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Reference: Enum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767328"/>
          </a:xfrm>
          <a:prstGeom prst="rect">
            <a:avLst/>
          </a:prstGeom>
          <a:solidFill>
            <a:srgbClr val="1E2D3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4864" cy="3767328"/>
          </a:xfrm>
          <a:prstGeom prst="rect">
            <a:avLst/>
          </a:prstGeom>
          <a:solidFill>
            <a:srgbClr val="6B46C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8247888" cy="376732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IN MODEL (.mzn) 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 err="1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= { Red, Green, Blue };    % กำหนดค่าใน model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 err="1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MACHINES;                        % รับค่าจาก data file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IN DATA FILE (.dzn) 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EC8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MACHINES = { Lathe, Mill, Drill };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USING ENUM ────────────────────────────────────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[MACHINES] of </a:t>
            </a:r>
            <a:r>
              <a:rPr lang="en-US" sz="1050" dirty="0">
                <a:solidFill>
                  <a:srgbClr val="7BC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cap = [80, 60, 100];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9E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MACHINES: assigned;           % ตัวแปรเป็น enum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assigned = Lathe;       % กำหนดค่า enum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 forall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in MACHINES)(load[m] &lt;= cap[m]);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─── ENUM OPERATIONS ───────────────────────────────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card(MACHINES)    % จำนวนสมาชิก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min(MACHINES)     % สมาชิกแรก</a:t>
            </a: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E8ED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max(MACHINES)     % สมาชิกสุดท้าย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Quick Ref: Enum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array[1..3] of int: x = [1,2,3,4];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" y="14081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array[1..4] of int: x = [1,2,3,4];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ขนาด index set ต้องตรงกับ literal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365760" y="19933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30352" y="2048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x[0]   % ถ้า index set เป็น 1..n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23225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x[1]   % MiniZinc เริ่มที่ 1 (ไม่ใช่ 0)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578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array literal เริ่ม index ที่ 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804672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365760" y="29077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530352" y="29626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enum E; E = { A, B };   % ใน .mzn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2369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% ใน .dzn: E = { A, B };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4930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ถ้าประกาศ enum ไว้ใน .mzn ให้ใส่ค่าใน .dzn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8412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64008" cy="80467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30352" y="38770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 if x &gt; 0 then y = 1;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0352" y="41513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6B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if x &gt; 0 then y = 1 else y = 0 endif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44074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 ต้องมี else และ endif เสมอ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 — Common Mistakes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สรุปวันที่ 2 — สิ่งที่ต้องจำ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Arrays — จัดการตัวแปรหลายตัว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array[index] of type — เข้าถึงด้วย a[i] — 2D ด้วย a[i,j]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548640" y="19933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forall + sum — building blocks หลัก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forall = AND ทุกตัว | sum = รวม | exists = OR | where = กรอง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365760" y="2779776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48640" y="284378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Enum Types — ชื่อแทนตัวเลข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182112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ประกาศ enum PRODUCTS; ใน .mzn → กำหนดค่าใน .dzn → array[PRODUCTS]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64008" cy="777240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369417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if-then-else + bool2int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32504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constraint | bool2int(expr) = 1/0 สำหรับนับเหตุการณ์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01168"/>
          </a:xfrm>
          <a:prstGeom prst="rect">
            <a:avLst/>
          </a:prstGeom>
          <a:solidFill>
            <a:srgbClr val="1A3C5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Global Constraints — alldifferent, cumulative, table, disjunctive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 2: Arrays, Sets, Enum Types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3378</Words>
  <Application>Microsoft Macintosh PowerPoint</Application>
  <PresentationFormat>On-screen Show (16:9)</PresentationFormat>
  <Paragraphs>405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MiniZinc Day 2 - Arrays, Sets, Enum Types</dc:title>
  <dc:subject>PptxGenJS Presentation</dc:subject>
  <dc:creator>PptxGenJS</dc:creator>
  <cp:lastModifiedBy>Vacharapat METTANANT</cp:lastModifiedBy>
  <cp:revision>8</cp:revision>
  <dcterms:created xsi:type="dcterms:W3CDTF">2026-06-04T07:05:04Z</dcterms:created>
  <dcterms:modified xsi:type="dcterms:W3CDTF">2026-06-04T07:42:05Z</dcterms:modified>
</cp:coreProperties>
</file>