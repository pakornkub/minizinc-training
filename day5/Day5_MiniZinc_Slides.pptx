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1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Packing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ปัญหาโลจิสติกส์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· Vehicle Routing · Bin Packing · Knapsack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TSP/VRP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หาเส้นทางสั้นสุด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56616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29184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Bin Packing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กล่อง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12648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Knapsack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maximize กำไร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TSP — Travelling Salesman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circuit() global constraint — Hamiltonian path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09:45–11:00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Vehicle Routing Problem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700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หลาย vehicle, capacity, depot copies, minimize ระยะทาง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5A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รถส่งสินค้า — 8 ลูกค้า, 3 รถ, capacity 100 กก.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Bin Packing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bin_packing_capa() + symmetry breaking + ปัญหาจริง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14:30–15:30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Knapsack &amp; Set Variables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Knapsack, var set of ITEMS, multiple knapsack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5B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0" y="41879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 คอนเทนเนอร์ 12 รายการ + สินค้าอันตราย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7">
            <a:extLst>
              <a:ext uri="{FF2B5EF4-FFF2-40B4-BE49-F238E27FC236}">
                <a16:creationId xmlns:a16="http://schemas.microsoft.com/office/drawing/2014/main" id="{3C6F9693-0310-72AE-91D8-487B5E7F0874}"/>
              </a:ext>
            </a:extLst>
          </p:cNvPr>
          <p:cNvSpPr/>
          <p:nvPr/>
        </p:nvSpPr>
        <p:spPr>
          <a:xfrm flipH="1" flipV="1">
            <a:off x="2267712" y="2148840"/>
            <a:ext cx="841248" cy="1810512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— Travelling Salesman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เยี่ยมทุกจุดครั้งเดียว กลับจุดเริ่มต้น  →  Minimize ระยะทางรวม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2286000" y="1920240"/>
            <a:ext cx="1371600" cy="256032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840480" y="1828800"/>
            <a:ext cx="1645920" cy="640080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 flipH="1">
            <a:off x="5029201" y="2468880"/>
            <a:ext cx="457199" cy="1371600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937760" y="3657600"/>
            <a:ext cx="0" cy="182880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108960" y="3840480"/>
            <a:ext cx="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502920" cy="50292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(คลัง)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164592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2860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36576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29260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เส้นทาง: 1→2→3→4→5→1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7556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ตัวแปรหลัก: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084832"/>
            <a:ext cx="2606040" cy="23317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6217920" y="2084832"/>
            <a:ext cx="54864" cy="2331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6364224" y="2157984"/>
            <a:ext cx="2441448" cy="2258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next[i] =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เมืองถัดไป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[CITIES] of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CITIES: next;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circuit: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บังคับ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Hamiltonian cycle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circuit(next);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50292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circuit() = 1 constraint แทนที่ constraint ซับซ้อน หาเส้นทาง Hamiltonian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TSP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816D3084-BA85-223F-B51D-114C826CD5FD}"/>
              </a:ext>
            </a:extLst>
          </p:cNvPr>
          <p:cNvSpPr/>
          <p:nvPr/>
        </p:nvSpPr>
        <p:spPr>
          <a:xfrm flipV="1">
            <a:off x="3245708" y="3840480"/>
            <a:ext cx="1692052" cy="91440"/>
          </a:xfrm>
          <a:prstGeom prst="line">
            <a:avLst/>
          </a:prstGeom>
          <a:noFill/>
          <a:ln w="254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circuit() + TSP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120640" cy="34290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429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956048" cy="33558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"circuit.mzn";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CITIES = 1..n;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[CITIES,CITIES]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dist;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เมืองถัดไปจากแต่ละเมือง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[CITIES] of var CITIES: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Hamiltonian circuit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(next);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ห้ามอยู่กับที่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CITIES)(next[i] != i);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CITIES)(dist[i, next[i]]);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1574249"/>
            <a:ext cx="310896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669280" y="1574249"/>
            <a:ext cx="54864" cy="6583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760720" y="1574249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ตัวแปรหนึ่งตัว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ต่อหนึ่งเมือง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627868"/>
            <a:ext cx="310896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669280" y="2627868"/>
            <a:ext cx="54864" cy="65836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760720" y="2627868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circuit() บังคับว่า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ทุกเมืองถูกเยี่ยม 1 ครั้ง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414168"/>
            <a:ext cx="310896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669280" y="3414168"/>
            <a:ext cx="54864" cy="65836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60720" y="3414168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objective: รวมระยะทาง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 path ที่ next[] กำหนด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02920" y="4626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= [2, 3, 4, 5, 1]  →  เส้นทาง: 1→2→3→4→5→1  ระยะทาง: 41 กม.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circuit + TSP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— Vehicle Routing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+ หลาย vehicle + capacity จำกัด  →  แต่ละรถต้องออกและกลับ depot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เทคนิค: Depot Copies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1170432"/>
          </a:xfrm>
          <a:prstGeom prst="rect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54864" cy="1170432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node พิเศษสำหรับแต่ละรถ (depot copy):  n_nodes = n_customers + n_vehicles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1..n_customers = ลูกค้า  |  node n_customers+1..n_nodes = depot แต่ละคัน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circuit() บน NODES ทั้งหมด  →  แต่ละรถเริ่มจาก depot copy → เยี่ยมลูกค้า → กลับ depot copy อื่น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12464"/>
            <a:ext cx="8412480" cy="868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65760" y="3712464"/>
            <a:ext cx="54864" cy="8686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12064" y="3785616"/>
            <a:ext cx="8247888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load[i] = demand ของ i + load ที่สะสมมาจาก next[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CUSTOMERS)(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load[i] = demand[i] + 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next[i] in DEPOT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load[next[i]] endif));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VRP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— โมเดล MiniZinc สมบูรณ์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6118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61188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5387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"circuit.mzn";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n_cust; int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n_veh;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capacity;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n_nodes = n_cust +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n_veh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CUST=1..n_cust; DEPOT=n_cust+1..n_nodes;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demand;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[1..n_nodes,1..n_nodes]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dist;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[1..n_nodes] of var 1..n_nodes: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[CUST] of var 0..capacity: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(next);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CUST)(load[i]=demand[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]+(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next[i] in DEPOT then 0 else load[next[i]] endif));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CUST)(load[i] &lt;= capacity);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1..n_nodes)(dist[i,next[i]]);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VRP โมเดล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5A — VRP รถส่งสินค้า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workshop5a_starter.mzn + workshop5a_data.dzn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8229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คลัง 1 แห่ง, ลูกค้า 8 ราย, รถ 3 คัน capacity 100 กก.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[25,30,15,40,20,35,10,45] กก.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3134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circuit constraint: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Capacity constraint: 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64408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3264408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load &lt;= capacity: 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73989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3739896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65760" y="3739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73989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minimize ระยะทาง: 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21538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4215384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4215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2153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ตีความผล: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0" y="421538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next[depot_v] บอกลูกค้าแรกของรถ v — ติดตาม next[] จนกลับ depot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Workshop 5A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Knapsack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32918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bin_packing_capa() global constraint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75888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675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breaking — ลด solution space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59936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40599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set of ITEMS — knapsack แบบ set variable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43984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4439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knapsack + additional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 — จัดของลงกล่อง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จำนวนกล่องที่ใช้  |  แต่ละกล่องต้องไม่เกิน capacity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737360" cy="237744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21408"/>
            <a:ext cx="1554480" cy="493776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กก.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670048"/>
            <a:ext cx="1554480" cy="329184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กก.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251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รวม: 20 กก.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810512"/>
            <a:ext cx="1737360" cy="237744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265176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121408"/>
            <a:ext cx="1554480" cy="6172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2743200" y="2121408"/>
            <a:ext cx="15544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กก.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793492"/>
            <a:ext cx="1554480" cy="2468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2743200" y="279349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กก.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4251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รวม: 21 กก.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810512"/>
            <a:ext cx="1737360" cy="237744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80060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121408"/>
            <a:ext cx="1554480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892040" y="21214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กก.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587752"/>
            <a:ext cx="1554480" cy="7406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892040" y="2587752"/>
            <a:ext cx="15544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กก.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4251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รวม: 28 กก.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810512"/>
            <a:ext cx="1737360" cy="237744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94944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2121408"/>
            <a:ext cx="1554480" cy="2057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7040880" y="2121408"/>
            <a:ext cx="15544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กก.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40880" y="2382012"/>
            <a:ext cx="1554480" cy="37033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7040880" y="2382012"/>
            <a:ext cx="1554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กก.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4251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รวม: 14 กก.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ตัวแปรหลัก: bin_of[i] = กล่องที่ item i อยู่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Bin Packing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 — โมเดล MiniZinc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120640" cy="35204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204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956048" cy="34472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"bin_packing_capa.mzn";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n_items, bin_capacity;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[1..n_items]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item_size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ITEMS=1..n_items;  BINS=1..n_items;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[ITEMS] of var BINS: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bin_of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bin_packing_capa: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ทุกกล่องไม่เกิน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capacity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bin_packing_capa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(bin_capacity, bin_of, item_size);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Symmetry: bin_of[i] &lt;= bin_of[i+1]+1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1..n_items-1)(bin_of[i]&lt;=bin_of[i+1]+1);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th-TH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th-TH" sz="1050" dirty="0">
              <a:solidFill>
                <a:srgbClr val="000000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n_used=sum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(b)(exists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ITEMS)(bin_of[i]=b));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n_used;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2157491"/>
            <a:ext cx="310896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669280" y="2157491"/>
            <a:ext cx="54864" cy="65836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760720" y="2157491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bin_packing_capa: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global constraint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819808"/>
            <a:ext cx="310896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669280" y="2819808"/>
            <a:ext cx="54864" cy="658368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760720" y="2819808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Symmetry breaking: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 1,2,3 แทนที่ 1,3,2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380807"/>
            <a:ext cx="310896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669280" y="3380807"/>
            <a:ext cx="54864" cy="65836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60720" y="3380807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n_used = จำนวนกล่อง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ที่มีของอย่างน้อย 1 ชิ้น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Bin Packing โมเดล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Breaking — ทำไมสำคัญ?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Symmetry: คำตอบที่ 'เหมือนกัน' เพียงแต่เปลี่ยนชื่อกล่อง → Solver เสียเวลาหาซ้ำ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3 ชิ้น → 2 กล่อง (คำตอบเดียวกัน 3 แบบ):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2606040" cy="9144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2606040" cy="29260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เก็บแค่นี้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bin_of=[1,1,2]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A,B ใน กล่อง 1, C ใน กล่อง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121408"/>
            <a:ext cx="260604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200400" y="2121408"/>
            <a:ext cx="2606040" cy="29260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200400" y="212140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เหมือนกัน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bin_of=[1,2,1]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724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A,C ใน กล่อง 1, B ใน กล่อง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121408"/>
            <a:ext cx="260604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6035040" y="2121408"/>
            <a:ext cx="2606040" cy="29260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035040" y="212140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เหมือนกัน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bin_of=[2,2,1]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724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A,B ใน กล่อง 2, C ใน กล่อง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54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วิธีแก้: bin_of[i] &lt;= bin_of[i+1] + 1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8412480" cy="7772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54864" cy="7772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512064" y="3566160"/>
            <a:ext cx="8247888" cy="7040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บังคับให้ item ที่ i มี bin number &lt;= item i+1 + 1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ผลลัพธ์: bin 1 เต็มก่อน → bin 2 → bin 3 (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ไม่สลับกัน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1..n_items-1)(bin_of[i] &lt;= bin_of[i+1] +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407408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50292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Symmetry breaking อาจลด solve time ได้มากถึง 10-100x สำหรับปัญหาใหญ่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Symmetry Breaking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— เลือก Maximize กำไร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เลือกสิ่งของที่จะหิ้ว  |  weight ≤ capacity  |  Maximize profit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วิธีใน MiniZinc: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069080" cy="2697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069080" cy="36576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วิธีที่ 1: Boolean Array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886200" cy="21488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4864" cy="214884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03504" y="2587752"/>
            <a:ext cx="3721608" cy="2075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[ITEMS] of var 0..1: sel;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(i)(cost[i]*sel[i])&lt;=budget;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(i)(profit[i]*sel[i]);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sel[i]=1 → เลือก, 0 → ไม่เลือก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4069080" cy="26974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709160" y="2084832"/>
            <a:ext cx="4069080" cy="36576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วิธีที่ 2: Set Variable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3886200" cy="21488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800600" y="2514600"/>
            <a:ext cx="54864" cy="21488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946904" y="2587752"/>
            <a:ext cx="3721608" cy="2075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set of ITEMS: chosen;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chosen)(cost[i])&lt;=budget;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chosen)(profit[i]);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chosen = {P1,P3,P5}  อ่านง่ายกว่า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ใช้งานได้ทั้ง 2 วิธี — Boolean array เร็วกว่า  |  Set variable อ่านง่ายกว่า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Knapsack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5B — Bin Packing คอนเทนเนอร์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30 นาที  |  ไฟล์: workshop5b_starter.mzn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8229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สินค้า 12 รายการ [15,22,8,30,11,25,18,7,33,14,20,9] กก.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คอนเทนเนอร์ 50 กก./ใบ ราคา 3,000 บาท/ใบ — Minimize จำนวนใบ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3134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bin_packing_capa: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symmetry breaking: 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64408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3264408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minimize n_used: 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73989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3739896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65760" y="3739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73989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ท้าทาย: สินค้าอันตราย: 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91840" y="3739896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สินค้า 1,3,5 </a:t>
            </a:r>
            <a:r>
              <a:rPr lang="en-US" sz="105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ห้ามอยู่ตู้เดียวกัน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1538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4215384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4215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21538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 ROI: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91840" y="421538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ตู้ 80 กก. ราคา 4,500 บาท — ประหยัดได้กี่ตู้? คุ้มไหม?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Workshop 5B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5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circuit() — หัวใจของ TSP และ VRP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circuit(next)  →  Hamiltonian cycle  |  objective: sum(dist[i,next[i]])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VRP — Depot Copies + Load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n_nodes = n_cust + n_veh  |  load[i] = demand[i] + (if next[i] in DEPOT then 0 else load[next[i]])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Bin Packing — bin_packing_capa + symmetry breaking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bin_packing_capa(cap, bin_of, sizes)  |  bin_of[i] &lt;= bin_of[i+1]+1 ลด duplicate solutions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 Knapsack — boolean array หรือ set variable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sum(i)(cost[i]*sel[i]) &lt;= budget  |  var set of ITEMS: chosen (อ่านง่ายกว่า)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6: Effective Modelling + Symmetry Breaking + Capstone 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Routing Patterns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TSP ───────────────────────────────────────────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</a:t>
            </a:r>
            <a:r>
              <a:rPr lang="en-US" sz="1050" dirty="0" err="1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circuit.mzn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[CITIES] of var CITIES: next;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(next);  constraint forall(i)(next[i]!=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CITIES)(dist[i,next[i]]);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VRP (depot copies) 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n_nodes = n_cust +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n_veh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DEPOT = n_cust+1..n_nodes;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[1..n_nodes] of var 1..n_nodes: next;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[CUST] of var 0..cap: load;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(next);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CUST)(load[i]=demand[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]+(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next[i] in DEPOT then 0 else load[next[i]] endif));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CUST)(load[i] &lt;= cap);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Quick Ref: Routing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Packing Patterns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BIN PACKING 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</a:t>
            </a:r>
            <a:r>
              <a:rPr lang="en-US" sz="1050" dirty="0" err="1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bin_packing_capa.mzn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[ITEMS] of var BINS: </a:t>
            </a:r>
            <a:r>
              <a:rPr lang="en-US" sz="1050" dirty="0" err="1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bin_of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bin_packing_capa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(bin_capacity, bin_of,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item_size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Symmetry breaking: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1..n-1)(bin_of[i] &lt;= bin_of[i+1]+1);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Item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ห้ามอยู่กล่องเดียวกัน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(i,j in DANGER where i&lt;j)(bin_of[i]!=bin_of[j]);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KNAPSACK 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วิธีที่ 1 —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[ITEMS] of var 0..1: </a:t>
            </a:r>
            <a:r>
              <a:rPr lang="en-US" sz="1050" dirty="0" err="1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(i)(weight[i]*sel[i]) &lt;= capacity;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(i)(profit[i]*sel[i]);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วิธีที่ 2 — set variable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set of ITEMS: chosen;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chosen)(weight[i]) &lt;= capacity;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Quick Ref: Packing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— วันที่ 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next[i] != i  % ลืม constraint นี้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constraint forall(i in CITIES)(next[i] != i);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circuit() อนุญาต self-loop — ต้องห้ามเองสำหรับ TSP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29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dist[DEPOT_i, DEPOT_j] = 0  % depot ถึง depot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267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ระยะทาง depot→depot ควรเป็น 0 (รถที่ไม่ออก)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VRP: depot copies ควรมีระยะทาง 0 ถึงกัน เพื่อให้รถที่ไม่ต้องออกข้ามกันได้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44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bin_of[1] = 1  % symmetry breaking เข้มเกิน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1821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forall(i in 1..n-1)(bin_of[i] &lt;= bin_of[i+1]+1);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breaking แบบ bin_of[i] &lt;= bin_of[i+1]+1 ถูกต้อง — ไม่ตัด optimal solution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587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var set of ITEMS: chosen;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constraint sum(i in chosen)(weight[i]) &lt;= cap;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variable ต้องใช้ constraint และ objective เหมือน variable ทั่วไป — ไม่ใช่กำหนดค่าตรงๆ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ประยุกต์จริง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Packing ในอุตสาหกรรมจริง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0690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64008" cy="164592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Logistics / Supply Chain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VRP: รถส่งพัสดุ/ร้านค้า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Multi-depot VRP: หลายคลัง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Time-window VRP: ต้องส่งในช่วงเวลาที่กำหนด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4069080" cy="1645920"/>
          </a:xfrm>
          <a:prstGeom prst="rect">
            <a:avLst/>
          </a:prstGeom>
          <a:solidFill>
            <a:srgbClr val="F7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64008" cy="164592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800600" y="12070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Aviation / Transportation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9105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TSP: เส้นทางบิน, ขนส่งสาธารณะ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Fleet routing: กำหนดรถโดยสาร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Crew scheduling: จัดลูกเรือ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40690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64008" cy="164592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02920" y="29900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Warehouse / Manufacturing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7413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Bin Packing: จัดสินค้าขึ้นรถ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72160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Container loading: ลงตู้เรือ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Cutting stock: ตัดวัสดุ waste น้อย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98648"/>
            <a:ext cx="4069080" cy="1645920"/>
          </a:xfrm>
          <a:prstGeom prst="rect">
            <a:avLst/>
          </a:prstGeom>
          <a:solidFill>
            <a:srgbClr val="F7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4663440" y="2898648"/>
            <a:ext cx="64008" cy="164592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4800600" y="29900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Finance / 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37413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Knapsack: เลือก project ลงทุน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72160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Resource allocation: จัด 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06908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Portfolio optimization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ประยุกต์จริง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Preview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Modelling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Capstone Project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64008" cy="2743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bounds — ช่วย solver ตัด search space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64008" cy="2743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3101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constraints — เพิ่ม pruning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694176"/>
            <a:ext cx="64008" cy="2743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breaking — รู้จักแล้ว วันนี้ฝึกใช้จริง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078224"/>
            <a:ext cx="64008" cy="2743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07822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UNSAT, slow solver, wrong results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462272"/>
            <a:ext cx="64008" cy="2743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58368" y="44622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นำโมเดลไปใช้กับปัญหาจริงขององค์กร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Approach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Model ให้ถูกกับปัญหา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0332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ปัญหา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หาเส้นทางสั้นสุด (1 รถ)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next[CITIES]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หลาย vehicle +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next[NODES] +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circuit() +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จัดสิ่งของลงกล่อง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Packing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bin_of[ITEMS]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bin_packing_capa()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 item maximize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sel[ITEMS] 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sum(weight*sel)&lt;=cap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 item (อ่านง่าย)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 (set)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set of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in chosen &lt;=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หลายกล่องต่างความจุ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Knapsack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bin_of + capacity[b]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forall(b)sum&lt;=cap[b]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เลือก Model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2D Packing และ Cutting Stock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ขยายจาก 1D Bin Packing → 2D: จัด rectangle บนพื้นที่ 2 มิติ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402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4864" cy="224028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12064" y="1554480"/>
            <a:ext cx="8247888" cy="2167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2D Bin Packing: จัด rectangle (w[i] x h[i]) บน sheet W x H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[ITEMS] of var 0..W: px;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ตำแหน่ง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[ITEMS] of var 0..H: py;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ตำแหน่ง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ไม่ overlap กัน (ต้องห่างในอย่างน้อย 1 มิติ)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(i,j in ITEMS where i&lt;j)(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px[i]+w[i]&lt;=px[j] \/ px[j]+w[j]&lt;=px[i] \/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py[i]+h[i]&lt;=py[j] \/ py[j]+h[j]&lt;=py[i]);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ประยุกต์จริง: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187952"/>
            <a:ext cx="26060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02920" y="42245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 loading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4439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 box บนพาเลท ไม่ซ้อนเกิน height limit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4187952"/>
            <a:ext cx="2606040" cy="5029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3337560" y="42245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Steel/paper cutting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44439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ตัดแผ่นเหล็ก/กระดาษให้ waste น้อยสุด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4187952"/>
            <a:ext cx="26060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172200" y="42245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44439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 component บน circuit 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 — Bonus: 2D Packing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3073</Words>
  <Application>Microsoft Macintosh PowerPoint</Application>
  <PresentationFormat>On-screen Show (16:9)</PresentationFormat>
  <Paragraphs>397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5 - Routing &amp; Packing</dc:title>
  <dc:subject>PptxGenJS Presentation</dc:subject>
  <dc:creator>PptxGenJS</dc:creator>
  <cp:lastModifiedBy>Vacharapat METTANANT</cp:lastModifiedBy>
  <cp:revision>8</cp:revision>
  <dcterms:created xsi:type="dcterms:W3CDTF">2026-06-05T02:18:05Z</dcterms:created>
  <dcterms:modified xsi:type="dcterms:W3CDTF">2026-06-05T07:22:13Z</dcterms:modified>
</cp:coreProperties>
</file>