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98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76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045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เครื่องมือสำคัญ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สำเร็จรูปที่ Solver มี algorithm พิเศษ — แก้ได้เร็วกว่าเขียนเอง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No-overlap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alldifferent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no-duplicate — ใช้กับอะไรบ้าง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cumulative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Resource-constrained scheduling — คน, เครื่องจักร, เวลา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3A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ด้วย cumulative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table constraint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เลือกจากชุดค่าที่กำหนด — material, spec, ราคา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14:00–15:00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⛓️ disjunctive + Job Shop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No-overlap, precedence — ตารางการผลิต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3B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Scheduling — 4 ออร์เดอร์ 3 สถานี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Global Constraints?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 = constraint สำเร็จรูปที่ผู้เชี่ยวชาญออกแบบมาพร้อม algorithm พิเศษ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3977640" cy="2606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397764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365760" y="1810512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เขียนเอง (ช้า)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67712"/>
            <a:ext cx="379476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57200" y="2267712"/>
            <a:ext cx="54864" cy="201168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03504" y="2340864"/>
            <a:ext cx="3630168" cy="1938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n=10, ต้องต่างกันทุกคู่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1..10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i&lt;j)(x[i] != x[j]);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= 45 constraints!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ต้อง check ทุกคู่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1810512"/>
            <a:ext cx="4160520" cy="2606040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617720" y="1810512"/>
            <a:ext cx="416052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617720" y="181051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Global Constraint (เร็ว)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267712"/>
            <a:ext cx="397764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709160" y="2267712"/>
            <a:ext cx="54864" cy="20116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855464" y="2340864"/>
            <a:ext cx="3813048" cy="1938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constraint, solver ใช้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arc-consistency algorithm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5720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Global constraints ทำให้ solve ได้เร็วกว่า และโค้ดสั้นกว่าอย่างมาก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Global Constraints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 — ทุกค่าต้องต่างกัน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alldifferent([x1, x2, ..., xn])  →  x1≠x2, x1≠x3, ..., xn-1≠xn  (ทุกคู่)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138988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54864" cy="138988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10512"/>
            <a:ext cx="8247888" cy="13167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% หรือ globals.mzn สำหรับทุก global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มอบหมาย task ให้ worker — แต่ละ worker ได้ task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ต่างกัน</a:t>
            </a:r>
            <a:endParaRPr lang="en-US" sz="1050" dirty="0"/>
          </a:p>
          <a:p>
            <a:pPr marL="0" indent="0">
              <a:buNone/>
            </a:pPr>
            <a:endParaRPr lang="th-TH" sz="1050" dirty="0">
              <a:solidFill>
                <a:srgbClr val="7BC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[WORKERS] of var TASKS: assigned;</a:t>
            </a:r>
            <a:endParaRPr lang="en-US" sz="1050" dirty="0"/>
          </a:p>
          <a:p>
            <a:pPr marL="0" indent="0">
              <a:buNone/>
            </a:pPr>
            <a:endParaRPr lang="th-TH" sz="1050" dirty="0">
              <a:solidFill>
                <a:srgbClr val="F4A26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(assigned);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255264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ใช้กับปัญหาไหนบ้าง: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611880"/>
            <a:ext cx="406908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  Assignment problems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61188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มอบหมายงาน, จัดกะ — ห้ามซ้ำ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611880"/>
            <a:ext cx="406908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0" y="361188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Sudoku / N-Queens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49440" y="361188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แต่ละแถว/คอลัมน์ต้องมีค่า 1–n ครบและไม่ซ้ำ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406908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Machine assignment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416052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ออร์เดอร์แต่ละชิ้นใช้เครื่องต่างกัน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4160520"/>
            <a:ext cx="406908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Permutations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416052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กำหนดให้เป็นการเรียงลำดับ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alldifferent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มอบหมายงาน Minimize เวลา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"alldifferent.mzn";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= { Alice, Bob, Carol, Dave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   = { TaskA, TaskB, TaskC, TaskD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[WORKERS,TASKS]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[WORKERS] of var TASKS: assigned;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(assigned);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 in WORKERS)(dur[w, assigned[w]]);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03312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03312"/>
            <a:ext cx="54864" cy="62179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03312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ตัวแปรแต่ละตัว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enum TASKS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786447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786447"/>
            <a:ext cx="54864" cy="6217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786447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alldifferent!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ทุกคนได้งานต่างกัน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3438472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3438472"/>
            <a:ext cx="54864" cy="62179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3438472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เวลารวม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ทุกคน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alldifferent ตัวอย่าง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— Resource-Constrained Scheduling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cumulative(start, duration, resource_req, capacity)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53035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5303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48640" y="1755648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start[]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1755648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เวลาเริ่มต้นของแต่ละงาน (decision variables)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359152"/>
            <a:ext cx="841248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2359152"/>
            <a:ext cx="64008" cy="53035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48640" y="235915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duration[]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51760" y="2359152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ระยะเวลาของแต่ละงาน (ค่าคงที่หรือ variable)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8412480" cy="53035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62656"/>
            <a:ext cx="64008" cy="53035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" y="2962656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resource_req[]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2962656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ทรัพยากรที่งานนั้นต้องการในแต่ละช่วง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66160"/>
            <a:ext cx="841248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566160"/>
            <a:ext cx="64008" cy="53035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48640" y="356616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51760" y="3566160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ทรัพยากรทั้งหมดที่มี (ต้องไม่เกินในทุกเวลา)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5029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4279392"/>
            <a:ext cx="54864" cy="5029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512064" y="4352544"/>
            <a:ext cx="8247888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"cumulative.mzn";    </a:t>
            </a: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(start, duration, workers_needed, total_workers);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— ภาพประกอบ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6576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22860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1732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128016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233172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2044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338328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43484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7512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53796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2668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58952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77824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64108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0" y="107899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 (ชั่วโมง)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1481328"/>
            <a:ext cx="4206240" cy="338328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02336" y="1481328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A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คน)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1865376"/>
            <a:ext cx="3212346" cy="338328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402336" y="1865376"/>
            <a:ext cx="30815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B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คน)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0" y="2249424"/>
            <a:ext cx="5257800" cy="338328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4608576" y="2249424"/>
            <a:ext cx="5184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C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คน)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578106" y="2633472"/>
            <a:ext cx="2103120" cy="338328"/>
          </a:xfrm>
          <a:prstGeom prst="rect">
            <a:avLst/>
          </a:prstGeom>
          <a:solidFill>
            <a:srgbClr val="E91E6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3614682" y="2633472"/>
            <a:ext cx="20299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D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คน)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3017520"/>
            <a:ext cx="6309360" cy="338328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402336" y="3017520"/>
            <a:ext cx="623620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E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คน)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520440" y="1481328"/>
            <a:ext cx="73152" cy="1920240"/>
          </a:xfrm>
          <a:prstGeom prst="rect">
            <a:avLst/>
          </a:prstGeom>
          <a:solidFill>
            <a:srgbClr val="C0392B">
              <a:alpha val="30000"/>
            </a:srgbClr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338328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⚠️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279392"/>
            <a:ext cx="8412480" cy="502920"/>
          </a:xfrm>
          <a:prstGeom prst="rect">
            <a:avLst/>
          </a:prstGeom>
          <a:solidFill>
            <a:srgbClr val="FADBD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8" name="Shape 36"/>
          <p:cNvSpPr/>
          <p:nvPr/>
        </p:nvSpPr>
        <p:spPr>
          <a:xfrm>
            <a:off x="365760" y="4279392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9" name="Text 37"/>
          <p:cNvSpPr/>
          <p:nvPr/>
        </p:nvSpPr>
        <p:spPr>
          <a:xfrm>
            <a:off x="502920" y="42793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ถ้าเวลา t=3: ทำงาน A(3)+B(2)+E(1) = 6 คน เกิน capacity=5 — cumulative จะบังคับให้ shift งานใหม่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 ภาพประกอบ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Maintenance Scheduling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074920" cy="3456432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4564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10328" cy="3383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"cumulative.mzn";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dur, workers;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total_workers, deadline;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[JOBS] of var 0..deadline: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0..deadline: end_time;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cumulative: ทุกเวลา ช่างรวม &lt;= total_workers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(start, dur, workers, total_workers);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forall job: เสร็จก่อน end_time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JOBS)(start[j]+dur[j] &lt;= end_time);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end_time;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2084993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577840" y="2084993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669280" y="2084993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ตัวแปรสำคัญ: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เวลาเริ่มของแต่ละงาน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28063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577840" y="3028063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669280" y="3028063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1 constraint ครอบทุกเวลา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ไม่ต้องวน loop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4066194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577840" y="4066194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669280" y="4066194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เวลาเสร็จรวม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(makespan)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 ตัวอย่าง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3A — Maintenance Scheduling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workshop3a_starter.mzn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10515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งานซ่อมบำรุง 6 งาน ช่าง 5 คน ต้องเสร็จใน 12 ชม.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83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A(4ชม.,3คน), B(3ชม.,2คน), C(5ชม.,2คน), D(2ชม.,4คน), E(6ชม.,1คน), F(3ชม.,3คน)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C ต้องทำหลังงาน A เสร็จ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542032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cumulative constraint: 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971800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2971800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A ก่อน C: 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401568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401568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401568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3401568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ทุกงานเสร็จก่อน end_time: 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3831336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831336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831336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3831336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end_time: 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261104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261104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4400" y="4261104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</a:t>
            </a:r>
            <a:r>
              <a:rPr lang="en-US" sz="1150" b="1" dirty="0" err="1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</a:t>
            </a: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 </a:t>
            </a:r>
            <a:r>
              <a:rPr lang="th-TH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ต้องทำ</a:t>
            </a:r>
            <a:r>
              <a:rPr lang="en-US" sz="1150" b="1" dirty="0" err="1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</a:t>
            </a: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</a:t>
            </a:r>
            <a:r>
              <a:rPr lang="th-TH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เสร็จ</a:t>
            </a: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Workshop 3A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constraint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Job Shop Scheduling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74720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table(x, allowed_tuples)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58768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58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+ precedence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242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makespan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— เลือกจากชุดค่าที่กำหนดไว้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table(x, allowed_tuples)  →  x ต้องเป็น row ใด row หนึ่งในตาราง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17830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54864" cy="1783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10512"/>
            <a:ext cx="8247888" cy="1709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"table.mzn";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ตาราง: [material_id, hardness, weight, cost]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[1..5,1..4]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mat_table = [|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1, 90, 800, 50  |  % Steel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2, 60, 270, 80  |  % Aluminum  ...  |];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mat_id;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hardness; ...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([mat_id, hardness, weight, cost], mat_table);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ใช้กับปัญหาอะไร: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986784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98678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98678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 spec/ราคาสินค้า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20440" y="398678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เลือกวัสดุให้ตรงสเปค, ราคาต่ำสุด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261104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26110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26110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ตารางกะพนักงาน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426110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ชุดกะที่อนุญาต เช่น (เช้า,บ่าย) หรือ (บ่าย,ดึก) ห้าม (ดึก,เช้า)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535424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53542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53542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20440" y="453542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ชุดส่วนผสมที่เป็นไปได้สำหรับแต่ละผลิตภัณฑ์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table constraint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— ห้ามทำพร้อมกัน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disjunctive(start[], duration[])  →  ทุก task ต้องไม่ overlap กัน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เขียนเอง vs. disjunctive: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4023360" cy="13716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084832"/>
            <a:ext cx="54864" cy="13716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12064" y="2157984"/>
            <a:ext cx="3858768" cy="12984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❌ เขียนเอง (O(n²) constraints)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JOBS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i &lt; j)(s[i]+d[i]&lt;=s[j]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\/ s[j]+d[j]&lt;=s[i]);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2084832"/>
            <a:ext cx="4206240" cy="13716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572000" y="2084832"/>
            <a:ext cx="54864" cy="13716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18304" y="2157984"/>
            <a:ext cx="4041648" cy="12984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✅ disjunctive (1 constraint)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(start, duration);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5844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ใน Job Shop: disjunctive ต่อเครื่องจักร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913632"/>
            <a:ext cx="8412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913632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12064" y="3986784"/>
            <a:ext cx="8247888" cy="795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ทุก task ที่ใช้เครื่องเดียวกันต้องไม่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 in MACHINES)(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([s[j,m] | j in JOBS], [d[j,m] | j in JOBS]));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disjunctive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Scheduling — แนวคิด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= ออร์เดอร์ผลิต  |  Task = ขั้นตอนในแต่ละสถานี  |  Makespan = เวลาที่ทุก job เสร็จ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97280" y="1810512"/>
            <a:ext cx="7315200" cy="36576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1097280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932688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42309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1977717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187337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3022745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32366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067774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277394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112802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22423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157831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67451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202859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412480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47888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21214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267004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321868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97280" y="2121408"/>
            <a:ext cx="2090057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1124712" y="2121408"/>
            <a:ext cx="20351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0" y="2121408"/>
            <a:ext cx="3135086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2587752" y="2121408"/>
            <a:ext cx="308022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2121408"/>
            <a:ext cx="2508069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1124712" y="2121408"/>
            <a:ext cx="245320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142309" y="2121408"/>
            <a:ext cx="1881051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2169741" y="2121408"/>
            <a:ext cx="182618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187337" y="2670048"/>
            <a:ext cx="1672046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3214769" y="2670048"/>
            <a:ext cx="161718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97280" y="2670048"/>
            <a:ext cx="1463040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1124712" y="2670048"/>
            <a:ext cx="1408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22423" y="2670048"/>
            <a:ext cx="1254034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0" name="Text 38"/>
          <p:cNvSpPr/>
          <p:nvPr/>
        </p:nvSpPr>
        <p:spPr>
          <a:xfrm>
            <a:off x="6349855" y="2670048"/>
            <a:ext cx="119917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023360" y="2670048"/>
            <a:ext cx="2299063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2" name="Text 40"/>
          <p:cNvSpPr/>
          <p:nvPr/>
        </p:nvSpPr>
        <p:spPr>
          <a:xfrm>
            <a:off x="4050792" y="2670048"/>
            <a:ext cx="224419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9383" y="3218688"/>
            <a:ext cx="2508069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4" name="Text 42"/>
          <p:cNvSpPr/>
          <p:nvPr/>
        </p:nvSpPr>
        <p:spPr>
          <a:xfrm>
            <a:off x="4886815" y="3218688"/>
            <a:ext cx="245320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695406" y="3218688"/>
            <a:ext cx="1045029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6" name="Text 44"/>
          <p:cNvSpPr/>
          <p:nvPr/>
        </p:nvSpPr>
        <p:spPr>
          <a:xfrm>
            <a:off x="5722838" y="3218688"/>
            <a:ext cx="99016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05349" y="3218688"/>
            <a:ext cx="2090057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8" name="Text 46"/>
          <p:cNvSpPr/>
          <p:nvPr/>
        </p:nvSpPr>
        <p:spPr>
          <a:xfrm>
            <a:off x="3632781" y="3218688"/>
            <a:ext cx="20351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22423" y="3218688"/>
            <a:ext cx="1672046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0" name="Text 48"/>
          <p:cNvSpPr/>
          <p:nvPr/>
        </p:nvSpPr>
        <p:spPr>
          <a:xfrm>
            <a:off x="6349855" y="3218688"/>
            <a:ext cx="161718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43159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แต่ละ Job ผ่าน S1→S2→S3 ตามลำดับ  |  แต่ละสถานีทำ Job ได้ทีละ 1  |  Minimize makespan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แนวคิด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02920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6118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864608" cy="3538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d;  TASK: t_last = max(TASK);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 = sum(j,t)(d[j,t]);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S1→S2→S3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 where t&lt;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t_last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(s[j,t]+d[j,t]&lt;=s[j,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(TASK,t)]));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No-overlap: ทุกสถานีทีละ 1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([s[j,t]|j in JOB],[d[j,t]|j in JOB]));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makespan;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2391852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577840" y="2391852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669280" y="2391852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เวลาเริ่มของทุก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ของทุก job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56646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577840" y="3056646"/>
            <a:ext cx="54864" cy="6400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669280" y="3056646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Precedence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S→S→S ตามลำดับ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977640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577840" y="3977640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669280" y="3977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disjunctive ต่อ station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 constraint ต่อสถานี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โมเดล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— Data File และผลลัพธ์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jobshop_data.dzn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114800" cy="22402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54864" cy="22402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512064" y="1444752"/>
            <a:ext cx="3950208" cy="2167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  = J(1..3);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= T(1..3);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d[job, task] = เวลา (นาที)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[| 10,  8, 12    % Job 1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|  7, 15,  5    % Job 2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| 12,  6, 10 |];% Job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ผลลัพธ์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14800" cy="22402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54864" cy="22402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809744" y="1444752"/>
            <a:ext cx="3950208" cy="2167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 = 49 นาที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  S1    S2    S3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1    0    10    18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2   22    29    44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3   10    22    30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73075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สิ่งที่น่าสังเกต: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4059936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4059936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" y="405993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enum_next(TASK, 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154680" y="4059936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built-in ที่ดึง element ถัดไปใน enum — ไม่ต้อง hardcode t+1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315968"/>
            <a:ext cx="841248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4315968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3159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 ต่อ TASK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154680" y="4315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 list comprehension [s[j,t] | j in JOB] สร้าง array แบบ on-the-fly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4572000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502920" y="45720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 = last task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54680" y="4572000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variable แยกต่างหาก — bound คือ total duration ทั้งหมด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Data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3B — Job Shop Scheduling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workshop3b_starter.mzn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10241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10241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(A,B,C,D) ผ่าน 3 สถานี (S1→S2→S3) เสมอ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81381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A=[10,8,12]  B=[7,15,5]  C=[12,6,10]  D=[9,11,8]  (นาที)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แต่ละสถานีทำได้ทีละ 1 ออร์เดอร์  —  Minimize makespan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514600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44368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944368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944368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2944368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Disjunctive: 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374136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374136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374136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3374136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makespan: 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3803904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803904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803904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3803904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อ่านผล + Gantt: 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91840" y="3803904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วาด Gantt chart บนกระดาษจากค่า start times ที่ได้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233672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233672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233672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4400" y="423367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Constraint เพิ่ม: 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91840" y="4233672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ต้องเริ่ม S1 </a:t>
            </a:r>
            <a:r>
              <a:rPr lang="en-US" sz="1050" dirty="0" err="1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ก่อนนาทีที่</a:t>
            </a: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 →  makespan เปลี่ยนไปไหม?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Workshop 3B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3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alldifferent — ไม่ต้องเขียน O(n²) constraints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 assignment, permutation, Sudoku — 1 constraint แทน n*(n-1)/2 constraints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cumulative — ทรัพยากรต้องไม่เกิน capacity ทุกเวลา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cumulative(start, dur, resource_req, capacity) — หัวใจของ resource scheduling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⛓️  disjunctive — ห้าม overlap บนเครื่องจักรเดียวกัน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= precedence (ลำดับใน job) + disjunctive (ห้ามใช้เครื่องพร้อมกัน)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table — เลือกจาก tuple ที่อนุญาต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 spec สินค้า, ตาราง config, ชุดค่าที่เป็นไปได้ตามกฎ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4: Job Shop เชิงลึก + predicate + Employee Rostering + regular constraint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Global Constraints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% includes everything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ALLDIFFERENT 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int: x)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CUMULATIVE ────────────────────────────────────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 of var int: s,  % start times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array of var int: d,  % durations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array of var int: r,  % resource req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var int: b)           % capacity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DISJUNCTIVE 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 of var int: s, array of int: d)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TABLE ─────────────────────────────────────────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int: x, array[int,int] of int: 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Quick Ref: Global Constraints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Scheduling Patterns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PRECEDENCE (A ต้องเสร็จก่อน B) 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start_A + duration_A &lt;= start_B;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JOB SHOP STRUCTURE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Precedence ตามลำดับ task ใน job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เดียวกัน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JOB, t in TASK where t &lt;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t_last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s[j,t] + d[j,t] &lt;= s[j,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(TASK,t)]);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Disjunctive: ทุก job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ที่ใช้สถานีเดียวกันต้องไม่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([s[j,t] | j in JOB], [d[j,t] | 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JOB)(s[j,t_last] + d[j,t_last] &lt;= makespan);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makespan;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Quick Ref: Scheduling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247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cumulative(start, dur, req, cap)  % ลืม include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71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include "cumulative.mzn";  % ต้องมีก่อนทุกครั้ง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ลืม include ทำให้ error: undefined identifier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933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391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s[j,t] + d[j,t] &lt;= s[j, t+1]  % t เป็น enum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s[j,t] + d[j,t] &lt;= s[j, enum_next(TASK,t)]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TASK เป็น enum ต้องใช้ enum_next ไม่ใช่ t+1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535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disjunctive(start_1, dur_1, start_2, dur_2)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200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disjunctive([s[j,t]|j in JOBS], [d[j,t]|j in JOBS])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747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รับ array ของ start times ทุก job พร้อมกัน — ไม่ใช่ทีละคู่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679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solve satisfy  % แต่อยากได้ makespan น้อยสุด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solve minimize makespan;  % ต้องระบุ objective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หาแค่คำตอบแรก — ไม่การันตีว่า optimal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Constraint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Global Constraint ให้ถูกต้อง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39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ต้องการ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ตัวอย่าง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ต้องการให้ค่าไม่ซ้ำกัน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alldifferent(x)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Assignment, Sudoku, Permutation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ทรัพยากรต้องไม่เกิน capacity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D76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cumulative(s,d,r,cap)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คน, เครื่องจักร, งบ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เครื่องจักรทำทีละ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disjunctive(s,d)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Shop, Machine Scheduling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เลือกจาก spec ที่กำหนด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table(x, tuples)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วัสดุ, กะ, Bill of Materials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ลำดับใน job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precedence 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s[j,t]+d[j,t] &lt;= s[j,t+1]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ทุก job เสร็จ → makespan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forall(j)(s[j,last]+d &lt;= 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Minimize 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เลือก Constraint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พร้อม predicate — encapsulate no_overlap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3 กะ, demand, fairness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กฎ shift pattern ซับซ้อน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2864</Words>
  <Application>Microsoft Macintosh PowerPoint</Application>
  <PresentationFormat>On-screen Show (16:9)</PresentationFormat>
  <Paragraphs>426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3 - Global Constraints</dc:title>
  <dc:subject>PptxGenJS Presentation</dc:subject>
  <dc:creator>PptxGenJS</dc:creator>
  <cp:lastModifiedBy>Vacharapat METTANANT</cp:lastModifiedBy>
  <cp:revision>12</cp:revision>
  <dcterms:created xsi:type="dcterms:W3CDTF">2026-06-04T12:11:17Z</dcterms:created>
  <dcterms:modified xsi:type="dcterms:W3CDTF">2026-07-09T08:38:20Z</dcterms:modified>
</cp:coreProperties>
</file>