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7"/>
    <p:restoredTop sz="94610"/>
  </p:normalViewPr>
  <p:slideViewPr>
    <p:cSldViewPr snapToGrid="0" snapToObjects="1">
      <p:cViewPr varScale="1">
        <p:scale>
          <a:sx n="163" d="100"/>
          <a:sy n="163" d="100"/>
        </p:scale>
        <p:origin x="184" y="3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540453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3C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E67E22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3" name="Shape 1"/>
          <p:cNvSpPr/>
          <p:nvPr/>
        </p:nvSpPr>
        <p:spPr>
          <a:xfrm>
            <a:off x="6858000" y="0"/>
            <a:ext cx="2286000" cy="5143500"/>
          </a:xfrm>
          <a:prstGeom prst="rect">
            <a:avLst/>
          </a:prstGeom>
          <a:solidFill>
            <a:srgbClr val="162F48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4" name="Shape 2"/>
          <p:cNvSpPr/>
          <p:nvPr/>
        </p:nvSpPr>
        <p:spPr>
          <a:xfrm>
            <a:off x="6858000" y="0"/>
            <a:ext cx="36576" cy="5143500"/>
          </a:xfrm>
          <a:prstGeom prst="rect">
            <a:avLst/>
          </a:prstGeom>
          <a:solidFill>
            <a:srgbClr val="2E86AB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5" name="Text 3"/>
          <p:cNvSpPr/>
          <p:nvPr/>
        </p:nvSpPr>
        <p:spPr>
          <a:xfrm>
            <a:off x="457200" y="54864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วันที่ 3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1005840"/>
            <a:ext cx="64008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Constraints</a:t>
            </a:r>
            <a:endParaRPr lang="en-US" sz="4000" dirty="0"/>
          </a:p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เครื่องมือสำคัญ</a:t>
            </a:r>
            <a:endParaRPr lang="en-US" sz="4000" dirty="0"/>
          </a:p>
        </p:txBody>
      </p:sp>
      <p:sp>
        <p:nvSpPr>
          <p:cNvPr id="7" name="Shape 5"/>
          <p:cNvSpPr/>
          <p:nvPr/>
        </p:nvSpPr>
        <p:spPr>
          <a:xfrm>
            <a:off x="457200" y="2834640"/>
            <a:ext cx="4114800" cy="36576"/>
          </a:xfrm>
          <a:prstGeom prst="rect">
            <a:avLst/>
          </a:prstGeom>
          <a:solidFill>
            <a:srgbClr val="2E86AB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8" name="Text 6"/>
          <p:cNvSpPr/>
          <p:nvPr/>
        </p:nvSpPr>
        <p:spPr>
          <a:xfrm>
            <a:off x="457200" y="2944368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2B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 สำเร็จรูปที่ Solver มี algorithm พิเศษ — แก้ได้เร็วกว่าเขียนเอง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3566160"/>
            <a:ext cx="1920240" cy="822960"/>
          </a:xfrm>
          <a:prstGeom prst="rect">
            <a:avLst/>
          </a:prstGeom>
          <a:solidFill>
            <a:srgbClr val="203D5A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0" name="Text 8"/>
          <p:cNvSpPr/>
          <p:nvPr/>
        </p:nvSpPr>
        <p:spPr>
          <a:xfrm>
            <a:off x="457200" y="361188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67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alldifferent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397764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606040" y="3566160"/>
            <a:ext cx="1920240" cy="822960"/>
          </a:xfrm>
          <a:prstGeom prst="rect">
            <a:avLst/>
          </a:prstGeom>
          <a:solidFill>
            <a:srgbClr val="203D5A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3" name="Text 11"/>
          <p:cNvSpPr/>
          <p:nvPr/>
        </p:nvSpPr>
        <p:spPr>
          <a:xfrm>
            <a:off x="2606040" y="361188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67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cumulative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606040" y="397764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Scheduling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754880" y="3566160"/>
            <a:ext cx="1920240" cy="822960"/>
          </a:xfrm>
          <a:prstGeom prst="rect">
            <a:avLst/>
          </a:prstGeom>
          <a:solidFill>
            <a:srgbClr val="203D5A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6" name="Text 14"/>
          <p:cNvSpPr/>
          <p:nvPr/>
        </p:nvSpPr>
        <p:spPr>
          <a:xfrm>
            <a:off x="4754880" y="361188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67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disjunctive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754880" y="397764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No-overlap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903720" y="3566160"/>
            <a:ext cx="1920240" cy="822960"/>
          </a:xfrm>
          <a:prstGeom prst="rect">
            <a:avLst/>
          </a:prstGeom>
          <a:solidFill>
            <a:srgbClr val="203D5A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9" name="Text 17"/>
          <p:cNvSpPr/>
          <p:nvPr/>
        </p:nvSpPr>
        <p:spPr>
          <a:xfrm>
            <a:off x="6903720" y="361188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67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table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903720" y="397764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Lookup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1920240" cy="256032"/>
          </a:xfrm>
          <a:prstGeom prst="rect">
            <a:avLst/>
          </a:prstGeom>
          <a:solidFill>
            <a:srgbClr val="2E86AB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กำหนดการวันที่ 3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8412480" cy="54864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6" name="Shape 4"/>
          <p:cNvSpPr/>
          <p:nvPr/>
        </p:nvSpPr>
        <p:spPr>
          <a:xfrm>
            <a:off x="365760" y="1078992"/>
            <a:ext cx="64008" cy="548640"/>
          </a:xfrm>
          <a:prstGeom prst="rect">
            <a:avLst/>
          </a:prstGeom>
          <a:solidFill>
            <a:srgbClr val="2E86AB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7" name="Text 5"/>
          <p:cNvSpPr/>
          <p:nvPr/>
        </p:nvSpPr>
        <p:spPr>
          <a:xfrm>
            <a:off x="502920" y="1078992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09:00–09:45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938528" y="1078992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🔢 alldifferent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029200" y="1078992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Assignment, no-duplicate — ใช้กับอะไรบ้าง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65760" y="1700784"/>
            <a:ext cx="8412480" cy="54864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1" name="Shape 9"/>
          <p:cNvSpPr/>
          <p:nvPr/>
        </p:nvSpPr>
        <p:spPr>
          <a:xfrm>
            <a:off x="365760" y="1700784"/>
            <a:ext cx="64008" cy="548640"/>
          </a:xfrm>
          <a:prstGeom prst="rect">
            <a:avLst/>
          </a:prstGeom>
          <a:solidFill>
            <a:srgbClr val="2E86AB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2" name="Text 10"/>
          <p:cNvSpPr/>
          <p:nvPr/>
        </p:nvSpPr>
        <p:spPr>
          <a:xfrm>
            <a:off x="502920" y="1700784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09:45–11:00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938528" y="1700784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cumulative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5029200" y="1700784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Resource-constrained scheduling — คน, เครื่องจักร, เวลา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65760" y="2322576"/>
            <a:ext cx="8412480" cy="548640"/>
          </a:xfrm>
          <a:prstGeom prst="rect">
            <a:avLst/>
          </a:prstGeom>
          <a:solidFill>
            <a:srgbClr val="FEF3E2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6" name="Shape 14"/>
          <p:cNvSpPr/>
          <p:nvPr/>
        </p:nvSpPr>
        <p:spPr>
          <a:xfrm>
            <a:off x="365760" y="2322576"/>
            <a:ext cx="64008" cy="548640"/>
          </a:xfrm>
          <a:prstGeom prst="rect">
            <a:avLst/>
          </a:prstGeom>
          <a:solidFill>
            <a:srgbClr val="F18F01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7" name="Text 15"/>
          <p:cNvSpPr/>
          <p:nvPr/>
        </p:nvSpPr>
        <p:spPr>
          <a:xfrm>
            <a:off x="502920" y="2322576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11:00–12:00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938528" y="2322576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18F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🔨 Workshop 3A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5029200" y="2322576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 Scheduling ด้วย cumulative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65760" y="2944368"/>
            <a:ext cx="8412480" cy="54864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21" name="Shape 19"/>
          <p:cNvSpPr/>
          <p:nvPr/>
        </p:nvSpPr>
        <p:spPr>
          <a:xfrm>
            <a:off x="365760" y="2944368"/>
            <a:ext cx="64008" cy="548640"/>
          </a:xfrm>
          <a:prstGeom prst="rect">
            <a:avLst/>
          </a:prstGeom>
          <a:solidFill>
            <a:srgbClr val="0D7680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22" name="Text 20"/>
          <p:cNvSpPr/>
          <p:nvPr/>
        </p:nvSpPr>
        <p:spPr>
          <a:xfrm>
            <a:off x="502920" y="2944368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13:00–14:00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938528" y="2944368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table constraint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5029200" y="2944368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เลือกจากชุดค่าที่กำหนด — material, spec, ราคา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65760" y="3566160"/>
            <a:ext cx="8412480" cy="54864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26" name="Shape 24"/>
          <p:cNvSpPr/>
          <p:nvPr/>
        </p:nvSpPr>
        <p:spPr>
          <a:xfrm>
            <a:off x="365760" y="3566160"/>
            <a:ext cx="64008" cy="548640"/>
          </a:xfrm>
          <a:prstGeom prst="rect">
            <a:avLst/>
          </a:prstGeom>
          <a:solidFill>
            <a:srgbClr val="0D7680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27" name="Text 25"/>
          <p:cNvSpPr/>
          <p:nvPr/>
        </p:nvSpPr>
        <p:spPr>
          <a:xfrm>
            <a:off x="502920" y="356616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14:00–15:00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938528" y="356616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⛓️ disjunctive + Job Shop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5029200" y="356616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No-overlap, precedence — ตารางการผลิต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65760" y="4187952"/>
            <a:ext cx="8412480" cy="548640"/>
          </a:xfrm>
          <a:prstGeom prst="rect">
            <a:avLst/>
          </a:prstGeom>
          <a:solidFill>
            <a:srgbClr val="FEF3E2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31" name="Shape 29"/>
          <p:cNvSpPr/>
          <p:nvPr/>
        </p:nvSpPr>
        <p:spPr>
          <a:xfrm>
            <a:off x="365760" y="4187952"/>
            <a:ext cx="64008" cy="548640"/>
          </a:xfrm>
          <a:prstGeom prst="rect">
            <a:avLst/>
          </a:prstGeom>
          <a:solidFill>
            <a:srgbClr val="F18F01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32" name="Text 30"/>
          <p:cNvSpPr/>
          <p:nvPr/>
        </p:nvSpPr>
        <p:spPr>
          <a:xfrm>
            <a:off x="502920" y="4187952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15:00–16:00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1938528" y="4187952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18F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🔨 Workshop 3B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5029200" y="4187952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Shop Scheduling — 4 ออร์เดอร์ 3 สถานี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365760" y="484632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วันที่ 3: Global Constraints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8412480" y="484632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22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1920240" cy="256032"/>
          </a:xfrm>
          <a:prstGeom prst="rect">
            <a:avLst/>
          </a:prstGeom>
          <a:solidFill>
            <a:srgbClr val="2E86AB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ช่วงเช้า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ทำไมต้องใช้ Global Constraints?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8412480" cy="594360"/>
          </a:xfrm>
          <a:prstGeom prst="rect">
            <a:avLst/>
          </a:prstGeom>
          <a:solidFill>
            <a:srgbClr val="1A3C5E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6" name="Text 4"/>
          <p:cNvSpPr/>
          <p:nvPr/>
        </p:nvSpPr>
        <p:spPr>
          <a:xfrm>
            <a:off x="502920" y="107899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Constraints = constraint สำเร็จรูปที่ผู้เชี่ยวชาญออกแบบมาพร้อม algorithm พิเศษ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5760" y="1810512"/>
            <a:ext cx="3977640" cy="260604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8" name="Shape 6"/>
          <p:cNvSpPr/>
          <p:nvPr/>
        </p:nvSpPr>
        <p:spPr>
          <a:xfrm>
            <a:off x="365760" y="1810512"/>
            <a:ext cx="3977640" cy="384048"/>
          </a:xfrm>
          <a:prstGeom prst="rect">
            <a:avLst/>
          </a:prstGeom>
          <a:solidFill>
            <a:srgbClr val="718096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9" name="Text 7"/>
          <p:cNvSpPr/>
          <p:nvPr/>
        </p:nvSpPr>
        <p:spPr>
          <a:xfrm>
            <a:off x="365760" y="1810512"/>
            <a:ext cx="3977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เขียนเอง (ช้า)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267712"/>
            <a:ext cx="3794760" cy="2011680"/>
          </a:xfrm>
          <a:prstGeom prst="rect">
            <a:avLst/>
          </a:prstGeom>
          <a:solidFill>
            <a:srgbClr val="1E2D3D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TH"/>
          </a:p>
        </p:txBody>
      </p:sp>
      <p:sp>
        <p:nvSpPr>
          <p:cNvPr id="11" name="Shape 9"/>
          <p:cNvSpPr/>
          <p:nvPr/>
        </p:nvSpPr>
        <p:spPr>
          <a:xfrm>
            <a:off x="457200" y="2267712"/>
            <a:ext cx="54864" cy="2011680"/>
          </a:xfrm>
          <a:prstGeom prst="rect">
            <a:avLst/>
          </a:prstGeom>
          <a:solidFill>
            <a:srgbClr val="718096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2" name="Text 10"/>
          <p:cNvSpPr/>
          <p:nvPr/>
        </p:nvSpPr>
        <p:spPr>
          <a:xfrm>
            <a:off x="603504" y="2340864"/>
            <a:ext cx="3630168" cy="19385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7180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% n=10, ต้องต่างกันทุกคู่</a:t>
            </a:r>
            <a:r>
              <a:rPr lang="en-US" sz="10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4A2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constraint forall</a:t>
            </a:r>
            <a:r>
              <a:rPr lang="en-US" sz="105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(i,j in 1..10</a:t>
            </a:r>
            <a:r>
              <a:rPr lang="en-US" sz="10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where i&lt;j)(x[i] != x[j]);</a:t>
            </a:r>
            <a:r>
              <a:rPr lang="en-US" sz="10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180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% = 45 constraints!</a:t>
            </a:r>
            <a:r>
              <a:rPr lang="en-US" sz="10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180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% solver ต้อง check ทุกคู่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617720" y="1810512"/>
            <a:ext cx="4160520" cy="2606040"/>
          </a:xfrm>
          <a:prstGeom prst="rect">
            <a:avLst/>
          </a:prstGeom>
          <a:solidFill>
            <a:srgbClr val="E8F5EE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4" name="Shape 12"/>
          <p:cNvSpPr/>
          <p:nvPr/>
        </p:nvSpPr>
        <p:spPr>
          <a:xfrm>
            <a:off x="4617720" y="1810512"/>
            <a:ext cx="4160520" cy="384048"/>
          </a:xfrm>
          <a:prstGeom prst="rect">
            <a:avLst/>
          </a:prstGeom>
          <a:solidFill>
            <a:srgbClr val="1A6B47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5" name="Text 13"/>
          <p:cNvSpPr/>
          <p:nvPr/>
        </p:nvSpPr>
        <p:spPr>
          <a:xfrm>
            <a:off x="4617720" y="1810512"/>
            <a:ext cx="4160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Global Constraint (เร็ว)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709160" y="2267712"/>
            <a:ext cx="3977640" cy="2011680"/>
          </a:xfrm>
          <a:prstGeom prst="rect">
            <a:avLst/>
          </a:prstGeom>
          <a:solidFill>
            <a:srgbClr val="1E2D3D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TH"/>
          </a:p>
        </p:txBody>
      </p:sp>
      <p:sp>
        <p:nvSpPr>
          <p:cNvPr id="17" name="Shape 15"/>
          <p:cNvSpPr/>
          <p:nvPr/>
        </p:nvSpPr>
        <p:spPr>
          <a:xfrm>
            <a:off x="4709160" y="2267712"/>
            <a:ext cx="54864" cy="2011680"/>
          </a:xfrm>
          <a:prstGeom prst="rect">
            <a:avLst/>
          </a:prstGeom>
          <a:solidFill>
            <a:srgbClr val="1A6B47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8" name="Text 16"/>
          <p:cNvSpPr/>
          <p:nvPr/>
        </p:nvSpPr>
        <p:spPr>
          <a:xfrm>
            <a:off x="4855464" y="2340864"/>
            <a:ext cx="3813048" cy="19385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7BC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include </a:t>
            </a:r>
            <a:r>
              <a:rPr lang="en-US" sz="1050" dirty="0">
                <a:solidFill>
                  <a:srgbClr val="F9E7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"globals.mzn";</a:t>
            </a:r>
            <a:r>
              <a:rPr lang="en-US" sz="10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4A2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constraint </a:t>
            </a:r>
            <a:r>
              <a:rPr lang="en-US" sz="1050" dirty="0">
                <a:solidFill>
                  <a:srgbClr val="7EC8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alldifferent</a:t>
            </a:r>
            <a:r>
              <a:rPr lang="en-US" sz="105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(x);</a:t>
            </a:r>
            <a:r>
              <a:rPr lang="en-US" sz="10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180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% 1 constraint, solver ใช้</a:t>
            </a:r>
            <a:r>
              <a:rPr lang="en-US" sz="10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180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% arc-consistency algorithm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65760" y="4572000"/>
            <a:ext cx="8412480" cy="256032"/>
          </a:xfrm>
          <a:prstGeom prst="rect">
            <a:avLst/>
          </a:prstGeom>
          <a:solidFill>
            <a:srgbClr val="FEF3E2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20" name="Text 18"/>
          <p:cNvSpPr/>
          <p:nvPr/>
        </p:nvSpPr>
        <p:spPr>
          <a:xfrm>
            <a:off x="502920" y="457200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18F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Global constraints ทำให้ solve ได้เร็วกว่า และโค้ดสั้นกว่าอย่างมาก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65760" y="484632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วันที่ 3: Global Constraints — Global Constraints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8412480" y="484632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22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1920240" cy="256032"/>
          </a:xfrm>
          <a:prstGeom prst="rect">
            <a:avLst/>
          </a:prstGeom>
          <a:solidFill>
            <a:srgbClr val="2E86AB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ช่วงเช้า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alldifferent — ทุกค่าต้องต่างกัน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8412480" cy="530352"/>
          </a:xfrm>
          <a:prstGeom prst="rect">
            <a:avLst/>
          </a:prstGeom>
          <a:solidFill>
            <a:srgbClr val="1A3C5E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6" name="Text 4"/>
          <p:cNvSpPr/>
          <p:nvPr/>
        </p:nvSpPr>
        <p:spPr>
          <a:xfrm>
            <a:off x="502920" y="1078992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alldifferent([x1, x2, ..., xn])  →  x1≠x2, x1≠x3, ..., xn-1≠xn  (ทุกคู่)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5760" y="1737360"/>
            <a:ext cx="8412480" cy="1389888"/>
          </a:xfrm>
          <a:prstGeom prst="rect">
            <a:avLst/>
          </a:prstGeom>
          <a:solidFill>
            <a:srgbClr val="1E2D3D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TH"/>
          </a:p>
        </p:txBody>
      </p:sp>
      <p:sp>
        <p:nvSpPr>
          <p:cNvPr id="8" name="Shape 6"/>
          <p:cNvSpPr/>
          <p:nvPr/>
        </p:nvSpPr>
        <p:spPr>
          <a:xfrm>
            <a:off x="365760" y="1737360"/>
            <a:ext cx="54864" cy="1389888"/>
          </a:xfrm>
          <a:prstGeom prst="rect">
            <a:avLst/>
          </a:prstGeom>
          <a:solidFill>
            <a:srgbClr val="2E86AB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9" name="Text 7"/>
          <p:cNvSpPr/>
          <p:nvPr/>
        </p:nvSpPr>
        <p:spPr>
          <a:xfrm>
            <a:off x="512064" y="1810512"/>
            <a:ext cx="8247888" cy="131673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7BC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include </a:t>
            </a:r>
            <a:r>
              <a:rPr lang="en-US" sz="1050" dirty="0">
                <a:solidFill>
                  <a:srgbClr val="F9E7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"globals.mzn";</a:t>
            </a:r>
            <a:r>
              <a:rPr lang="en-US" sz="1050" dirty="0">
                <a:solidFill>
                  <a:srgbClr val="7180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% หรือ globals.mzn สำหรับทุก global</a:t>
            </a:r>
            <a:r>
              <a:rPr lang="en-US" sz="10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180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% มอบหมาย task ให้ worker — แต่ละ worker ได้ task </a:t>
            </a:r>
            <a:r>
              <a:rPr lang="en-US" sz="1050" dirty="0" err="1">
                <a:solidFill>
                  <a:srgbClr val="7180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ต่างกัน</a:t>
            </a:r>
            <a:endParaRPr lang="en-US" sz="1050" dirty="0"/>
          </a:p>
          <a:p>
            <a:pPr marL="0" indent="0">
              <a:buNone/>
            </a:pPr>
            <a:endParaRPr lang="th-TH" sz="1050" dirty="0">
              <a:solidFill>
                <a:srgbClr val="7BC8F0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pPr marL="0" indent="0">
              <a:buNone/>
            </a:pPr>
            <a:r>
              <a:rPr lang="en-US" sz="1050" dirty="0">
                <a:solidFill>
                  <a:srgbClr val="7BC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array</a:t>
            </a:r>
            <a:r>
              <a:rPr lang="en-US" sz="105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[WORKERS] of var TASKS: assigned;</a:t>
            </a:r>
            <a:endParaRPr lang="en-US" sz="1050" dirty="0"/>
          </a:p>
          <a:p>
            <a:pPr marL="0" indent="0">
              <a:buNone/>
            </a:pPr>
            <a:endParaRPr lang="th-TH" sz="1050" dirty="0">
              <a:solidFill>
                <a:srgbClr val="F4A261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pPr marL="0" indent="0">
              <a:buNone/>
            </a:pPr>
            <a:r>
              <a:rPr lang="en-US" sz="1050" dirty="0">
                <a:solidFill>
                  <a:srgbClr val="F4A2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constraint </a:t>
            </a:r>
            <a:r>
              <a:rPr lang="en-US" sz="1050" dirty="0">
                <a:solidFill>
                  <a:srgbClr val="7EC8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alldifferent</a:t>
            </a:r>
            <a:r>
              <a:rPr lang="en-US" sz="105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(assigned);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65760" y="3255264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ใช้กับปัญหาไหนบ้าง: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3611880"/>
            <a:ext cx="4069080" cy="475488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2" name="Text 10"/>
          <p:cNvSpPr/>
          <p:nvPr/>
        </p:nvSpPr>
        <p:spPr>
          <a:xfrm>
            <a:off x="457200" y="3611880"/>
            <a:ext cx="21031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🗓️  Assignment problems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651760" y="3611880"/>
            <a:ext cx="1691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มอบหมายงาน, จัดกะ — ห้ามซ้ำ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663440" y="3611880"/>
            <a:ext cx="4069080" cy="475488"/>
          </a:xfrm>
          <a:prstGeom prst="rect">
            <a:avLst/>
          </a:prstGeom>
          <a:solidFill>
            <a:srgbClr val="F7FAFC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5" name="Text 13"/>
          <p:cNvSpPr/>
          <p:nvPr/>
        </p:nvSpPr>
        <p:spPr>
          <a:xfrm>
            <a:off x="4754880" y="3611880"/>
            <a:ext cx="21031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🧩  Sudoku / N-Queens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949440" y="3611880"/>
            <a:ext cx="1691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แต่ละแถว/คอลัมน์ต้องมีค่า 1–n ครบและไม่ซ้ำ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5760" y="4160520"/>
            <a:ext cx="4069080" cy="475488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8" name="Text 16"/>
          <p:cNvSpPr/>
          <p:nvPr/>
        </p:nvSpPr>
        <p:spPr>
          <a:xfrm>
            <a:off x="457200" y="4160520"/>
            <a:ext cx="21031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🏭  Machine assignment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651760" y="4160520"/>
            <a:ext cx="1691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ออร์เดอร์แต่ละชิ้นใช้เครื่องต่างกัน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663440" y="4160520"/>
            <a:ext cx="4069080" cy="475488"/>
          </a:xfrm>
          <a:prstGeom prst="rect">
            <a:avLst/>
          </a:prstGeom>
          <a:solidFill>
            <a:srgbClr val="F7FAFC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21" name="Text 19"/>
          <p:cNvSpPr/>
          <p:nvPr/>
        </p:nvSpPr>
        <p:spPr>
          <a:xfrm>
            <a:off x="4754880" y="4160520"/>
            <a:ext cx="21031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🔢  Permutations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949440" y="4160520"/>
            <a:ext cx="1691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กำหนดให้เป็นการเรียงลำดับ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65760" y="484632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วันที่ 3: Global Constraints — alldifferent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8412480" y="484632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22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1920240" cy="256032"/>
          </a:xfrm>
          <a:prstGeom prst="rect">
            <a:avLst/>
          </a:prstGeom>
          <a:solidFill>
            <a:srgbClr val="2E86AB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ช่วงเช้า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ตัวอย่าง: มอบหมายงาน Minimize เวลา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5120640" cy="3520440"/>
          </a:xfrm>
          <a:prstGeom prst="rect">
            <a:avLst/>
          </a:prstGeom>
          <a:solidFill>
            <a:srgbClr val="1E2D3D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TH"/>
          </a:p>
        </p:txBody>
      </p:sp>
      <p:sp>
        <p:nvSpPr>
          <p:cNvPr id="6" name="Shape 4"/>
          <p:cNvSpPr/>
          <p:nvPr/>
        </p:nvSpPr>
        <p:spPr>
          <a:xfrm>
            <a:off x="365760" y="1078992"/>
            <a:ext cx="54864" cy="3520440"/>
          </a:xfrm>
          <a:prstGeom prst="rect">
            <a:avLst/>
          </a:prstGeom>
          <a:solidFill>
            <a:srgbClr val="2E86AB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7" name="Text 5"/>
          <p:cNvSpPr/>
          <p:nvPr/>
        </p:nvSpPr>
        <p:spPr>
          <a:xfrm>
            <a:off x="512064" y="1152144"/>
            <a:ext cx="4956048" cy="34472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7BC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include </a:t>
            </a:r>
            <a:r>
              <a:rPr lang="en-US" sz="1050" dirty="0">
                <a:solidFill>
                  <a:srgbClr val="F9E7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"alldifferent.mzn";</a:t>
            </a:r>
            <a:r>
              <a:rPr lang="en-US" sz="10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BC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enum </a:t>
            </a:r>
            <a:r>
              <a:rPr lang="en-US" sz="1050" dirty="0">
                <a:solidFill>
                  <a:srgbClr val="F9E7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WORKERS = { Alice, Bob, Carol, Dave };</a:t>
            </a:r>
            <a:r>
              <a:rPr lang="en-US" sz="10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th-TH" sz="1050" dirty="0">
              <a:solidFill>
                <a:srgbClr val="000000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pPr marL="0" indent="0">
              <a:buNone/>
            </a:pPr>
            <a:r>
              <a:rPr lang="en-US" sz="1050" dirty="0" err="1">
                <a:solidFill>
                  <a:srgbClr val="7BC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enum</a:t>
            </a:r>
            <a:r>
              <a:rPr lang="en-US" sz="1050" dirty="0">
                <a:solidFill>
                  <a:srgbClr val="7BC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050" dirty="0">
                <a:solidFill>
                  <a:srgbClr val="F9E7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TASKS   = { TaskA, TaskB, TaskC, TaskD };</a:t>
            </a:r>
            <a:r>
              <a:rPr lang="en-US" sz="10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BC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array</a:t>
            </a:r>
            <a:r>
              <a:rPr lang="en-US" sz="105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[WORKERS,TASKS] of </a:t>
            </a:r>
            <a:r>
              <a:rPr lang="en-US" sz="1050" dirty="0">
                <a:solidFill>
                  <a:srgbClr val="7BC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05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dur;</a:t>
            </a:r>
            <a:r>
              <a:rPr lang="en-US" sz="10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th-TH" sz="1050" dirty="0">
              <a:solidFill>
                <a:srgbClr val="000000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pPr marL="0" indent="0">
              <a:buNone/>
            </a:pPr>
            <a:r>
              <a:rPr lang="en-US" sz="1050" dirty="0">
                <a:solidFill>
                  <a:srgbClr val="7BC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array</a:t>
            </a:r>
            <a:r>
              <a:rPr lang="en-US" sz="1050" dirty="0">
                <a:solidFill>
                  <a:srgbClr val="F9E7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[WORKERS] of var TASKS: assigned;</a:t>
            </a:r>
            <a:r>
              <a:rPr lang="en-US" sz="10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4A2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constraint </a:t>
            </a:r>
            <a:r>
              <a:rPr lang="en-US" sz="1050" dirty="0">
                <a:solidFill>
                  <a:srgbClr val="7EC8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alldifferent</a:t>
            </a:r>
            <a:r>
              <a:rPr lang="en-US" sz="105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(assigned);</a:t>
            </a:r>
            <a:r>
              <a:rPr lang="en-US" sz="10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BC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solve minimize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EC8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sum</a:t>
            </a:r>
            <a:r>
              <a:rPr lang="en-US" sz="105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(w in WORKERS)(dur[w, assigned[w]]);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623560" y="1403312"/>
            <a:ext cx="3154680" cy="621792"/>
          </a:xfrm>
          <a:prstGeom prst="rect">
            <a:avLst/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9" name="Shape 7"/>
          <p:cNvSpPr/>
          <p:nvPr/>
        </p:nvSpPr>
        <p:spPr>
          <a:xfrm>
            <a:off x="5623560" y="1403312"/>
            <a:ext cx="54864" cy="621792"/>
          </a:xfrm>
          <a:prstGeom prst="rect">
            <a:avLst/>
          </a:prstGeom>
          <a:solidFill>
            <a:srgbClr val="2E86AB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0" name="Text 8"/>
          <p:cNvSpPr/>
          <p:nvPr/>
        </p:nvSpPr>
        <p:spPr>
          <a:xfrm>
            <a:off x="5715000" y="1403312"/>
            <a:ext cx="29718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◀  ตัวแปรแต่ละตัว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เป็น enum TASKS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623560" y="2786447"/>
            <a:ext cx="3154680" cy="621792"/>
          </a:xfrm>
          <a:prstGeom prst="rect">
            <a:avLst/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2" name="Shape 10"/>
          <p:cNvSpPr/>
          <p:nvPr/>
        </p:nvSpPr>
        <p:spPr>
          <a:xfrm>
            <a:off x="5623560" y="2786447"/>
            <a:ext cx="54864" cy="621792"/>
          </a:xfrm>
          <a:prstGeom prst="rect">
            <a:avLst/>
          </a:prstGeom>
          <a:solidFill>
            <a:srgbClr val="1A6B47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3" name="Text 11"/>
          <p:cNvSpPr/>
          <p:nvPr/>
        </p:nvSpPr>
        <p:spPr>
          <a:xfrm>
            <a:off x="5715000" y="2786447"/>
            <a:ext cx="29718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◀  alldifferent!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ทุกคนได้งานต่างกัน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623560" y="3438472"/>
            <a:ext cx="3154680" cy="621792"/>
          </a:xfrm>
          <a:prstGeom prst="rect">
            <a:avLst/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5" name="Shape 13"/>
          <p:cNvSpPr/>
          <p:nvPr/>
        </p:nvSpPr>
        <p:spPr>
          <a:xfrm>
            <a:off x="5623560" y="3438472"/>
            <a:ext cx="54864" cy="621792"/>
          </a:xfrm>
          <a:prstGeom prst="rect">
            <a:avLst/>
          </a:prstGeom>
          <a:solidFill>
            <a:srgbClr val="0D7680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6" name="Text 14"/>
          <p:cNvSpPr/>
          <p:nvPr/>
        </p:nvSpPr>
        <p:spPr>
          <a:xfrm>
            <a:off x="5715000" y="3438472"/>
            <a:ext cx="29718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◀  minimize เวลารวม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ทุกคน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65760" y="484632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วันที่ 3: Global Constraints — alldifferent ตัวอย่าง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8412480" y="484632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22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1920240" cy="256032"/>
          </a:xfrm>
          <a:prstGeom prst="rect">
            <a:avLst/>
          </a:prstGeom>
          <a:solidFill>
            <a:srgbClr val="2E86AB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ช่วงเช้า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cumulative — Resource-Constrained Scheduling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8412480" cy="530352"/>
          </a:xfrm>
          <a:prstGeom prst="rect">
            <a:avLst/>
          </a:prstGeom>
          <a:solidFill>
            <a:srgbClr val="1A3C5E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6" name="Text 4"/>
          <p:cNvSpPr/>
          <p:nvPr/>
        </p:nvSpPr>
        <p:spPr>
          <a:xfrm>
            <a:off x="502920" y="1078992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cumulative(start, duration, resource_req, capacity)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65760" y="1755648"/>
            <a:ext cx="8412480" cy="530352"/>
          </a:xfrm>
          <a:prstGeom prst="rect">
            <a:avLst/>
          </a:prstGeom>
          <a:solidFill>
            <a:srgbClr val="F0F4F8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TH"/>
          </a:p>
        </p:txBody>
      </p:sp>
      <p:sp>
        <p:nvSpPr>
          <p:cNvPr id="8" name="Shape 6"/>
          <p:cNvSpPr/>
          <p:nvPr/>
        </p:nvSpPr>
        <p:spPr>
          <a:xfrm>
            <a:off x="365760" y="1755648"/>
            <a:ext cx="64008" cy="530352"/>
          </a:xfrm>
          <a:prstGeom prst="rect">
            <a:avLst/>
          </a:prstGeom>
          <a:solidFill>
            <a:srgbClr val="2E86AB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9" name="Text 7"/>
          <p:cNvSpPr/>
          <p:nvPr/>
        </p:nvSpPr>
        <p:spPr>
          <a:xfrm>
            <a:off x="548640" y="1755648"/>
            <a:ext cx="20116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86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start[]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651760" y="1755648"/>
            <a:ext cx="55778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เวลาเริ่มต้นของแต่ละงาน (decision variables)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65760" y="2359152"/>
            <a:ext cx="8412480" cy="53035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TH"/>
          </a:p>
        </p:txBody>
      </p:sp>
      <p:sp>
        <p:nvSpPr>
          <p:cNvPr id="12" name="Shape 10"/>
          <p:cNvSpPr/>
          <p:nvPr/>
        </p:nvSpPr>
        <p:spPr>
          <a:xfrm>
            <a:off x="365760" y="2359152"/>
            <a:ext cx="64008" cy="530352"/>
          </a:xfrm>
          <a:prstGeom prst="rect">
            <a:avLst/>
          </a:prstGeom>
          <a:solidFill>
            <a:srgbClr val="0D7680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3" name="Text 11"/>
          <p:cNvSpPr/>
          <p:nvPr/>
        </p:nvSpPr>
        <p:spPr>
          <a:xfrm>
            <a:off x="548640" y="2359152"/>
            <a:ext cx="20116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76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duration[]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651760" y="2359152"/>
            <a:ext cx="55778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ระยะเวลาของแต่ละงาน (ค่าคงที่หรือ variable)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2962656"/>
            <a:ext cx="8412480" cy="530352"/>
          </a:xfrm>
          <a:prstGeom prst="rect">
            <a:avLst/>
          </a:prstGeom>
          <a:solidFill>
            <a:srgbClr val="F0F4F8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TH"/>
          </a:p>
        </p:txBody>
      </p:sp>
      <p:sp>
        <p:nvSpPr>
          <p:cNvPr id="16" name="Shape 14"/>
          <p:cNvSpPr/>
          <p:nvPr/>
        </p:nvSpPr>
        <p:spPr>
          <a:xfrm>
            <a:off x="365760" y="2962656"/>
            <a:ext cx="64008" cy="530352"/>
          </a:xfrm>
          <a:prstGeom prst="rect">
            <a:avLst/>
          </a:prstGeom>
          <a:solidFill>
            <a:srgbClr val="E67E22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7" name="Text 15"/>
          <p:cNvSpPr/>
          <p:nvPr/>
        </p:nvSpPr>
        <p:spPr>
          <a:xfrm>
            <a:off x="548640" y="2962656"/>
            <a:ext cx="20116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67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resource_req[]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651760" y="2962656"/>
            <a:ext cx="55778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ทรัพยากรที่งานนั้นต้องการในแต่ละช่วง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3566160"/>
            <a:ext cx="8412480" cy="53035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TH"/>
          </a:p>
        </p:txBody>
      </p:sp>
      <p:sp>
        <p:nvSpPr>
          <p:cNvPr id="20" name="Shape 18"/>
          <p:cNvSpPr/>
          <p:nvPr/>
        </p:nvSpPr>
        <p:spPr>
          <a:xfrm>
            <a:off x="365760" y="3566160"/>
            <a:ext cx="64008" cy="530352"/>
          </a:xfrm>
          <a:prstGeom prst="rect">
            <a:avLst/>
          </a:prstGeom>
          <a:solidFill>
            <a:srgbClr val="1A6B47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21" name="Text 19"/>
          <p:cNvSpPr/>
          <p:nvPr/>
        </p:nvSpPr>
        <p:spPr>
          <a:xfrm>
            <a:off x="548640" y="3566160"/>
            <a:ext cx="20116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6B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capacity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2651760" y="3566160"/>
            <a:ext cx="55778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ทรัพยากรทั้งหมดที่มี (ต้องไม่เกินในทุกเวลา)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4279392"/>
            <a:ext cx="8412480" cy="502920"/>
          </a:xfrm>
          <a:prstGeom prst="rect">
            <a:avLst/>
          </a:prstGeom>
          <a:solidFill>
            <a:srgbClr val="1E2D3D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TH"/>
          </a:p>
        </p:txBody>
      </p:sp>
      <p:sp>
        <p:nvSpPr>
          <p:cNvPr id="24" name="Shape 22"/>
          <p:cNvSpPr/>
          <p:nvPr/>
        </p:nvSpPr>
        <p:spPr>
          <a:xfrm>
            <a:off x="365760" y="4279392"/>
            <a:ext cx="54864" cy="502920"/>
          </a:xfrm>
          <a:prstGeom prst="rect">
            <a:avLst/>
          </a:prstGeom>
          <a:solidFill>
            <a:srgbClr val="0D7680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25" name="Text 23"/>
          <p:cNvSpPr/>
          <p:nvPr/>
        </p:nvSpPr>
        <p:spPr>
          <a:xfrm>
            <a:off x="512064" y="4352544"/>
            <a:ext cx="8247888" cy="42976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7BC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include </a:t>
            </a:r>
            <a:r>
              <a:rPr lang="en-US" sz="1050" dirty="0">
                <a:solidFill>
                  <a:srgbClr val="F9E7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"cumulative.mzn";    </a:t>
            </a:r>
            <a:r>
              <a:rPr lang="en-US" sz="1050" dirty="0">
                <a:solidFill>
                  <a:srgbClr val="F4A2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constraint </a:t>
            </a:r>
            <a:r>
              <a:rPr lang="en-US" sz="1050" dirty="0">
                <a:solidFill>
                  <a:srgbClr val="7EC8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cumulative</a:t>
            </a:r>
            <a:r>
              <a:rPr lang="en-US" sz="105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(start, duration, workers_needed, total_workers);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365760" y="484632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วันที่ 3: Global Constraints — cumulative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8412480" y="484632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22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1920240" cy="256032"/>
          </a:xfrm>
          <a:prstGeom prst="rect">
            <a:avLst/>
          </a:prstGeom>
          <a:solidFill>
            <a:srgbClr val="2E86AB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ช่วงเช้า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cumulative — ภาพประกอบ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8412480" cy="36576"/>
          </a:xfrm>
          <a:prstGeom prst="rect">
            <a:avLst/>
          </a:prstGeom>
          <a:solidFill>
            <a:srgbClr val="CBD5E0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6" name="Shape 4"/>
          <p:cNvSpPr/>
          <p:nvPr/>
        </p:nvSpPr>
        <p:spPr>
          <a:xfrm>
            <a:off x="365760" y="1042416"/>
            <a:ext cx="36576" cy="109728"/>
          </a:xfrm>
          <a:prstGeom prst="rect">
            <a:avLst/>
          </a:prstGeom>
          <a:solidFill>
            <a:srgbClr val="CBD5E0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7" name="Text 5"/>
          <p:cNvSpPr/>
          <p:nvPr/>
        </p:nvSpPr>
        <p:spPr>
          <a:xfrm>
            <a:off x="228600" y="1152144"/>
            <a:ext cx="320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417320" y="1042416"/>
            <a:ext cx="36576" cy="109728"/>
          </a:xfrm>
          <a:prstGeom prst="rect">
            <a:avLst/>
          </a:prstGeom>
          <a:solidFill>
            <a:srgbClr val="CBD5E0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9" name="Text 7"/>
          <p:cNvSpPr/>
          <p:nvPr/>
        </p:nvSpPr>
        <p:spPr>
          <a:xfrm>
            <a:off x="1280160" y="1152144"/>
            <a:ext cx="320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468880" y="1042416"/>
            <a:ext cx="36576" cy="109728"/>
          </a:xfrm>
          <a:prstGeom prst="rect">
            <a:avLst/>
          </a:prstGeom>
          <a:solidFill>
            <a:srgbClr val="CBD5E0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1" name="Text 9"/>
          <p:cNvSpPr/>
          <p:nvPr/>
        </p:nvSpPr>
        <p:spPr>
          <a:xfrm>
            <a:off x="2331720" y="1152144"/>
            <a:ext cx="320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520440" y="1042416"/>
            <a:ext cx="36576" cy="109728"/>
          </a:xfrm>
          <a:prstGeom prst="rect">
            <a:avLst/>
          </a:prstGeom>
          <a:solidFill>
            <a:srgbClr val="CBD5E0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3" name="Text 11"/>
          <p:cNvSpPr/>
          <p:nvPr/>
        </p:nvSpPr>
        <p:spPr>
          <a:xfrm>
            <a:off x="3383280" y="1152144"/>
            <a:ext cx="320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572000" y="1042416"/>
            <a:ext cx="36576" cy="109728"/>
          </a:xfrm>
          <a:prstGeom prst="rect">
            <a:avLst/>
          </a:prstGeom>
          <a:solidFill>
            <a:srgbClr val="CBD5E0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5" name="Text 13"/>
          <p:cNvSpPr/>
          <p:nvPr/>
        </p:nvSpPr>
        <p:spPr>
          <a:xfrm>
            <a:off x="4434840" y="1152144"/>
            <a:ext cx="320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623560" y="1042416"/>
            <a:ext cx="36576" cy="109728"/>
          </a:xfrm>
          <a:prstGeom prst="rect">
            <a:avLst/>
          </a:prstGeom>
          <a:solidFill>
            <a:srgbClr val="CBD5E0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7" name="Text 15"/>
          <p:cNvSpPr/>
          <p:nvPr/>
        </p:nvSpPr>
        <p:spPr>
          <a:xfrm>
            <a:off x="5486400" y="1152144"/>
            <a:ext cx="320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675120" y="1042416"/>
            <a:ext cx="36576" cy="109728"/>
          </a:xfrm>
          <a:prstGeom prst="rect">
            <a:avLst/>
          </a:prstGeom>
          <a:solidFill>
            <a:srgbClr val="CBD5E0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9" name="Text 17"/>
          <p:cNvSpPr/>
          <p:nvPr/>
        </p:nvSpPr>
        <p:spPr>
          <a:xfrm>
            <a:off x="6537960" y="1152144"/>
            <a:ext cx="320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7726680" y="1042416"/>
            <a:ext cx="36576" cy="109728"/>
          </a:xfrm>
          <a:prstGeom prst="rect">
            <a:avLst/>
          </a:prstGeom>
          <a:solidFill>
            <a:srgbClr val="CBD5E0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21" name="Text 19"/>
          <p:cNvSpPr/>
          <p:nvPr/>
        </p:nvSpPr>
        <p:spPr>
          <a:xfrm>
            <a:off x="7589520" y="1152144"/>
            <a:ext cx="320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8778240" y="1042416"/>
            <a:ext cx="36576" cy="109728"/>
          </a:xfrm>
          <a:prstGeom prst="rect">
            <a:avLst/>
          </a:prstGeom>
          <a:solidFill>
            <a:srgbClr val="CBD5E0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23" name="Text 21"/>
          <p:cNvSpPr/>
          <p:nvPr/>
        </p:nvSpPr>
        <p:spPr>
          <a:xfrm>
            <a:off x="8641080" y="1152144"/>
            <a:ext cx="320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8046720" y="1078992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เวลา (ชั่วโมง)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65760" y="1481328"/>
            <a:ext cx="4206240" cy="338328"/>
          </a:xfrm>
          <a:prstGeom prst="rect">
            <a:avLst/>
          </a:prstGeom>
          <a:solidFill>
            <a:srgbClr val="2196F3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26" name="Text 24"/>
          <p:cNvSpPr/>
          <p:nvPr/>
        </p:nvSpPr>
        <p:spPr>
          <a:xfrm>
            <a:off x="402336" y="1481328"/>
            <a:ext cx="4133088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งาน A</a:t>
            </a:r>
            <a:endParaRPr lang="en-US" sz="900" dirty="0"/>
          </a:p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(3 คน)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65760" y="1865376"/>
            <a:ext cx="3212346" cy="338328"/>
          </a:xfrm>
          <a:prstGeom prst="rect">
            <a:avLst/>
          </a:prstGeom>
          <a:solidFill>
            <a:srgbClr val="4CAF50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28" name="Text 26"/>
          <p:cNvSpPr/>
          <p:nvPr/>
        </p:nvSpPr>
        <p:spPr>
          <a:xfrm>
            <a:off x="402336" y="1865376"/>
            <a:ext cx="3081528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งาน B</a:t>
            </a:r>
            <a:endParaRPr lang="en-US" sz="900" dirty="0"/>
          </a:p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 คน)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572000" y="2249424"/>
            <a:ext cx="5257800" cy="338328"/>
          </a:xfrm>
          <a:prstGeom prst="rect">
            <a:avLst/>
          </a:prstGeom>
          <a:solidFill>
            <a:srgbClr val="FF9800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30" name="Text 28"/>
          <p:cNvSpPr/>
          <p:nvPr/>
        </p:nvSpPr>
        <p:spPr>
          <a:xfrm>
            <a:off x="4608576" y="2249424"/>
            <a:ext cx="5184648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งาน C</a:t>
            </a:r>
            <a:endParaRPr lang="en-US" sz="900" dirty="0"/>
          </a:p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 คน)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3578106" y="2633472"/>
            <a:ext cx="2103120" cy="338328"/>
          </a:xfrm>
          <a:prstGeom prst="rect">
            <a:avLst/>
          </a:prstGeom>
          <a:solidFill>
            <a:srgbClr val="E91E63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32" name="Text 30"/>
          <p:cNvSpPr/>
          <p:nvPr/>
        </p:nvSpPr>
        <p:spPr>
          <a:xfrm>
            <a:off x="3614682" y="2633472"/>
            <a:ext cx="2029968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งาน D</a:t>
            </a:r>
            <a:endParaRPr lang="en-US" sz="900" dirty="0"/>
          </a:p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(4 คน)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365760" y="3017520"/>
            <a:ext cx="6309360" cy="338328"/>
          </a:xfrm>
          <a:prstGeom prst="rect">
            <a:avLst/>
          </a:prstGeom>
          <a:solidFill>
            <a:srgbClr val="9C27B0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34" name="Text 32"/>
          <p:cNvSpPr/>
          <p:nvPr/>
        </p:nvSpPr>
        <p:spPr>
          <a:xfrm>
            <a:off x="402336" y="3017520"/>
            <a:ext cx="6236208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งาน E</a:t>
            </a:r>
            <a:endParaRPr lang="en-US" sz="900" dirty="0"/>
          </a:p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 คน)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3520440" y="1481328"/>
            <a:ext cx="73152" cy="1920240"/>
          </a:xfrm>
          <a:prstGeom prst="rect">
            <a:avLst/>
          </a:prstGeom>
          <a:solidFill>
            <a:srgbClr val="C0392B">
              <a:alpha val="30000"/>
            </a:srgbClr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36" name="Text 34"/>
          <p:cNvSpPr/>
          <p:nvPr/>
        </p:nvSpPr>
        <p:spPr>
          <a:xfrm>
            <a:off x="3383280" y="395020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⚠️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365760" y="4279392"/>
            <a:ext cx="8412480" cy="502920"/>
          </a:xfrm>
          <a:prstGeom prst="rect">
            <a:avLst/>
          </a:prstGeom>
          <a:solidFill>
            <a:srgbClr val="FADBD8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38" name="Shape 36"/>
          <p:cNvSpPr/>
          <p:nvPr/>
        </p:nvSpPr>
        <p:spPr>
          <a:xfrm>
            <a:off x="365760" y="4279392"/>
            <a:ext cx="64008" cy="502920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39" name="Text 37"/>
          <p:cNvSpPr/>
          <p:nvPr/>
        </p:nvSpPr>
        <p:spPr>
          <a:xfrm>
            <a:off x="502920" y="427939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ถ้าเวลา t=3: ทำงาน A(3)+B(2)+E(1) = 6 คน เกิน capacity=5 — cumulative จะบังคับให้ shift งานใหม่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365760" y="484632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วันที่ 3: Global Constraints — cumulative ภาพประกอบ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8412480" y="484632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22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1920240" cy="256032"/>
          </a:xfrm>
          <a:prstGeom prst="rect">
            <a:avLst/>
          </a:prstGeom>
          <a:solidFill>
            <a:srgbClr val="0D7680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ตัวอย่าง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ตัวอย่าง: Maintenance Scheduling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5074920" cy="3456432"/>
          </a:xfrm>
          <a:prstGeom prst="rect">
            <a:avLst/>
          </a:prstGeom>
          <a:solidFill>
            <a:srgbClr val="1E2D3D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TH"/>
          </a:p>
        </p:txBody>
      </p:sp>
      <p:sp>
        <p:nvSpPr>
          <p:cNvPr id="6" name="Shape 4"/>
          <p:cNvSpPr/>
          <p:nvPr/>
        </p:nvSpPr>
        <p:spPr>
          <a:xfrm>
            <a:off x="365760" y="1078992"/>
            <a:ext cx="54864" cy="3456432"/>
          </a:xfrm>
          <a:prstGeom prst="rect">
            <a:avLst/>
          </a:prstGeom>
          <a:solidFill>
            <a:srgbClr val="0D7680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7" name="Text 5"/>
          <p:cNvSpPr/>
          <p:nvPr/>
        </p:nvSpPr>
        <p:spPr>
          <a:xfrm>
            <a:off x="512064" y="1152144"/>
            <a:ext cx="4910328" cy="33832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7BC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include </a:t>
            </a:r>
            <a:r>
              <a:rPr lang="en-US" sz="1050" dirty="0">
                <a:solidFill>
                  <a:srgbClr val="F9E7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"cumulative.mzn";</a:t>
            </a:r>
            <a:r>
              <a:rPr lang="en-US" sz="10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BC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enum </a:t>
            </a:r>
            <a:r>
              <a:rPr lang="en-US" sz="1050" dirty="0">
                <a:solidFill>
                  <a:srgbClr val="F9E7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JOBS;  </a:t>
            </a:r>
            <a:r>
              <a:rPr lang="en-US" sz="1050" dirty="0">
                <a:solidFill>
                  <a:srgbClr val="7BC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array</a:t>
            </a:r>
            <a:r>
              <a:rPr lang="en-US" sz="105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[JOBS] of </a:t>
            </a:r>
            <a:r>
              <a:rPr lang="en-US" sz="1050" dirty="0">
                <a:solidFill>
                  <a:srgbClr val="7BC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05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dur, workers;</a:t>
            </a:r>
            <a:r>
              <a:rPr lang="en-US" sz="10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BC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05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total_workers, deadline;</a:t>
            </a:r>
            <a:r>
              <a:rPr lang="en-US" sz="10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BC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array</a:t>
            </a:r>
            <a:r>
              <a:rPr lang="en-US" sz="1050" dirty="0">
                <a:solidFill>
                  <a:srgbClr val="F9E7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[JOBS] of var 0..deadline: start;</a:t>
            </a:r>
            <a:r>
              <a:rPr lang="en-US" sz="10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9E7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 0..deadline: end_time;</a:t>
            </a:r>
            <a:r>
              <a:rPr lang="en-US" sz="10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180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% cumulative: ทุกเวลา ช่างรวม &lt;= total_workers</a:t>
            </a:r>
            <a:r>
              <a:rPr lang="en-US" sz="10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4A2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constraint </a:t>
            </a:r>
            <a:r>
              <a:rPr lang="en-US" sz="1050" dirty="0">
                <a:solidFill>
                  <a:srgbClr val="7EC8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cumulative</a:t>
            </a:r>
            <a:r>
              <a:rPr lang="en-US" sz="105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(start, dur, workers, total_workers);</a:t>
            </a:r>
            <a:r>
              <a:rPr lang="en-US" sz="10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180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% forall job: เสร็จก่อน end_time</a:t>
            </a:r>
            <a:r>
              <a:rPr lang="en-US" sz="10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4A2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constraint forall</a:t>
            </a:r>
            <a:r>
              <a:rPr lang="en-US" sz="105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(j in JOBS)(start[j]+dur[j] &lt;= end_time);</a:t>
            </a:r>
            <a:r>
              <a:rPr lang="en-US" sz="10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BC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solve minimize end_time;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577840" y="2084993"/>
            <a:ext cx="3200400" cy="640080"/>
          </a:xfrm>
          <a:prstGeom prst="rect">
            <a:avLst/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9" name="Shape 7"/>
          <p:cNvSpPr/>
          <p:nvPr/>
        </p:nvSpPr>
        <p:spPr>
          <a:xfrm>
            <a:off x="5577840" y="2084993"/>
            <a:ext cx="54864" cy="640080"/>
          </a:xfrm>
          <a:prstGeom prst="rect">
            <a:avLst/>
          </a:prstGeom>
          <a:solidFill>
            <a:srgbClr val="2E86AB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0" name="Text 8"/>
          <p:cNvSpPr/>
          <p:nvPr/>
        </p:nvSpPr>
        <p:spPr>
          <a:xfrm>
            <a:off x="5669280" y="2084993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◀  ตัวแปรสำคัญ: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เวลาเริ่มของแต่ละงาน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577840" y="3028063"/>
            <a:ext cx="3200400" cy="640080"/>
          </a:xfrm>
          <a:prstGeom prst="rect">
            <a:avLst/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2" name="Shape 10"/>
          <p:cNvSpPr/>
          <p:nvPr/>
        </p:nvSpPr>
        <p:spPr>
          <a:xfrm>
            <a:off x="5577840" y="3028063"/>
            <a:ext cx="54864" cy="640080"/>
          </a:xfrm>
          <a:prstGeom prst="rect">
            <a:avLst/>
          </a:prstGeom>
          <a:solidFill>
            <a:srgbClr val="0D7680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3" name="Text 11"/>
          <p:cNvSpPr/>
          <p:nvPr/>
        </p:nvSpPr>
        <p:spPr>
          <a:xfrm>
            <a:off x="5669280" y="3028063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◀  1 constraint ครอบทุกเวลา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ไม่ต้องวน loop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577840" y="4066194"/>
            <a:ext cx="3200400" cy="640080"/>
          </a:xfrm>
          <a:prstGeom prst="rect">
            <a:avLst/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5" name="Shape 13"/>
          <p:cNvSpPr/>
          <p:nvPr/>
        </p:nvSpPr>
        <p:spPr>
          <a:xfrm>
            <a:off x="5577840" y="4066194"/>
            <a:ext cx="54864" cy="640080"/>
          </a:xfrm>
          <a:prstGeom prst="rect">
            <a:avLst/>
          </a:prstGeom>
          <a:solidFill>
            <a:srgbClr val="1A6B47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6" name="Text 14"/>
          <p:cNvSpPr/>
          <p:nvPr/>
        </p:nvSpPr>
        <p:spPr>
          <a:xfrm>
            <a:off x="5669280" y="4066194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◀  minimize เวลาเสร็จรวม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(makespan)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65760" y="484632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วันที่ 3: Global Constraints — cumulative ตัวอย่าง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8412480" y="484632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22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EF3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F18F01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🔨  Workshop 3A — Maintenance Scheduling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100584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18F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เวลา: 60 นาที  |  ไฟล์: workshop3a_starter.mzn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417320"/>
            <a:ext cx="8412480" cy="10515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TH"/>
          </a:p>
        </p:txBody>
      </p:sp>
      <p:sp>
        <p:nvSpPr>
          <p:cNvPr id="6" name="Shape 4"/>
          <p:cNvSpPr/>
          <p:nvPr/>
        </p:nvSpPr>
        <p:spPr>
          <a:xfrm>
            <a:off x="365760" y="1417320"/>
            <a:ext cx="64008" cy="1051560"/>
          </a:xfrm>
          <a:prstGeom prst="rect">
            <a:avLst/>
          </a:prstGeom>
          <a:solidFill>
            <a:srgbClr val="1A3C5E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7" name="Text 5"/>
          <p:cNvSpPr/>
          <p:nvPr/>
        </p:nvSpPr>
        <p:spPr>
          <a:xfrm>
            <a:off x="530352" y="1463040"/>
            <a:ext cx="8138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โจทย์: งานซ่อมบำรุง 6 งาน ช่าง 5 คน ต้องเสร็จใน 12 ชม.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30352" y="1783080"/>
            <a:ext cx="81381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A(4ชม.,3คน), B(3ชม.,2คน), C(5ชม.,2คน), D(2ชม.,4คน), E(6ชม.,1คน), F(3ชม.,3คน)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งาน C ต้องทำหลังงาน A เสร็จ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65760" y="2542032"/>
            <a:ext cx="8412480" cy="37490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0" name="Shape 8"/>
          <p:cNvSpPr/>
          <p:nvPr/>
        </p:nvSpPr>
        <p:spPr>
          <a:xfrm>
            <a:off x="365760" y="2542032"/>
            <a:ext cx="420624" cy="374904"/>
          </a:xfrm>
          <a:prstGeom prst="rect">
            <a:avLst/>
          </a:prstGeom>
          <a:solidFill>
            <a:srgbClr val="F18F01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1" name="Text 9"/>
          <p:cNvSpPr/>
          <p:nvPr/>
        </p:nvSpPr>
        <p:spPr>
          <a:xfrm>
            <a:off x="365760" y="2542032"/>
            <a:ext cx="420624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14400" y="2542032"/>
            <a:ext cx="265176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เพิ่ม cumulative constraint: 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65760" y="2971800"/>
            <a:ext cx="8412480" cy="37490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5" name="Shape 13"/>
          <p:cNvSpPr/>
          <p:nvPr/>
        </p:nvSpPr>
        <p:spPr>
          <a:xfrm>
            <a:off x="365760" y="2971800"/>
            <a:ext cx="420624" cy="374904"/>
          </a:xfrm>
          <a:prstGeom prst="rect">
            <a:avLst/>
          </a:prstGeom>
          <a:solidFill>
            <a:srgbClr val="F18F01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6" name="Text 14"/>
          <p:cNvSpPr/>
          <p:nvPr/>
        </p:nvSpPr>
        <p:spPr>
          <a:xfrm>
            <a:off x="365760" y="2971800"/>
            <a:ext cx="420624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914400" y="2971800"/>
            <a:ext cx="265176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เพิ่ม precedence: A ก่อน C: 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365760" y="3401568"/>
            <a:ext cx="8412480" cy="37490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20" name="Shape 18"/>
          <p:cNvSpPr/>
          <p:nvPr/>
        </p:nvSpPr>
        <p:spPr>
          <a:xfrm>
            <a:off x="365760" y="3401568"/>
            <a:ext cx="420624" cy="374904"/>
          </a:xfrm>
          <a:prstGeom prst="rect">
            <a:avLst/>
          </a:prstGeom>
          <a:solidFill>
            <a:srgbClr val="F18F01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21" name="Text 19"/>
          <p:cNvSpPr/>
          <p:nvPr/>
        </p:nvSpPr>
        <p:spPr>
          <a:xfrm>
            <a:off x="365760" y="3401568"/>
            <a:ext cx="420624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914400" y="3401568"/>
            <a:ext cx="265176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ทุกงานเสร็จก่อน end_time: 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365760" y="3831336"/>
            <a:ext cx="8412480" cy="37490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25" name="Shape 23"/>
          <p:cNvSpPr/>
          <p:nvPr/>
        </p:nvSpPr>
        <p:spPr>
          <a:xfrm>
            <a:off x="365760" y="3831336"/>
            <a:ext cx="420624" cy="374904"/>
          </a:xfrm>
          <a:prstGeom prst="rect">
            <a:avLst/>
          </a:prstGeom>
          <a:solidFill>
            <a:srgbClr val="F18F01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26" name="Text 24"/>
          <p:cNvSpPr/>
          <p:nvPr/>
        </p:nvSpPr>
        <p:spPr>
          <a:xfrm>
            <a:off x="365760" y="3831336"/>
            <a:ext cx="420624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914400" y="3831336"/>
            <a:ext cx="265176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 minimize end_time: 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365760" y="4261104"/>
            <a:ext cx="8412480" cy="37490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30" name="Shape 28"/>
          <p:cNvSpPr/>
          <p:nvPr/>
        </p:nvSpPr>
        <p:spPr>
          <a:xfrm>
            <a:off x="365760" y="4261104"/>
            <a:ext cx="420624" cy="374904"/>
          </a:xfrm>
          <a:prstGeom prst="rect">
            <a:avLst/>
          </a:prstGeom>
          <a:solidFill>
            <a:srgbClr val="F18F01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31" name="Text 29"/>
          <p:cNvSpPr/>
          <p:nvPr/>
        </p:nvSpPr>
        <p:spPr>
          <a:xfrm>
            <a:off x="365760" y="4261104"/>
            <a:ext cx="420624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914400" y="4261104"/>
            <a:ext cx="265176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(ท้าทาย) เพิ่ม D หลัง B: 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365760" y="484632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วันที่ 3: Global Constraints — Workshop 3A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8412480" y="484632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22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3C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D7680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3" name="Shape 1"/>
          <p:cNvSpPr/>
          <p:nvPr/>
        </p:nvSpPr>
        <p:spPr>
          <a:xfrm>
            <a:off x="6858000" y="0"/>
            <a:ext cx="2286000" cy="5143500"/>
          </a:xfrm>
          <a:prstGeom prst="rect">
            <a:avLst/>
          </a:prstGeom>
          <a:solidFill>
            <a:srgbClr val="162F48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D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ช่วงบ่าย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1645920"/>
            <a:ext cx="64008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constraint</a:t>
            </a:r>
            <a:endParaRPr lang="en-US" sz="3600" dirty="0"/>
          </a:p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และ Job Shop Scheduling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457200" y="3474720"/>
            <a:ext cx="64008" cy="274320"/>
          </a:xfrm>
          <a:prstGeom prst="rect">
            <a:avLst/>
          </a:prstGeom>
          <a:solidFill>
            <a:srgbClr val="0D7680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7" name="Text 5"/>
          <p:cNvSpPr/>
          <p:nvPr/>
        </p:nvSpPr>
        <p:spPr>
          <a:xfrm>
            <a:off x="658368" y="34747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2B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table(x, allowed_tuples)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3858768"/>
            <a:ext cx="64008" cy="274320"/>
          </a:xfrm>
          <a:prstGeom prst="rect">
            <a:avLst/>
          </a:prstGeom>
          <a:solidFill>
            <a:srgbClr val="0D7680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9" name="Text 7"/>
          <p:cNvSpPr/>
          <p:nvPr/>
        </p:nvSpPr>
        <p:spPr>
          <a:xfrm>
            <a:off x="658368" y="385876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2B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disjunctive + precedence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4242816"/>
            <a:ext cx="64008" cy="274320"/>
          </a:xfrm>
          <a:prstGeom prst="rect">
            <a:avLst/>
          </a:prstGeom>
          <a:solidFill>
            <a:srgbClr val="0D7680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1" name="Text 9"/>
          <p:cNvSpPr/>
          <p:nvPr/>
        </p:nvSpPr>
        <p:spPr>
          <a:xfrm>
            <a:off x="658368" y="4242816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2B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minimize makespan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1920240" cy="256032"/>
          </a:xfrm>
          <a:prstGeom prst="rect">
            <a:avLst/>
          </a:prstGeom>
          <a:solidFill>
            <a:srgbClr val="0D7680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ช่วงบ่าย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— เลือกจากชุดค่าที่กำหนดไว้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8412480" cy="530352"/>
          </a:xfrm>
          <a:prstGeom prst="rect">
            <a:avLst/>
          </a:prstGeom>
          <a:solidFill>
            <a:srgbClr val="1A3C5E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6" name="Text 4"/>
          <p:cNvSpPr/>
          <p:nvPr/>
        </p:nvSpPr>
        <p:spPr>
          <a:xfrm>
            <a:off x="502920" y="1078992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table(x, allowed_tuples)  →  x ต้องเป็น row ใด row หนึ่งในตาราง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65760" y="1737360"/>
            <a:ext cx="8412480" cy="1783080"/>
          </a:xfrm>
          <a:prstGeom prst="rect">
            <a:avLst/>
          </a:prstGeom>
          <a:solidFill>
            <a:srgbClr val="1E2D3D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TH"/>
          </a:p>
        </p:txBody>
      </p:sp>
      <p:sp>
        <p:nvSpPr>
          <p:cNvPr id="8" name="Shape 6"/>
          <p:cNvSpPr/>
          <p:nvPr/>
        </p:nvSpPr>
        <p:spPr>
          <a:xfrm>
            <a:off x="365760" y="1737360"/>
            <a:ext cx="54864" cy="1783080"/>
          </a:xfrm>
          <a:prstGeom prst="rect">
            <a:avLst/>
          </a:prstGeom>
          <a:solidFill>
            <a:srgbClr val="0D7680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9" name="Text 7"/>
          <p:cNvSpPr/>
          <p:nvPr/>
        </p:nvSpPr>
        <p:spPr>
          <a:xfrm>
            <a:off x="512064" y="1810512"/>
            <a:ext cx="8247888" cy="17099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7BC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include </a:t>
            </a:r>
            <a:r>
              <a:rPr lang="en-US" sz="1050" dirty="0">
                <a:solidFill>
                  <a:srgbClr val="F9E7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"table.mzn";</a:t>
            </a:r>
            <a:r>
              <a:rPr lang="en-US" sz="10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180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% ตาราง: [material_id, hardness, weight, cost]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BC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array</a:t>
            </a:r>
            <a:r>
              <a:rPr lang="en-US" sz="105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[1..5,1..4] of </a:t>
            </a:r>
            <a:r>
              <a:rPr lang="en-US" sz="1050" dirty="0">
                <a:solidFill>
                  <a:srgbClr val="7BC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05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mat_table = [|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9E7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1, 90, 800, 50  |  % Steel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9E7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2, 60, 270, 80  |  % Aluminum  ...  |];</a:t>
            </a:r>
            <a:r>
              <a:rPr lang="en-US" sz="10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BC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 int</a:t>
            </a:r>
            <a:r>
              <a:rPr lang="en-US" sz="105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mat_id; </a:t>
            </a:r>
            <a:r>
              <a:rPr lang="en-US" sz="1050" dirty="0">
                <a:solidFill>
                  <a:srgbClr val="7BC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 int</a:t>
            </a:r>
            <a:r>
              <a:rPr lang="en-US" sz="105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hardness; ...</a:t>
            </a:r>
            <a:endParaRPr lang="th-TH" sz="1050" dirty="0">
              <a:solidFill>
                <a:srgbClr val="000000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4A2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constraint </a:t>
            </a:r>
            <a:r>
              <a:rPr lang="en-US" sz="1050" dirty="0">
                <a:solidFill>
                  <a:srgbClr val="7EC8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table</a:t>
            </a:r>
            <a:r>
              <a:rPr lang="en-US" sz="105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([mat_id, hardness, weight, cost], mat_table);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65760" y="3657600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ใช้กับปัญหาอะไร: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3986784"/>
            <a:ext cx="8412480" cy="246888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2" name="Shape 10"/>
          <p:cNvSpPr/>
          <p:nvPr/>
        </p:nvSpPr>
        <p:spPr>
          <a:xfrm>
            <a:off x="365760" y="3986784"/>
            <a:ext cx="54864" cy="246888"/>
          </a:xfrm>
          <a:prstGeom prst="rect">
            <a:avLst/>
          </a:prstGeom>
          <a:solidFill>
            <a:srgbClr val="0D7680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3" name="Text 11"/>
          <p:cNvSpPr/>
          <p:nvPr/>
        </p:nvSpPr>
        <p:spPr>
          <a:xfrm>
            <a:off x="502920" y="3986784"/>
            <a:ext cx="29260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ตาราง spec/ราคาสินค้า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3520440" y="3986784"/>
            <a:ext cx="51663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เลือกวัสดุให้ตรงสเปค, ราคาต่ำสุด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4261104"/>
            <a:ext cx="8412480" cy="24688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6" name="Shape 14"/>
          <p:cNvSpPr/>
          <p:nvPr/>
        </p:nvSpPr>
        <p:spPr>
          <a:xfrm>
            <a:off x="365760" y="4261104"/>
            <a:ext cx="54864" cy="246888"/>
          </a:xfrm>
          <a:prstGeom prst="rect">
            <a:avLst/>
          </a:prstGeom>
          <a:solidFill>
            <a:srgbClr val="0D7680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7" name="Text 15"/>
          <p:cNvSpPr/>
          <p:nvPr/>
        </p:nvSpPr>
        <p:spPr>
          <a:xfrm>
            <a:off x="502920" y="4261104"/>
            <a:ext cx="29260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ตารางกะพนักงาน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3520440" y="4261104"/>
            <a:ext cx="51663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ชุดกะที่อนุญาต เช่น (เช้า,บ่าย) หรือ (บ่าย,ดึก) ห้าม (ดึก,เช้า)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4535424"/>
            <a:ext cx="8412480" cy="246888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20" name="Shape 18"/>
          <p:cNvSpPr/>
          <p:nvPr/>
        </p:nvSpPr>
        <p:spPr>
          <a:xfrm>
            <a:off x="365760" y="4535424"/>
            <a:ext cx="54864" cy="246888"/>
          </a:xfrm>
          <a:prstGeom prst="rect">
            <a:avLst/>
          </a:prstGeom>
          <a:solidFill>
            <a:srgbClr val="0D7680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21" name="Text 19"/>
          <p:cNvSpPr/>
          <p:nvPr/>
        </p:nvSpPr>
        <p:spPr>
          <a:xfrm>
            <a:off x="502920" y="4535424"/>
            <a:ext cx="29260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 of Materials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3520440" y="4535424"/>
            <a:ext cx="51663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ชุดส่วนผสมที่เป็นไปได้สำหรับแต่ละผลิตภัณฑ์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65760" y="484632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วันที่ 3: Global Constraints — table constraint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8412480" y="484632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22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1920240" cy="256032"/>
          </a:xfrm>
          <a:prstGeom prst="rect">
            <a:avLst/>
          </a:prstGeom>
          <a:solidFill>
            <a:srgbClr val="0D7680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ช่วงบ่าย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disjunctive — ห้ามทำพร้อมกัน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8412480" cy="530352"/>
          </a:xfrm>
          <a:prstGeom prst="rect">
            <a:avLst/>
          </a:prstGeom>
          <a:solidFill>
            <a:srgbClr val="1A3C5E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6" name="Text 4"/>
          <p:cNvSpPr/>
          <p:nvPr/>
        </p:nvSpPr>
        <p:spPr>
          <a:xfrm>
            <a:off x="502920" y="1078992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disjunctive(start[], duration[])  →  ทุก task ต้องไม่ overlap กัน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65760" y="1737360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เขียนเอง vs. disjunctive: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2084832"/>
            <a:ext cx="4023360" cy="1371600"/>
          </a:xfrm>
          <a:prstGeom prst="rect">
            <a:avLst/>
          </a:prstGeom>
          <a:solidFill>
            <a:srgbClr val="1E2D3D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TH"/>
          </a:p>
        </p:txBody>
      </p:sp>
      <p:sp>
        <p:nvSpPr>
          <p:cNvPr id="9" name="Shape 7"/>
          <p:cNvSpPr/>
          <p:nvPr/>
        </p:nvSpPr>
        <p:spPr>
          <a:xfrm>
            <a:off x="365760" y="2084832"/>
            <a:ext cx="54864" cy="1371600"/>
          </a:xfrm>
          <a:prstGeom prst="rect">
            <a:avLst/>
          </a:prstGeom>
          <a:solidFill>
            <a:srgbClr val="718096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0" name="Text 8"/>
          <p:cNvSpPr/>
          <p:nvPr/>
        </p:nvSpPr>
        <p:spPr>
          <a:xfrm>
            <a:off x="512064" y="2157984"/>
            <a:ext cx="3858768" cy="12984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7180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% ❌ เขียนเอง (O(n²) constraints)</a:t>
            </a:r>
            <a:r>
              <a:rPr lang="en-US" sz="10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4A2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constraint forall</a:t>
            </a:r>
            <a:r>
              <a:rPr lang="en-US" sz="105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(i,j in JOBS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where i &lt; j)(s[i]+d[i]&lt;=s[j]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\/ s[j]+d[j]&lt;=s[i]);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572000" y="2084832"/>
            <a:ext cx="4206240" cy="1371600"/>
          </a:xfrm>
          <a:prstGeom prst="rect">
            <a:avLst/>
          </a:prstGeom>
          <a:solidFill>
            <a:srgbClr val="1E2D3D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TH"/>
          </a:p>
        </p:txBody>
      </p:sp>
      <p:sp>
        <p:nvSpPr>
          <p:cNvPr id="12" name="Shape 10"/>
          <p:cNvSpPr/>
          <p:nvPr/>
        </p:nvSpPr>
        <p:spPr>
          <a:xfrm>
            <a:off x="4572000" y="2084832"/>
            <a:ext cx="54864" cy="1371600"/>
          </a:xfrm>
          <a:prstGeom prst="rect">
            <a:avLst/>
          </a:prstGeom>
          <a:solidFill>
            <a:srgbClr val="1A6B47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3" name="Text 11"/>
          <p:cNvSpPr/>
          <p:nvPr/>
        </p:nvSpPr>
        <p:spPr>
          <a:xfrm>
            <a:off x="4718304" y="2157984"/>
            <a:ext cx="4041648" cy="12984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7180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% ✅ disjunctive (1 constraint)</a:t>
            </a:r>
            <a:r>
              <a:rPr lang="en-US" sz="10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BC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include </a:t>
            </a:r>
            <a:r>
              <a:rPr lang="en-US" sz="1050" dirty="0">
                <a:solidFill>
                  <a:srgbClr val="F9E7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"disjunctive.mzn";</a:t>
            </a:r>
            <a:r>
              <a:rPr lang="en-US" sz="10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4A2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constraint </a:t>
            </a:r>
            <a:r>
              <a:rPr lang="en-US" sz="1050" dirty="0">
                <a:solidFill>
                  <a:srgbClr val="7EC8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disjunctive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(start, duration);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65760" y="3584448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ใน Job Shop: disjunctive ต่อเครื่องจักร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" y="3913632"/>
            <a:ext cx="8412480" cy="868680"/>
          </a:xfrm>
          <a:prstGeom prst="rect">
            <a:avLst/>
          </a:prstGeom>
          <a:solidFill>
            <a:srgbClr val="1E2D3D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TH"/>
          </a:p>
        </p:txBody>
      </p:sp>
      <p:sp>
        <p:nvSpPr>
          <p:cNvPr id="16" name="Shape 14"/>
          <p:cNvSpPr/>
          <p:nvPr/>
        </p:nvSpPr>
        <p:spPr>
          <a:xfrm>
            <a:off x="365760" y="3913632"/>
            <a:ext cx="54864" cy="868680"/>
          </a:xfrm>
          <a:prstGeom prst="rect">
            <a:avLst/>
          </a:prstGeom>
          <a:solidFill>
            <a:srgbClr val="0D7680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7" name="Text 15"/>
          <p:cNvSpPr/>
          <p:nvPr/>
        </p:nvSpPr>
        <p:spPr>
          <a:xfrm>
            <a:off x="512064" y="3986784"/>
            <a:ext cx="8247888" cy="7955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7180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% ทุก task ที่ใช้เครื่องเดียวกันต้องไม่ overlap</a:t>
            </a:r>
            <a:r>
              <a:rPr lang="en-US" sz="10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4A2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constraint forall</a:t>
            </a:r>
            <a:r>
              <a:rPr lang="en-US" sz="105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(m in MACHINES)(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050" dirty="0">
                <a:solidFill>
                  <a:srgbClr val="7EC8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disjunctive</a:t>
            </a:r>
            <a:r>
              <a:rPr lang="en-US" sz="105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([s[j,m] | j in JOBS], [d[j,m] | j in JOBS]));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65760" y="484632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วันที่ 3: Global Constraints — disjunctive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8412480" y="484632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22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1920240" cy="256032"/>
          </a:xfrm>
          <a:prstGeom prst="rect">
            <a:avLst/>
          </a:prstGeom>
          <a:solidFill>
            <a:srgbClr val="0D7680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ช่วงบ่าย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Shop Scheduling — แนวคิด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8412480" cy="594360"/>
          </a:xfrm>
          <a:prstGeom prst="rect">
            <a:avLst/>
          </a:prstGeom>
          <a:solidFill>
            <a:srgbClr val="1A3C5E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6" name="Text 4"/>
          <p:cNvSpPr/>
          <p:nvPr/>
        </p:nvSpPr>
        <p:spPr>
          <a:xfrm>
            <a:off x="502920" y="107899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= ออร์เดอร์ผลิต  |  Task = ขั้นตอนในแต่ละสถานี  |  Makespan = เวลาที่ทุก job เสร็จ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097280" y="1810512"/>
            <a:ext cx="7315200" cy="36576"/>
          </a:xfrm>
          <a:prstGeom prst="rect">
            <a:avLst/>
          </a:prstGeom>
          <a:solidFill>
            <a:srgbClr val="CBD5E0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8" name="Shape 6"/>
          <p:cNvSpPr/>
          <p:nvPr/>
        </p:nvSpPr>
        <p:spPr>
          <a:xfrm>
            <a:off x="1097280" y="1773936"/>
            <a:ext cx="27432" cy="109728"/>
          </a:xfrm>
          <a:prstGeom prst="rect">
            <a:avLst/>
          </a:prstGeom>
          <a:solidFill>
            <a:srgbClr val="CBD5E0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9" name="Text 7"/>
          <p:cNvSpPr/>
          <p:nvPr/>
        </p:nvSpPr>
        <p:spPr>
          <a:xfrm>
            <a:off x="932688" y="1883664"/>
            <a:ext cx="32918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2142309" y="1773936"/>
            <a:ext cx="27432" cy="109728"/>
          </a:xfrm>
          <a:prstGeom prst="rect">
            <a:avLst/>
          </a:prstGeom>
          <a:solidFill>
            <a:srgbClr val="CBD5E0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1" name="Text 9"/>
          <p:cNvSpPr/>
          <p:nvPr/>
        </p:nvSpPr>
        <p:spPr>
          <a:xfrm>
            <a:off x="1977717" y="1883664"/>
            <a:ext cx="32918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3187337" y="1773936"/>
            <a:ext cx="27432" cy="109728"/>
          </a:xfrm>
          <a:prstGeom prst="rect">
            <a:avLst/>
          </a:prstGeom>
          <a:solidFill>
            <a:srgbClr val="CBD5E0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3" name="Text 11"/>
          <p:cNvSpPr/>
          <p:nvPr/>
        </p:nvSpPr>
        <p:spPr>
          <a:xfrm>
            <a:off x="3022745" y="1883664"/>
            <a:ext cx="32918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4232366" y="1773936"/>
            <a:ext cx="27432" cy="109728"/>
          </a:xfrm>
          <a:prstGeom prst="rect">
            <a:avLst/>
          </a:prstGeom>
          <a:solidFill>
            <a:srgbClr val="CBD5E0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5" name="Text 13"/>
          <p:cNvSpPr/>
          <p:nvPr/>
        </p:nvSpPr>
        <p:spPr>
          <a:xfrm>
            <a:off x="4067774" y="1883664"/>
            <a:ext cx="32918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5277394" y="1773936"/>
            <a:ext cx="27432" cy="109728"/>
          </a:xfrm>
          <a:prstGeom prst="rect">
            <a:avLst/>
          </a:prstGeom>
          <a:solidFill>
            <a:srgbClr val="CBD5E0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7" name="Text 15"/>
          <p:cNvSpPr/>
          <p:nvPr/>
        </p:nvSpPr>
        <p:spPr>
          <a:xfrm>
            <a:off x="5112802" y="1883664"/>
            <a:ext cx="32918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6322423" y="1773936"/>
            <a:ext cx="27432" cy="109728"/>
          </a:xfrm>
          <a:prstGeom prst="rect">
            <a:avLst/>
          </a:prstGeom>
          <a:solidFill>
            <a:srgbClr val="CBD5E0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9" name="Text 17"/>
          <p:cNvSpPr/>
          <p:nvPr/>
        </p:nvSpPr>
        <p:spPr>
          <a:xfrm>
            <a:off x="6157831" y="1883664"/>
            <a:ext cx="32918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7367451" y="1773936"/>
            <a:ext cx="27432" cy="109728"/>
          </a:xfrm>
          <a:prstGeom prst="rect">
            <a:avLst/>
          </a:prstGeom>
          <a:solidFill>
            <a:srgbClr val="CBD5E0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21" name="Text 19"/>
          <p:cNvSpPr/>
          <p:nvPr/>
        </p:nvSpPr>
        <p:spPr>
          <a:xfrm>
            <a:off x="7202859" y="1883664"/>
            <a:ext cx="32918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8412480" y="1773936"/>
            <a:ext cx="27432" cy="109728"/>
          </a:xfrm>
          <a:prstGeom prst="rect">
            <a:avLst/>
          </a:prstGeom>
          <a:solidFill>
            <a:srgbClr val="CBD5E0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23" name="Text 21"/>
          <p:cNvSpPr/>
          <p:nvPr/>
        </p:nvSpPr>
        <p:spPr>
          <a:xfrm>
            <a:off x="8247888" y="1883664"/>
            <a:ext cx="32918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365760" y="2121408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65760" y="2670048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65760" y="3218688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1097280" y="2121408"/>
            <a:ext cx="2090057" cy="420624"/>
          </a:xfrm>
          <a:prstGeom prst="rect">
            <a:avLst/>
          </a:prstGeom>
          <a:solidFill>
            <a:srgbClr val="2196F3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28" name="Text 26"/>
          <p:cNvSpPr/>
          <p:nvPr/>
        </p:nvSpPr>
        <p:spPr>
          <a:xfrm>
            <a:off x="1124712" y="2121408"/>
            <a:ext cx="2035193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2560320" y="2121408"/>
            <a:ext cx="3135086" cy="420624"/>
          </a:xfrm>
          <a:prstGeom prst="rect">
            <a:avLst/>
          </a:prstGeom>
          <a:solidFill>
            <a:srgbClr val="4CAF50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30" name="Text 28"/>
          <p:cNvSpPr/>
          <p:nvPr/>
        </p:nvSpPr>
        <p:spPr>
          <a:xfrm>
            <a:off x="2587752" y="2121408"/>
            <a:ext cx="308022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097280" y="2121408"/>
            <a:ext cx="2508069" cy="420624"/>
          </a:xfrm>
          <a:prstGeom prst="rect">
            <a:avLst/>
          </a:prstGeom>
          <a:solidFill>
            <a:srgbClr val="FF9800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32" name="Text 30"/>
          <p:cNvSpPr/>
          <p:nvPr/>
        </p:nvSpPr>
        <p:spPr>
          <a:xfrm>
            <a:off x="1124712" y="2121408"/>
            <a:ext cx="2453205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2142309" y="2121408"/>
            <a:ext cx="1881051" cy="420624"/>
          </a:xfrm>
          <a:prstGeom prst="rect">
            <a:avLst/>
          </a:prstGeom>
          <a:solidFill>
            <a:srgbClr val="9C27B0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34" name="Text 32"/>
          <p:cNvSpPr/>
          <p:nvPr/>
        </p:nvSpPr>
        <p:spPr>
          <a:xfrm>
            <a:off x="2169741" y="2121408"/>
            <a:ext cx="1826187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3187337" y="2670048"/>
            <a:ext cx="1672046" cy="420624"/>
          </a:xfrm>
          <a:prstGeom prst="rect">
            <a:avLst/>
          </a:prstGeom>
          <a:solidFill>
            <a:srgbClr val="2196F3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36" name="Text 34"/>
          <p:cNvSpPr/>
          <p:nvPr/>
        </p:nvSpPr>
        <p:spPr>
          <a:xfrm>
            <a:off x="3214769" y="2670048"/>
            <a:ext cx="161718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1097280" y="2670048"/>
            <a:ext cx="1463040" cy="420624"/>
          </a:xfrm>
          <a:prstGeom prst="rect">
            <a:avLst/>
          </a:prstGeom>
          <a:solidFill>
            <a:srgbClr val="4CAF50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38" name="Text 36"/>
          <p:cNvSpPr/>
          <p:nvPr/>
        </p:nvSpPr>
        <p:spPr>
          <a:xfrm>
            <a:off x="1124712" y="2670048"/>
            <a:ext cx="140817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6322423" y="2670048"/>
            <a:ext cx="1254034" cy="420624"/>
          </a:xfrm>
          <a:prstGeom prst="rect">
            <a:avLst/>
          </a:prstGeom>
          <a:solidFill>
            <a:srgbClr val="FF9800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40" name="Text 38"/>
          <p:cNvSpPr/>
          <p:nvPr/>
        </p:nvSpPr>
        <p:spPr>
          <a:xfrm>
            <a:off x="6349855" y="2670048"/>
            <a:ext cx="119917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4023360" y="2670048"/>
            <a:ext cx="2299063" cy="420624"/>
          </a:xfrm>
          <a:prstGeom prst="rect">
            <a:avLst/>
          </a:prstGeom>
          <a:solidFill>
            <a:srgbClr val="9C27B0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42" name="Text 40"/>
          <p:cNvSpPr/>
          <p:nvPr/>
        </p:nvSpPr>
        <p:spPr>
          <a:xfrm>
            <a:off x="4050792" y="2670048"/>
            <a:ext cx="2244199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4859383" y="3218688"/>
            <a:ext cx="2508069" cy="420624"/>
          </a:xfrm>
          <a:prstGeom prst="rect">
            <a:avLst/>
          </a:prstGeom>
          <a:solidFill>
            <a:srgbClr val="2196F3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44" name="Text 42"/>
          <p:cNvSpPr/>
          <p:nvPr/>
        </p:nvSpPr>
        <p:spPr>
          <a:xfrm>
            <a:off x="4886815" y="3218688"/>
            <a:ext cx="2453205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5695406" y="3218688"/>
            <a:ext cx="1045029" cy="420624"/>
          </a:xfrm>
          <a:prstGeom prst="rect">
            <a:avLst/>
          </a:prstGeom>
          <a:solidFill>
            <a:srgbClr val="4CAF50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46" name="Text 44"/>
          <p:cNvSpPr/>
          <p:nvPr/>
        </p:nvSpPr>
        <p:spPr>
          <a:xfrm>
            <a:off x="5722838" y="3218688"/>
            <a:ext cx="990165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3605349" y="3218688"/>
            <a:ext cx="2090057" cy="420624"/>
          </a:xfrm>
          <a:prstGeom prst="rect">
            <a:avLst/>
          </a:prstGeom>
          <a:solidFill>
            <a:srgbClr val="FF9800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48" name="Text 46"/>
          <p:cNvSpPr/>
          <p:nvPr/>
        </p:nvSpPr>
        <p:spPr>
          <a:xfrm>
            <a:off x="3632781" y="3218688"/>
            <a:ext cx="2035193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6322423" y="3218688"/>
            <a:ext cx="1672046" cy="420624"/>
          </a:xfrm>
          <a:prstGeom prst="rect">
            <a:avLst/>
          </a:prstGeom>
          <a:solidFill>
            <a:srgbClr val="9C27B0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50" name="Text 48"/>
          <p:cNvSpPr/>
          <p:nvPr/>
        </p:nvSpPr>
        <p:spPr>
          <a:xfrm>
            <a:off x="6349855" y="3218688"/>
            <a:ext cx="161718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365760" y="4315968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กฎ: แต่ละ Job ผ่าน S1→S2→S3 ตามลำดับ  |  แต่ละสถานีทำ Job ได้ทีละ 1  |  Minimize makespan</a:t>
            </a:r>
            <a:endParaRPr lang="en-US" sz="1150" dirty="0"/>
          </a:p>
        </p:txBody>
      </p:sp>
      <p:sp>
        <p:nvSpPr>
          <p:cNvPr id="52" name="Text 50"/>
          <p:cNvSpPr/>
          <p:nvPr/>
        </p:nvSpPr>
        <p:spPr>
          <a:xfrm>
            <a:off x="365760" y="484632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วันที่ 3: Global Constraints — Job Shop แนวคิด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8412480" y="484632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22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1920240" cy="256032"/>
          </a:xfrm>
          <a:prstGeom prst="rect">
            <a:avLst/>
          </a:prstGeom>
          <a:solidFill>
            <a:srgbClr val="0D7680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ช่วงบ่าย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Shop — โมเดล MiniZinc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5029200" cy="3611880"/>
          </a:xfrm>
          <a:prstGeom prst="rect">
            <a:avLst/>
          </a:prstGeom>
          <a:solidFill>
            <a:srgbClr val="1E2D3D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TH"/>
          </a:p>
        </p:txBody>
      </p:sp>
      <p:sp>
        <p:nvSpPr>
          <p:cNvPr id="6" name="Shape 4"/>
          <p:cNvSpPr/>
          <p:nvPr/>
        </p:nvSpPr>
        <p:spPr>
          <a:xfrm>
            <a:off x="365760" y="1078992"/>
            <a:ext cx="54864" cy="3611880"/>
          </a:xfrm>
          <a:prstGeom prst="rect">
            <a:avLst/>
          </a:prstGeom>
          <a:solidFill>
            <a:srgbClr val="0D7680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7" name="Text 5"/>
          <p:cNvSpPr/>
          <p:nvPr/>
        </p:nvSpPr>
        <p:spPr>
          <a:xfrm>
            <a:off x="512064" y="1152144"/>
            <a:ext cx="4864608" cy="35387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7BC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include </a:t>
            </a:r>
            <a:r>
              <a:rPr lang="en-US" sz="1050" dirty="0">
                <a:solidFill>
                  <a:srgbClr val="F9E7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"disjunctive.mzn";</a:t>
            </a:r>
            <a:r>
              <a:rPr lang="en-US" sz="10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BC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enum </a:t>
            </a:r>
            <a:r>
              <a:rPr lang="en-US" sz="1050" dirty="0">
                <a:solidFill>
                  <a:srgbClr val="F9E7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JOB; enum TASK;</a:t>
            </a:r>
            <a:r>
              <a:rPr lang="en-US" sz="10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BC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array</a:t>
            </a:r>
            <a:r>
              <a:rPr lang="en-US" sz="105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[JOB,TASK] of </a:t>
            </a:r>
            <a:r>
              <a:rPr lang="en-US" sz="1050" dirty="0">
                <a:solidFill>
                  <a:srgbClr val="7BC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05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d;  TASK: t_last = max(TASK);</a:t>
            </a:r>
            <a:r>
              <a:rPr lang="en-US" sz="10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BC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05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total = sum(j,t)(d[j,t]);</a:t>
            </a:r>
            <a:r>
              <a:rPr lang="en-US" sz="10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BC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array</a:t>
            </a:r>
            <a:r>
              <a:rPr lang="en-US" sz="1050" dirty="0">
                <a:solidFill>
                  <a:srgbClr val="F9E7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[JOB,TASK] of var 0..total: s;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9E7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 0..total: makespan;</a:t>
            </a:r>
            <a:r>
              <a:rPr lang="en-US" sz="10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180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% Precedence: S1→S2→S3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4A2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constraint forall</a:t>
            </a:r>
            <a:r>
              <a:rPr lang="en-US" sz="105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(j in JOB)(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4A2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forall</a:t>
            </a:r>
            <a:r>
              <a:rPr lang="en-US" sz="105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(t in TASK where t&lt;</a:t>
            </a:r>
            <a:r>
              <a:rPr lang="en-US" sz="1050" dirty="0" err="1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t_last</a:t>
            </a:r>
            <a:r>
              <a:rPr lang="en-US" sz="105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(s[j,t]+d[j,t]&lt;=s[j,</a:t>
            </a:r>
            <a:r>
              <a:rPr lang="en-US" sz="1050" dirty="0">
                <a:solidFill>
                  <a:srgbClr val="7EC8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enum_next</a:t>
            </a:r>
            <a:r>
              <a:rPr lang="en-US" sz="105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(TASK,t)]));</a:t>
            </a:r>
            <a:r>
              <a:rPr lang="en-US" sz="10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180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% No-overlap: ทุกสถานีทีละ 1 job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4A2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constraint forall</a:t>
            </a:r>
            <a:r>
              <a:rPr lang="en-US" sz="105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(t in TASK)(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EC8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disjunctive</a:t>
            </a:r>
            <a:r>
              <a:rPr lang="en-US" sz="105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([s[j,t]|j in JOB],[d[j,t]|j in JOB]));</a:t>
            </a:r>
            <a:endParaRPr lang="th-TH" sz="1050" dirty="0">
              <a:solidFill>
                <a:srgbClr val="000000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BC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solve minimize makespan;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577840" y="2391852"/>
            <a:ext cx="3200400" cy="640080"/>
          </a:xfrm>
          <a:prstGeom prst="rect">
            <a:avLst/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9" name="Shape 7"/>
          <p:cNvSpPr/>
          <p:nvPr/>
        </p:nvSpPr>
        <p:spPr>
          <a:xfrm>
            <a:off x="5577840" y="2391852"/>
            <a:ext cx="54864" cy="640080"/>
          </a:xfrm>
          <a:prstGeom prst="rect">
            <a:avLst/>
          </a:prstGeom>
          <a:solidFill>
            <a:srgbClr val="2E86AB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0" name="Text 8"/>
          <p:cNvSpPr/>
          <p:nvPr/>
        </p:nvSpPr>
        <p:spPr>
          <a:xfrm>
            <a:off x="5669280" y="2391852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◀  เวลาเริ่มของทุก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ของทุก job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577840" y="3056646"/>
            <a:ext cx="3200400" cy="640080"/>
          </a:xfrm>
          <a:prstGeom prst="rect">
            <a:avLst/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2" name="Shape 10"/>
          <p:cNvSpPr/>
          <p:nvPr/>
        </p:nvSpPr>
        <p:spPr>
          <a:xfrm>
            <a:off x="5577840" y="3056646"/>
            <a:ext cx="54864" cy="640080"/>
          </a:xfrm>
          <a:prstGeom prst="rect">
            <a:avLst/>
          </a:prstGeom>
          <a:solidFill>
            <a:srgbClr val="E67E22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3" name="Text 11"/>
          <p:cNvSpPr/>
          <p:nvPr/>
        </p:nvSpPr>
        <p:spPr>
          <a:xfrm>
            <a:off x="5669280" y="3056646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◀  Precedence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S→S→S ตามลำดับ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577840" y="3977640"/>
            <a:ext cx="3200400" cy="640080"/>
          </a:xfrm>
          <a:prstGeom prst="rect">
            <a:avLst/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5" name="Shape 13"/>
          <p:cNvSpPr/>
          <p:nvPr/>
        </p:nvSpPr>
        <p:spPr>
          <a:xfrm>
            <a:off x="5577840" y="3977640"/>
            <a:ext cx="54864" cy="640080"/>
          </a:xfrm>
          <a:prstGeom prst="rect">
            <a:avLst/>
          </a:prstGeom>
          <a:solidFill>
            <a:srgbClr val="0D7680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6" name="Text 14"/>
          <p:cNvSpPr/>
          <p:nvPr/>
        </p:nvSpPr>
        <p:spPr>
          <a:xfrm>
            <a:off x="5669280" y="397764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◀  disjunctive ต่อ station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1 constraint ต่อสถานี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65760" y="484632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วันที่ 3: Global Constraints — Job Shop โมเดล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8412480" y="484632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22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1920240" cy="256032"/>
          </a:xfrm>
          <a:prstGeom prst="rect">
            <a:avLst/>
          </a:prstGeom>
          <a:solidFill>
            <a:srgbClr val="0D7680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ตัวอย่าง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Shop — Data File และผลลัพธ์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365760" y="1051560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jobshop_data.dzn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371600"/>
            <a:ext cx="4114800" cy="2240280"/>
          </a:xfrm>
          <a:prstGeom prst="rect">
            <a:avLst/>
          </a:prstGeom>
          <a:solidFill>
            <a:srgbClr val="1E2D3D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TH"/>
          </a:p>
        </p:txBody>
      </p:sp>
      <p:sp>
        <p:nvSpPr>
          <p:cNvPr id="7" name="Shape 5"/>
          <p:cNvSpPr/>
          <p:nvPr/>
        </p:nvSpPr>
        <p:spPr>
          <a:xfrm>
            <a:off x="365760" y="1371600"/>
            <a:ext cx="54864" cy="2240280"/>
          </a:xfrm>
          <a:prstGeom prst="rect">
            <a:avLst/>
          </a:prstGeom>
          <a:solidFill>
            <a:srgbClr val="0D7680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8" name="Text 6"/>
          <p:cNvSpPr/>
          <p:nvPr/>
        </p:nvSpPr>
        <p:spPr>
          <a:xfrm>
            <a:off x="512064" y="1444752"/>
            <a:ext cx="3950208" cy="21671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F9E7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JOB  = J(1..3);</a:t>
            </a:r>
            <a:r>
              <a:rPr lang="en-US" sz="10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9E7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TASK = T(1..3);</a:t>
            </a:r>
            <a:r>
              <a:rPr lang="en-US" sz="10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180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% d[job, task] = เวลา (นาที)</a:t>
            </a:r>
            <a:r>
              <a:rPr lang="en-US" sz="10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 = [| 10,  8, 12    % Job 1</a:t>
            </a:r>
            <a:r>
              <a:rPr lang="en-US" sz="10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|  7, 15,  5    % Job 2</a:t>
            </a:r>
            <a:r>
              <a:rPr lang="en-US" sz="10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| 12,  6, 10 |];% Job 3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663440" y="1051560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ผลลัพธ์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663440" y="1371600"/>
            <a:ext cx="4114800" cy="2240280"/>
          </a:xfrm>
          <a:prstGeom prst="rect">
            <a:avLst/>
          </a:prstGeom>
          <a:solidFill>
            <a:srgbClr val="1E2D3D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TH"/>
          </a:p>
        </p:txBody>
      </p:sp>
      <p:sp>
        <p:nvSpPr>
          <p:cNvPr id="11" name="Shape 9"/>
          <p:cNvSpPr/>
          <p:nvPr/>
        </p:nvSpPr>
        <p:spPr>
          <a:xfrm>
            <a:off x="4663440" y="1371600"/>
            <a:ext cx="54864" cy="2240280"/>
          </a:xfrm>
          <a:prstGeom prst="rect">
            <a:avLst/>
          </a:prstGeom>
          <a:solidFill>
            <a:srgbClr val="1A6B47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2" name="Text 10"/>
          <p:cNvSpPr/>
          <p:nvPr/>
        </p:nvSpPr>
        <p:spPr>
          <a:xfrm>
            <a:off x="4809744" y="1444752"/>
            <a:ext cx="3950208" cy="21671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7EC8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Makespan = 30 นาที</a:t>
            </a:r>
            <a:r>
              <a:rPr lang="en-US" sz="10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th-TH" sz="1050" dirty="0">
              <a:solidFill>
                <a:srgbClr val="000000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180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Job  S1    S2    S3</a:t>
            </a:r>
            <a:r>
              <a:rPr lang="en-US" sz="10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1    5     9    17</a:t>
            </a:r>
            <a:r>
              <a:rPr lang="en-US" sz="10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2    0    10    25</a:t>
            </a:r>
            <a:r>
              <a:rPr lang="en-US" sz="10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3    0     7    13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65760" y="3730752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สิ่งที่น่าสังเกต: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65760" y="4059936"/>
            <a:ext cx="8412480" cy="22860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5" name="Shape 13"/>
          <p:cNvSpPr/>
          <p:nvPr/>
        </p:nvSpPr>
        <p:spPr>
          <a:xfrm>
            <a:off x="365760" y="4059936"/>
            <a:ext cx="54864" cy="228600"/>
          </a:xfrm>
          <a:prstGeom prst="rect">
            <a:avLst/>
          </a:prstGeom>
          <a:solidFill>
            <a:srgbClr val="0D7680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6" name="Text 14"/>
          <p:cNvSpPr/>
          <p:nvPr/>
        </p:nvSpPr>
        <p:spPr>
          <a:xfrm>
            <a:off x="502920" y="4059936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76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enum_next(TASK, t)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154680" y="4059936"/>
            <a:ext cx="5577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เป็น built-in ที่ดึง element ถัดไปใน enum — ไม่ต้อง hardcode t+1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65760" y="4315968"/>
            <a:ext cx="8412480" cy="228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9" name="Shape 17"/>
          <p:cNvSpPr/>
          <p:nvPr/>
        </p:nvSpPr>
        <p:spPr>
          <a:xfrm>
            <a:off x="365760" y="4315968"/>
            <a:ext cx="54864" cy="228600"/>
          </a:xfrm>
          <a:prstGeom prst="rect">
            <a:avLst/>
          </a:prstGeom>
          <a:solidFill>
            <a:srgbClr val="0D7680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20" name="Text 18"/>
          <p:cNvSpPr/>
          <p:nvPr/>
        </p:nvSpPr>
        <p:spPr>
          <a:xfrm>
            <a:off x="502920" y="4315968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76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disjunctive ต่อ TASK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154680" y="4315968"/>
            <a:ext cx="5577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ใช้ list comprehension [s[j,t] | j in JOB] สร้าง array แบบ on-the-fly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65760" y="4572000"/>
            <a:ext cx="8412480" cy="22860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23" name="Shape 21"/>
          <p:cNvSpPr/>
          <p:nvPr/>
        </p:nvSpPr>
        <p:spPr>
          <a:xfrm>
            <a:off x="365760" y="4572000"/>
            <a:ext cx="54864" cy="228600"/>
          </a:xfrm>
          <a:prstGeom prst="rect">
            <a:avLst/>
          </a:prstGeom>
          <a:solidFill>
            <a:srgbClr val="0D7680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24" name="Text 22"/>
          <p:cNvSpPr/>
          <p:nvPr/>
        </p:nvSpPr>
        <p:spPr>
          <a:xfrm>
            <a:off x="502920" y="457200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76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makespan = last task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3154680" y="4572000"/>
            <a:ext cx="5577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เป็น variable แยกต่างหาก — bound คือ total duration ทั้งหมด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365760" y="484632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วันที่ 3: Global Constraints — Job Shop Data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8412480" y="484632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22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EF3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F18F01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🔨  Workshop 3B — Job Shop Scheduling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100584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18F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เวลา: 60 นาที  |  ไฟล์: workshop3b_starter.mzn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417320"/>
            <a:ext cx="8412480" cy="102412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TH"/>
          </a:p>
        </p:txBody>
      </p:sp>
      <p:sp>
        <p:nvSpPr>
          <p:cNvPr id="6" name="Shape 4"/>
          <p:cNvSpPr/>
          <p:nvPr/>
        </p:nvSpPr>
        <p:spPr>
          <a:xfrm>
            <a:off x="365760" y="1417320"/>
            <a:ext cx="64008" cy="1024128"/>
          </a:xfrm>
          <a:prstGeom prst="rect">
            <a:avLst/>
          </a:prstGeom>
          <a:solidFill>
            <a:srgbClr val="1A3C5E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7" name="Text 5"/>
          <p:cNvSpPr/>
          <p:nvPr/>
        </p:nvSpPr>
        <p:spPr>
          <a:xfrm>
            <a:off x="530352" y="1463040"/>
            <a:ext cx="8138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โจทย์: 4 ออร์เดอร์ (A,B,C,D) ผ่าน 3 สถานี (S1→S2→S3) เสมอ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30352" y="1801368"/>
            <a:ext cx="813816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A=[10,8,12]  B=[7,15,5]  C=[12,6,10]  D=[9,11,8]  (นาที)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แต่ละสถานีทำได้ทีละ 1 ออร์เดอร์  —  Minimize makespan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65760" y="2514600"/>
            <a:ext cx="8412480" cy="37490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0" name="Shape 8"/>
          <p:cNvSpPr/>
          <p:nvPr/>
        </p:nvSpPr>
        <p:spPr>
          <a:xfrm>
            <a:off x="365760" y="2514600"/>
            <a:ext cx="420624" cy="374904"/>
          </a:xfrm>
          <a:prstGeom prst="rect">
            <a:avLst/>
          </a:prstGeom>
          <a:solidFill>
            <a:srgbClr val="F18F01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1" name="Text 9"/>
          <p:cNvSpPr/>
          <p:nvPr/>
        </p:nvSpPr>
        <p:spPr>
          <a:xfrm>
            <a:off x="365760" y="2514600"/>
            <a:ext cx="420624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14400" y="2514600"/>
            <a:ext cx="228600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เพิ่ม Precedence: 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65760" y="2944368"/>
            <a:ext cx="8412480" cy="37490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5" name="Shape 13"/>
          <p:cNvSpPr/>
          <p:nvPr/>
        </p:nvSpPr>
        <p:spPr>
          <a:xfrm>
            <a:off x="365760" y="2944368"/>
            <a:ext cx="420624" cy="374904"/>
          </a:xfrm>
          <a:prstGeom prst="rect">
            <a:avLst/>
          </a:prstGeom>
          <a:solidFill>
            <a:srgbClr val="F18F01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6" name="Text 14"/>
          <p:cNvSpPr/>
          <p:nvPr/>
        </p:nvSpPr>
        <p:spPr>
          <a:xfrm>
            <a:off x="365760" y="2944368"/>
            <a:ext cx="420624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914400" y="2944368"/>
            <a:ext cx="228600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เพิ่ม Disjunctive: 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365760" y="3374136"/>
            <a:ext cx="8412480" cy="37490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20" name="Shape 18"/>
          <p:cNvSpPr/>
          <p:nvPr/>
        </p:nvSpPr>
        <p:spPr>
          <a:xfrm>
            <a:off x="365760" y="3374136"/>
            <a:ext cx="420624" cy="374904"/>
          </a:xfrm>
          <a:prstGeom prst="rect">
            <a:avLst/>
          </a:prstGeom>
          <a:solidFill>
            <a:srgbClr val="F18F01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21" name="Text 19"/>
          <p:cNvSpPr/>
          <p:nvPr/>
        </p:nvSpPr>
        <p:spPr>
          <a:xfrm>
            <a:off x="365760" y="3374136"/>
            <a:ext cx="420624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914400" y="3374136"/>
            <a:ext cx="228600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เพิ่ม makespan: 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365760" y="3803904"/>
            <a:ext cx="8412480" cy="37490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25" name="Shape 23"/>
          <p:cNvSpPr/>
          <p:nvPr/>
        </p:nvSpPr>
        <p:spPr>
          <a:xfrm>
            <a:off x="365760" y="3803904"/>
            <a:ext cx="420624" cy="374904"/>
          </a:xfrm>
          <a:prstGeom prst="rect">
            <a:avLst/>
          </a:prstGeom>
          <a:solidFill>
            <a:srgbClr val="F18F01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26" name="Text 24"/>
          <p:cNvSpPr/>
          <p:nvPr/>
        </p:nvSpPr>
        <p:spPr>
          <a:xfrm>
            <a:off x="365760" y="3803904"/>
            <a:ext cx="420624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914400" y="3803904"/>
            <a:ext cx="228600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อ่านผล + Gantt: 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3291840" y="3803904"/>
            <a:ext cx="539496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วาด Gantt chart บนกระดาษจากค่า start times ที่ได้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365760" y="4233672"/>
            <a:ext cx="8412480" cy="37490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30" name="Shape 28"/>
          <p:cNvSpPr/>
          <p:nvPr/>
        </p:nvSpPr>
        <p:spPr>
          <a:xfrm>
            <a:off x="365760" y="4233672"/>
            <a:ext cx="420624" cy="374904"/>
          </a:xfrm>
          <a:prstGeom prst="rect">
            <a:avLst/>
          </a:prstGeom>
          <a:solidFill>
            <a:srgbClr val="F18F01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31" name="Text 29"/>
          <p:cNvSpPr/>
          <p:nvPr/>
        </p:nvSpPr>
        <p:spPr>
          <a:xfrm>
            <a:off x="365760" y="4233672"/>
            <a:ext cx="420624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914400" y="4233672"/>
            <a:ext cx="228600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(ท้าทาย) Constraint เพิ่ม: 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3291840" y="4233672"/>
            <a:ext cx="539496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 ต้องเริ่ม S1 ไม่ก่อนนาทีที่ 5  →  makespan เปลี่ยนไปไหม?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365760" y="484632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วันที่ 3: Global Constraints — Workshop 3B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8412480" y="484632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22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1920240" cy="256032"/>
          </a:xfrm>
          <a:prstGeom prst="rect">
            <a:avLst/>
          </a:prstGeom>
          <a:solidFill>
            <a:srgbClr val="1A3C5E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สรุป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สรุปวันที่ 3 — สิ่งที่ต้องจำ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8412480" cy="777240"/>
          </a:xfrm>
          <a:prstGeom prst="rect">
            <a:avLst/>
          </a:prstGeom>
          <a:solidFill>
            <a:srgbClr val="F0F4F8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TH"/>
          </a:p>
        </p:txBody>
      </p:sp>
      <p:sp>
        <p:nvSpPr>
          <p:cNvPr id="6" name="Shape 4"/>
          <p:cNvSpPr/>
          <p:nvPr/>
        </p:nvSpPr>
        <p:spPr>
          <a:xfrm>
            <a:off x="365760" y="1078992"/>
            <a:ext cx="64008" cy="777240"/>
          </a:xfrm>
          <a:prstGeom prst="rect">
            <a:avLst/>
          </a:prstGeom>
          <a:solidFill>
            <a:srgbClr val="1A3C5E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7" name="Text 5"/>
          <p:cNvSpPr/>
          <p:nvPr/>
        </p:nvSpPr>
        <p:spPr>
          <a:xfrm>
            <a:off x="548640" y="1143000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🔢  alldifferent — ไม่ต้องเขียน O(n²) constraints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1481328"/>
            <a:ext cx="80467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ใช้กับ assignment, permutation, Sudoku — 1 constraint แทน n*(n-1)/2 constraints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1929384"/>
            <a:ext cx="841248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TH"/>
          </a:p>
        </p:txBody>
      </p:sp>
      <p:sp>
        <p:nvSpPr>
          <p:cNvPr id="10" name="Shape 8"/>
          <p:cNvSpPr/>
          <p:nvPr/>
        </p:nvSpPr>
        <p:spPr>
          <a:xfrm>
            <a:off x="365760" y="1929384"/>
            <a:ext cx="64008" cy="777240"/>
          </a:xfrm>
          <a:prstGeom prst="rect">
            <a:avLst/>
          </a:prstGeom>
          <a:solidFill>
            <a:srgbClr val="1A3C5E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1" name="Text 9"/>
          <p:cNvSpPr/>
          <p:nvPr/>
        </p:nvSpPr>
        <p:spPr>
          <a:xfrm>
            <a:off x="548640" y="1993392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cumulative — ทรัพยากรต้องไม่เกิน capacity ทุกเวลา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8640" y="2331720"/>
            <a:ext cx="80467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cumulative(start, dur, resource_req, capacity) — หัวใจของ resource scheduling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2779776"/>
            <a:ext cx="8412480" cy="777240"/>
          </a:xfrm>
          <a:prstGeom prst="rect">
            <a:avLst/>
          </a:prstGeom>
          <a:solidFill>
            <a:srgbClr val="F0F4F8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TH"/>
          </a:p>
        </p:txBody>
      </p:sp>
      <p:sp>
        <p:nvSpPr>
          <p:cNvPr id="14" name="Shape 12"/>
          <p:cNvSpPr/>
          <p:nvPr/>
        </p:nvSpPr>
        <p:spPr>
          <a:xfrm>
            <a:off x="365760" y="2779776"/>
            <a:ext cx="64008" cy="777240"/>
          </a:xfrm>
          <a:prstGeom prst="rect">
            <a:avLst/>
          </a:prstGeom>
          <a:solidFill>
            <a:srgbClr val="1A3C5E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5" name="Text 13"/>
          <p:cNvSpPr/>
          <p:nvPr/>
        </p:nvSpPr>
        <p:spPr>
          <a:xfrm>
            <a:off x="548640" y="2843784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⛓️  disjunctive — ห้าม overlap บนเครื่องจักรเดียวกัน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3182112"/>
            <a:ext cx="80467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Shop = precedence (ลำดับใน job) + disjunctive (ห้ามใช้เครื่องพร้อมกัน)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5760" y="3630168"/>
            <a:ext cx="841248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TH"/>
          </a:p>
        </p:txBody>
      </p:sp>
      <p:sp>
        <p:nvSpPr>
          <p:cNvPr id="18" name="Shape 16"/>
          <p:cNvSpPr/>
          <p:nvPr/>
        </p:nvSpPr>
        <p:spPr>
          <a:xfrm>
            <a:off x="365760" y="3630168"/>
            <a:ext cx="64008" cy="777240"/>
          </a:xfrm>
          <a:prstGeom prst="rect">
            <a:avLst/>
          </a:prstGeom>
          <a:solidFill>
            <a:srgbClr val="1A3C5E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9" name="Text 17"/>
          <p:cNvSpPr/>
          <p:nvPr/>
        </p:nvSpPr>
        <p:spPr>
          <a:xfrm>
            <a:off x="548640" y="3694176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table — เลือกจาก tuple ที่อนุญาต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48640" y="4032504"/>
            <a:ext cx="80467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ใช้กับ spec สินค้า, ตาราง config, ชุดค่าที่เป็นไปได้ตามกฎ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65760" y="4498848"/>
            <a:ext cx="8412480" cy="201168"/>
          </a:xfrm>
          <a:prstGeom prst="rect">
            <a:avLst/>
          </a:prstGeom>
          <a:solidFill>
            <a:srgbClr val="1A3C5E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22" name="Text 20"/>
          <p:cNvSpPr/>
          <p:nvPr/>
        </p:nvSpPr>
        <p:spPr>
          <a:xfrm>
            <a:off x="457200" y="4498848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4: Job Shop เชิงลึก + predicate + Employee Rostering + regular constraint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65760" y="484632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วันที่ 3: Global Constraints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8412480" y="484632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22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1920240" cy="256032"/>
          </a:xfrm>
          <a:prstGeom prst="rect">
            <a:avLst/>
          </a:prstGeom>
          <a:solidFill>
            <a:srgbClr val="1A3C5E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Ref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Reference: Global Constraints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8412480" cy="3703320"/>
          </a:xfrm>
          <a:prstGeom prst="rect">
            <a:avLst/>
          </a:prstGeom>
          <a:solidFill>
            <a:srgbClr val="1E2D3D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TH"/>
          </a:p>
        </p:txBody>
      </p:sp>
      <p:sp>
        <p:nvSpPr>
          <p:cNvPr id="6" name="Shape 4"/>
          <p:cNvSpPr/>
          <p:nvPr/>
        </p:nvSpPr>
        <p:spPr>
          <a:xfrm>
            <a:off x="365760" y="1078992"/>
            <a:ext cx="54864" cy="3703320"/>
          </a:xfrm>
          <a:prstGeom prst="rect">
            <a:avLst/>
          </a:prstGeom>
          <a:solidFill>
            <a:srgbClr val="1A3C5E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7" name="Text 5"/>
          <p:cNvSpPr/>
          <p:nvPr/>
        </p:nvSpPr>
        <p:spPr>
          <a:xfrm>
            <a:off x="512064" y="1152144"/>
            <a:ext cx="8247888" cy="363016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7BC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include </a:t>
            </a:r>
            <a:r>
              <a:rPr lang="en-US" sz="1050" dirty="0">
                <a:solidFill>
                  <a:srgbClr val="F9E7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"globals.mzn";</a:t>
            </a:r>
            <a:r>
              <a:rPr lang="en-US" sz="1050" dirty="0">
                <a:solidFill>
                  <a:srgbClr val="7180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% includes everything</a:t>
            </a:r>
            <a:r>
              <a:rPr lang="en-US" sz="10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180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% ─── ALLDIFFERENT ─────────────────────────────────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EC8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alldifferent</a:t>
            </a:r>
            <a:r>
              <a:rPr lang="en-US" sz="105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(array[int] of var int: x)</a:t>
            </a:r>
            <a:r>
              <a:rPr lang="en-US" sz="10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180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% ─── CUMULATIVE ────────────────────────────────────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EC8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cumulative</a:t>
            </a:r>
            <a:r>
              <a:rPr lang="en-US" sz="105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(array of var int: s,  % start times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array of var int: d,  % durations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array of var int: r,  % resource req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var int: b)           % capacity</a:t>
            </a:r>
            <a:r>
              <a:rPr lang="en-US" sz="10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180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% ─── DISJUNCTIVE ───────────────────────────────────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EC8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disjunctive</a:t>
            </a:r>
            <a:r>
              <a:rPr lang="en-US" sz="105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(array of var int: s, array of int: d)</a:t>
            </a:r>
            <a:r>
              <a:rPr lang="en-US" sz="10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180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% ─── TABLE ─────────────────────────────────────────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EC8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table</a:t>
            </a:r>
            <a:r>
              <a:rPr lang="en-US" sz="105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(array[int] of var int: x, array[int,int] of int: t)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65760" y="484632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วันที่ 3: Global Constraints — Quick Ref: Global Constraints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412480" y="484632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22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1920240" cy="256032"/>
          </a:xfrm>
          <a:prstGeom prst="rect">
            <a:avLst/>
          </a:prstGeom>
          <a:solidFill>
            <a:srgbClr val="1A3C5E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Ref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Reference: Scheduling Patterns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8412480" cy="3703320"/>
          </a:xfrm>
          <a:prstGeom prst="rect">
            <a:avLst/>
          </a:prstGeom>
          <a:solidFill>
            <a:srgbClr val="1E2D3D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TH"/>
          </a:p>
        </p:txBody>
      </p:sp>
      <p:sp>
        <p:nvSpPr>
          <p:cNvPr id="6" name="Shape 4"/>
          <p:cNvSpPr/>
          <p:nvPr/>
        </p:nvSpPr>
        <p:spPr>
          <a:xfrm>
            <a:off x="365760" y="1078992"/>
            <a:ext cx="54864" cy="3703320"/>
          </a:xfrm>
          <a:prstGeom prst="rect">
            <a:avLst/>
          </a:prstGeom>
          <a:solidFill>
            <a:srgbClr val="0D7680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7" name="Text 5"/>
          <p:cNvSpPr/>
          <p:nvPr/>
        </p:nvSpPr>
        <p:spPr>
          <a:xfrm>
            <a:off x="512064" y="1152144"/>
            <a:ext cx="8247888" cy="363016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7180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% ─── PRECEDENCE (A ต้องเสร็จก่อน B) ───────────────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constraint start_A + duration_A &lt;= start_B;</a:t>
            </a:r>
            <a:r>
              <a:rPr lang="en-US" sz="10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180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% ─── JOB SHOP STRUCTURE ─────────────────────────────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180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% 1. Precedence ตามลำดับ task ใน job </a:t>
            </a:r>
            <a:r>
              <a:rPr lang="en-US" sz="1050" dirty="0" err="1">
                <a:solidFill>
                  <a:srgbClr val="7180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เดียวกัน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4A2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constraint forall</a:t>
            </a:r>
            <a:r>
              <a:rPr lang="en-US" sz="105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(j in JOB, t in TASK where t &lt; </a:t>
            </a:r>
            <a:r>
              <a:rPr lang="en-US" sz="1050" dirty="0" err="1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t_last</a:t>
            </a:r>
            <a:r>
              <a:rPr lang="en-US" sz="105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)(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s[j,t] + d[j,t] &lt;= s[j, </a:t>
            </a:r>
            <a:r>
              <a:rPr lang="en-US" sz="1050" dirty="0">
                <a:solidFill>
                  <a:srgbClr val="7EC8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enum_next</a:t>
            </a:r>
            <a:r>
              <a:rPr lang="en-US" sz="105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(TASK,t)]);</a:t>
            </a:r>
            <a:r>
              <a:rPr lang="en-US" sz="10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180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% 2. Disjunctive: ทุก job </a:t>
            </a:r>
            <a:r>
              <a:rPr lang="en-US" sz="1050" dirty="0" err="1">
                <a:solidFill>
                  <a:srgbClr val="7180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ที่ใช้สถานีเดียวกันต้องไม่</a:t>
            </a:r>
            <a:r>
              <a:rPr lang="en-US" sz="1050" dirty="0">
                <a:solidFill>
                  <a:srgbClr val="7180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overlap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4A2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constraint forall</a:t>
            </a:r>
            <a:r>
              <a:rPr lang="en-US" sz="105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(t in TASK)(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EC8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disjunctive</a:t>
            </a:r>
            <a:r>
              <a:rPr lang="en-US" sz="105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([s[j,t] | j in JOB], [d[j,t] | j in JOB]));</a:t>
            </a:r>
            <a:r>
              <a:rPr lang="en-US" sz="10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180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% 3. </a:t>
            </a:r>
            <a:r>
              <a:rPr lang="en-US" sz="1050" dirty="0" err="1">
                <a:solidFill>
                  <a:srgbClr val="7180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Makespan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4A2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constraint forall</a:t>
            </a:r>
            <a:r>
              <a:rPr lang="en-US" sz="105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(j in JOB)(s[j,t_last] + d[j,t_last] &lt;= makespan);</a:t>
            </a:r>
            <a:r>
              <a:rPr lang="en-US" sz="10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BC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solve minimize makespan;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65760" y="484632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วันที่ 3: Global Constraints — Quick Ref: Scheduling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412480" y="484632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22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1920240" cy="256032"/>
          </a:xfrm>
          <a:prstGeom prst="rect">
            <a:avLst/>
          </a:prstGeom>
          <a:solidFill>
            <a:srgbClr val="F18F01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ข้อผิดพลาด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ข้อผิดพลาดที่พบบ่อย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8412480" cy="804672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6" name="Shape 4"/>
          <p:cNvSpPr/>
          <p:nvPr/>
        </p:nvSpPr>
        <p:spPr>
          <a:xfrm>
            <a:off x="365760" y="1078992"/>
            <a:ext cx="64008" cy="804672"/>
          </a:xfrm>
          <a:prstGeom prst="rect">
            <a:avLst/>
          </a:prstGeom>
          <a:solidFill>
            <a:srgbClr val="F18F01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7" name="Text 5"/>
          <p:cNvSpPr/>
          <p:nvPr/>
        </p:nvSpPr>
        <p:spPr>
          <a:xfrm>
            <a:off x="530352" y="112471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C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❌  cumulative(start, dur, req, cap)  % ลืม include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30352" y="13716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6B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✅  include "cumulative.mzn";  % ต้องมีก่อนทุกครั้ง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30352" y="164592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ลืม include ทำให้ error: undefined identifier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65760" y="1993392"/>
            <a:ext cx="8412480" cy="80467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1" name="Shape 9"/>
          <p:cNvSpPr/>
          <p:nvPr/>
        </p:nvSpPr>
        <p:spPr>
          <a:xfrm>
            <a:off x="365760" y="1993392"/>
            <a:ext cx="64008" cy="804672"/>
          </a:xfrm>
          <a:prstGeom prst="rect">
            <a:avLst/>
          </a:prstGeom>
          <a:solidFill>
            <a:srgbClr val="F18F01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2" name="Text 10"/>
          <p:cNvSpPr/>
          <p:nvPr/>
        </p:nvSpPr>
        <p:spPr>
          <a:xfrm>
            <a:off x="530352" y="203911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C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❌  s[j,t] + d[j,t] &lt;= s[j, t+1]  % t เป็น enum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30352" y="22860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6B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✅  s[j,t] + d[j,t] &lt;= s[j, enum_next(TASK,t)]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30352" y="256032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ถ้า TASK เป็น enum ต้องใช้ enum_next ไม่ใช่ t+1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65760" y="2907792"/>
            <a:ext cx="8412480" cy="804672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6" name="Shape 14"/>
          <p:cNvSpPr/>
          <p:nvPr/>
        </p:nvSpPr>
        <p:spPr>
          <a:xfrm>
            <a:off x="365760" y="2907792"/>
            <a:ext cx="64008" cy="804672"/>
          </a:xfrm>
          <a:prstGeom prst="rect">
            <a:avLst/>
          </a:prstGeom>
          <a:solidFill>
            <a:srgbClr val="F18F01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7" name="Text 15"/>
          <p:cNvSpPr/>
          <p:nvPr/>
        </p:nvSpPr>
        <p:spPr>
          <a:xfrm>
            <a:off x="530352" y="295351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C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❌  disjunctive(start_1, dur_1, start_2, dur_2)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30352" y="32004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6B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✅  disjunctive([s[j,t]|j in JOBS], [d[j,t]|j in JOBS])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30352" y="347472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disjunctive รับ array ของ start times ทุก job พร้อมกัน — ไม่ใช่ทีละคู่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65760" y="3822192"/>
            <a:ext cx="8412480" cy="80467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21" name="Shape 19"/>
          <p:cNvSpPr/>
          <p:nvPr/>
        </p:nvSpPr>
        <p:spPr>
          <a:xfrm>
            <a:off x="365760" y="3822192"/>
            <a:ext cx="64008" cy="804672"/>
          </a:xfrm>
          <a:prstGeom prst="rect">
            <a:avLst/>
          </a:prstGeom>
          <a:solidFill>
            <a:srgbClr val="F18F01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22" name="Text 20"/>
          <p:cNvSpPr/>
          <p:nvPr/>
        </p:nvSpPr>
        <p:spPr>
          <a:xfrm>
            <a:off x="530352" y="386791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C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❌  solve satisfy  % แต่อยากได้ makespan น้อยสุด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30352" y="41148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6B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✅  solve minimize makespan;  % ต้องระบุ objective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30352" y="438912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satisfy หาแค่คำตอบแรก — ไม่การันตีว่า optimal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365760" y="484632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วันที่ 3: Global Constraints — Common Mistakes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8412480" y="484632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22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1920240" cy="256032"/>
          </a:xfrm>
          <a:prstGeom prst="rect">
            <a:avLst/>
          </a:prstGeom>
          <a:solidFill>
            <a:srgbClr val="1A3C5E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เลือก Constraint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เลือก Global Constraint ให้ถูกต้อง</a:t>
            </a:r>
            <a:endParaRPr lang="en-US" sz="27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051560"/>
          <a:ext cx="8412480" cy="3749039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3557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ต้องการ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C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ใช้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C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ตัวอย่าง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C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557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ต้องการให้ค่าไม่ซ้ำกัน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86A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alldifferent(x)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Assignment, Sudoku, Permutation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557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ทรัพยากรต้องไม่เกิน capacity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D76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cumulative(s,d,r,cap)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คน, เครื่องจักร, งบ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557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เครื่องจักรทำทีละ 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A6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disjunctive(s,d)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Job Shop, Machine Scheduling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557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เลือกจาก spec ที่กำหนด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E67E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table(x, tuples)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วัสดุ, กะ, Bill of Materials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557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ลำดับใน job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A3C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precedence constraint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s[j,t]+d[j,t] &lt;= s[j,t+1]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3557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ทุก job เสร็จ → makespan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forall(j)(s[j,last]+d &lt;= ms)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Minimize total time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365760" y="484632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วันที่ 3: Global Constraints — เลือก Constraint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8412480" y="484632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/ 22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A3C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D7680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3" name="Shape 1"/>
          <p:cNvSpPr/>
          <p:nvPr/>
        </p:nvSpPr>
        <p:spPr>
          <a:xfrm>
            <a:off x="6858000" y="0"/>
            <a:ext cx="2286000" cy="5143500"/>
          </a:xfrm>
          <a:prstGeom prst="rect">
            <a:avLst/>
          </a:prstGeom>
          <a:solidFill>
            <a:srgbClr val="162F48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D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 Preview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1280160"/>
            <a:ext cx="6400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Scheduling เชิงลึก</a:t>
            </a:r>
            <a:endParaRPr lang="en-US" sz="3600" dirty="0"/>
          </a:p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และ Employee Rostering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457200" y="2880360"/>
            <a:ext cx="64008" cy="292608"/>
          </a:xfrm>
          <a:prstGeom prst="rect">
            <a:avLst/>
          </a:prstGeom>
          <a:solidFill>
            <a:srgbClr val="0D7680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7" name="Text 5"/>
          <p:cNvSpPr/>
          <p:nvPr/>
        </p:nvSpPr>
        <p:spPr>
          <a:xfrm>
            <a:off x="658368" y="2880360"/>
            <a:ext cx="5943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2B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Shop พร้อม predicate — encapsulate no_overlap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3291840"/>
            <a:ext cx="64008" cy="292608"/>
          </a:xfrm>
          <a:prstGeom prst="rect">
            <a:avLst/>
          </a:prstGeom>
          <a:solidFill>
            <a:srgbClr val="0D7680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9" name="Text 7"/>
          <p:cNvSpPr/>
          <p:nvPr/>
        </p:nvSpPr>
        <p:spPr>
          <a:xfrm>
            <a:off x="658368" y="3291840"/>
            <a:ext cx="5943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2B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Flexible Job Shop — เลือกเครื่องจักรได้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3703320"/>
            <a:ext cx="64008" cy="292608"/>
          </a:xfrm>
          <a:prstGeom prst="rect">
            <a:avLst/>
          </a:prstGeom>
          <a:solidFill>
            <a:srgbClr val="0D7680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1" name="Text 9"/>
          <p:cNvSpPr/>
          <p:nvPr/>
        </p:nvSpPr>
        <p:spPr>
          <a:xfrm>
            <a:off x="658368" y="3703320"/>
            <a:ext cx="5943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2B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Rostering — 3 กะ, demand, fairness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4114800"/>
            <a:ext cx="64008" cy="292608"/>
          </a:xfrm>
          <a:prstGeom prst="rect">
            <a:avLst/>
          </a:prstGeom>
          <a:solidFill>
            <a:srgbClr val="0D7680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3" name="Text 11"/>
          <p:cNvSpPr/>
          <p:nvPr/>
        </p:nvSpPr>
        <p:spPr>
          <a:xfrm>
            <a:off x="658368" y="4114800"/>
            <a:ext cx="5943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2B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 constraint — กฎ shift pattern ซับซ้อน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2862</Words>
  <Application>Microsoft Macintosh PowerPoint</Application>
  <PresentationFormat>On-screen Show (16:9)</PresentationFormat>
  <Paragraphs>426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6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MiniZinc Day 3 - Global Constraints</dc:title>
  <dc:subject>PptxGenJS Presentation</dc:subject>
  <dc:creator>PptxGenJS</dc:creator>
  <cp:lastModifiedBy>Vacharapat METTANANT</cp:lastModifiedBy>
  <cp:revision>11</cp:revision>
  <dcterms:created xsi:type="dcterms:W3CDTF">2026-06-04T12:11:17Z</dcterms:created>
  <dcterms:modified xsi:type="dcterms:W3CDTF">2026-06-05T07:10:28Z</dcterms:modified>
</cp:coreProperties>
</file>