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3" r:id="rId9"/>
    <p:sldId id="284" r:id="rId10"/>
    <p:sldId id="285" r:id="rId11"/>
    <p:sldId id="286" r:id="rId12"/>
    <p:sldId id="287" r:id="rId13"/>
    <p:sldId id="278" r:id="rId14"/>
    <p:sldId id="279" r:id="rId15"/>
    <p:sldId id="280" r:id="rId16"/>
    <p:sldId id="281" r:id="rId17"/>
    <p:sldId id="28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73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 — วันสุดท้าย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Modelling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Python × MiniZinc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· Redundant Constraints · Debugging · นำไปใช้จริง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Tight Bounds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เร็วขึ้น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60604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Redundant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เพิ่ม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Debug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แก้ปัญหาเป็น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90372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Capstone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โมเดลจริง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78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Variable Bounds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10789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bounds ช่วย solver อย่างไร — before/after ตัวอย่าง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09:45–10:30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17007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Redundant Constraints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1700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 constraint ที่ 'ซ้ำซ้อน' ช่วยได้ — lower bound tricks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10:30–11:00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23225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Debugging Workflow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3225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 → Slow → Wrong Results — ขั้นตอนแก้ปัญหา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8528" y="2944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6A — Debugging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2944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กรณีจริง: UNSAT, Slow, Wrong — หาและแก้ไขปัญหา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64008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Dynamic Re-optimization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เทคนิครับมือ plan เปลี่ยนกลางทาง — รัน 5 ไฟล์ตัวอย่างจริง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64008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14:30–16:00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1879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× MiniZinc Capstone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0" y="41879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MiniZinc → Gantt Chart — รันจริง พร้อมนำเสนอ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Bounds — ช่วย Solver ตัด 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ทำงานใน search space ที่กำหนดโดย bounds  →  bounds แน่น = space เล็ก = เร็วกว่า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023360" cy="2633472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02336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Bound กว้างเกิน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840480" cy="20574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54864" cy="2057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03504" y="2286000"/>
            <a:ext cx="3675888" cy="1984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❌ Hardcode ค่าสูง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0..999: start;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0..999: makespan;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Solver ค้นหาใน 0..999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= 1,000 ค่า ต่อตัวแปร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755648"/>
            <a:ext cx="4023360" cy="2633472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754880" y="1755648"/>
            <a:ext cx="4023360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54880" y="17556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Bound แน่น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212848"/>
            <a:ext cx="3840480" cy="20574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846320" y="2212848"/>
            <a:ext cx="54864" cy="205740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992624" y="2286000"/>
            <a:ext cx="3675888" cy="1984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✅ คำนวณ bound จากข้อมูล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total=sum(j,t)(d[j,t]);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lb=max(j)(sum(t)(d[j,t]));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0..total: start;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lb..total: makespan;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lb = lower bound ที่รู้แน่ๆ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lower bound = เร็วที่สุดที่ทฤษฎีบอก  |  upper bound = ช้าที่สุดที่สมเหตุสมผล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Variable Bounds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การคำนวณ Bounds ที่ดี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ปัญหา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 (lb)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 (ub)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Shop makespan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max(j)(sum(t)(d[j,t]))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sum(j,t)(d[j,t])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Packing n_bins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ceil(sum(sizes)/capacity)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n_items (worst case)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Rostering nights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ceil(req_night*n_days/n_emp)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n_days (every night)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 total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sum(min_dist_to_nearest)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sum(all_dist) (loose)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sum(all_durations) - min_dur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160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var lb..ub: variable;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5"/>
          <p:cNvSpPr/>
          <p:nvPr/>
        </p:nvSpPr>
        <p:spPr>
          <a:xfrm>
            <a:off x="365760" y="4480560"/>
            <a:ext cx="54864" cy="53035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/>
          <p:nvPr/>
        </p:nvSpPr>
        <p:spPr>
          <a:xfrm>
            <a:off x="512064" y="4496046"/>
            <a:ext cx="82478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lb = max(j)(sum(t)(d[j,t]));  int: ub = sum(j,t)(d[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j,t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lb..ub: makespan;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แทน</a:t>
            </a: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0..999: makespan;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Computing Bounds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Constraints — เพิ่ม Pruning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= จริงอยู่แล้วจาก constraint อื่น  แต่ช่วย solver ตัดสิ่งที่เป็นไปไม่ได้ได้เร็วกว่า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23317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4864" cy="23317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12064" y="1856232"/>
            <a:ext cx="8247888" cy="2258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ปัญหา Assignment (แต่ละคนได้งานต่างกัน)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alldifferent(assigned);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sum(w)(cost[w, assigned[w]]);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Redundant constraints เพิ่ม pruning 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bound: ต้นทุนรวมต้องอย่างน้อยเท่ากับ sum ของ min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ต่อ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(w)(min(t)(cost[w,t])) &lt;= sum(w)(cost[w,assigned[w]]);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 อีกแบบ: sum ของ min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ต่อ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(t)(min(w)(cost[w,t])) &lt;= sum(w)(cost[w,assigned[w]]);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42519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ทำไมได้ผล: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474956"/>
            <a:ext cx="8412480" cy="228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65760" y="4474956"/>
            <a:ext cx="54864" cy="2286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02920" y="447495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constraint บอก solver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4474956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cost ที่เป็นไปได้ก่อนหาคำตอบ — prune branches ที่ cost จะเกินได้เลย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730988"/>
            <a:ext cx="54864" cy="2286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47309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ไม่ตัด optimal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73098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เพราะ constraint จริงอยู่แล้ว — เป็นแค่ hint ให้ solver ฉลาดขึ้น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9287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Redundant Constraints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7309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Workflow — 3 ประเภทปัญหา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11556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11155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2011680" cy="11155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2011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UNSATISFIABLE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17043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เพิ่ม constraint ทีละอย่าง — หาว่าอันไหนทำให้ขัดแย้ง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42646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ลด scope: เริ่มกับข้อมูลน้อยๆ (2-3 items)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68249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คำนวณมือ: ผลลัพธ์ที่เป็นไปได้มีจริงไหม?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93852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ผ่อนคลาย constraint แล้วดูว่า UNSAT หายไหม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8412480" cy="111556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313432"/>
            <a:ext cx="64008" cy="11155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2011680" cy="11155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65760" y="2313432"/>
            <a:ext cx="2011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/ TIMEOUT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40487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ตรวจ bounds: กว้างเกินไปไหม? คำนวณ lb/ub ที่แน่น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66090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เพิ่ม redundant constraints เพื่อช่วย prune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91693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เพิ่ม symmetry breaking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17296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ลอง solver อื่น: Chuffed, OR-Tools, Gurobi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47872"/>
            <a:ext cx="8412480" cy="111556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64008" cy="111556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2011680" cy="111556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365760" y="3547872"/>
            <a:ext cx="2011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RESULT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363931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ตรวจ output มือ: คำนวณ resource usage แล้วเทียบ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89534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ลอง solve satisfy ก่อน ดูว่า model ถูก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15137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เพิ่ม assert() ตรวจ data ที่รับมา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40740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ตรวจ array index: แถว/คอลัมน์สลับกันไหม?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Debugging Workflow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6A — Debugging Challenge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debug_broken_1.mzn, debug_broken_2.mzn, debug_broken_3.mzn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8412480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35608"/>
            <a:ext cx="502920" cy="9784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502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1: UNSATISFIABLE (debug_broken_1.mzn)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1965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 — deadline ที่กำหนดเป็นไปไม่ได้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ภารกิจ: หาว่า deadline ต้องเป็นเท่าไรถึงจะ satisfy? คำนวณมือก่อนแล้วยืนยันด้วย MiniZinc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8412480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502920" cy="9784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502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58775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2: ช้ามาก (debug_broken_2.mzn)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91693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6×4 — bounds hardcode เป็น 200 ทั้งที่คำนวณได้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ภารกิจ: คำนวณ total และ lb ที่แน่น แล้วเปรียบเทียบ solve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30168"/>
            <a:ext cx="8412480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3630168"/>
            <a:ext cx="502920" cy="97840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3630168"/>
            <a:ext cx="502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6850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3: ผลไม่ถูกต้อง (debug_broken_3.mzn)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01421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— model รันได้แต่ resource usage เกิน capacity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ภารกิจ: หา bug แล้วแก้ไข ยืนยันด้วยการคำนวณมือ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Workshop 6A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ynReopt_Intro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Left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3" name="BarRight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4" name="Label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457200" y="16459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รับมือเมื่อแผน</a:t>
            </a:r>
            <a:endParaRPr lang="en-US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เปลี่ยนกลางทาง</a:t>
            </a:r>
            <a:endParaRPr lang="en-US"/>
          </a:p>
        </p:txBody>
      </p:sp>
      <p:sp>
        <p:nvSpPr>
          <p:cNvPr id="6" name="Sub"/>
          <p:cNvSpPr/>
          <p:nvPr/>
        </p:nvSpPr>
        <p:spPr>
          <a:xfrm>
            <a:off x="457200" y="3429000"/>
            <a:ext cx="5943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เครื่องเสีย · Order เพิ่ม · วัตถุดิบขาด · พนักงานลา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 Plan ถึงเปลี่ยนกลางทาง?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2700000" cy="12000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เครื่องจักรขัดข้อง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M_B เสียกะทันหัน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Weld ทั้งหมดต้องย้ายเครื่อง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จะบวมขึ้นเท่าไหร่?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3224100" y="1400000"/>
            <a:ext cx="2700000" cy="12000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เพิ่มกะทันหัน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 VIP ส่ง order ใหม่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ความต้องการ +40% กะทันหัน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พอไหม? OT ต้องเท่าไหร่?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5991000" y="1400000"/>
            <a:ext cx="2700000" cy="12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วัตถุดิบมาช้า / ขาด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แจ้งว่าส่งช้า 3 วัน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งานที่รอวัตถุดิบต้องเลื่อน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effect ทั้ง schedule</a:t>
            </a:r>
            <a:endParaRPr lang="en-US"/>
          </a:p>
        </p:txBody>
      </p:sp>
      <p:sp>
        <p:nvSpPr>
          <p:cNvPr id="13" name="Note"/>
          <p:cNvSpPr/>
          <p:nvPr/>
        </p:nvSpPr>
        <p:spPr>
          <a:xfrm>
            <a:off x="457200" y="2750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คำถาม: แก้ plan อย่างไร? — Re-plan ใหม่ทั้งหมด vs. แก้น้อยที่สุด vs. วางแผนรับมือล่วงหน้า</a:t>
            </a:r>
            <a:endParaRPr lang="en-US"/>
          </a:p>
        </p:txBody>
      </p:sp>
      <p:sp>
        <p:nvSpPr>
          <p:cNvPr id="14" name="Files"/>
          <p:cNvSpPr/>
          <p:nvPr/>
        </p:nvSpPr>
        <p:spPr>
          <a:xfrm>
            <a:off x="457200" y="330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day6/  06_reoptimize.mzn  |  07_penalize_changes.mzn  |  08_rolling_horizon.mzn  |  09_slack_variables.mzn  |  10_scenario_planning.mzn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niques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เทคนิครับมือการเปลี่ยนแปลง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Re-optimize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อัปเดตข้อมูล แล้ว solve ใหม่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4800000" y="14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Penalize Changes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ลงโทษการเบี่ยงเบนจาก plan เดิม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457200" y="23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Rolling Horizon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ทีละ window แล้วเลื่อนไป</a:t>
            </a:r>
            <a:endParaRPr lang="en-US"/>
          </a:p>
        </p:txBody>
      </p:sp>
      <p:sp>
        <p:nvSpPr>
          <p:cNvPr id="13" name="Card"/>
          <p:cNvSpPr/>
          <p:nvPr/>
        </p:nvSpPr>
        <p:spPr>
          <a:xfrm>
            <a:off x="4800000" y="23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Slack Variables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buffer สำหรับ demand spike</a:t>
            </a: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57200" y="32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Scenario Planning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under multiple demand scenarios</a:t>
            </a: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4800000" y="32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Warm Starting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solution เดิมเป็น hint แก่ solver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Re-optimize from Current State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3900000" cy="28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event เกิดขึ้น: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อัปเดตข้อมูลให้ตรงสถานการณ์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Fix งานที่เริ่มไปแล้ว (start time)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Run solver ใหม่ด้วยข้อมูลใหม่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 plan ที่ optimal สำหรับสถานการณ์ใหม่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 plan อาจเปลี่ยนมาก → shop floor สับสน</a:t>
            </a:r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4571000" y="1400000"/>
            <a:ext cx="4230000" cy="28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06_reoptimize.mzn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แค่เปลี่ยน 1 บรรทัด แล้ว re-run!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bool: M_B_available = false;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array[TASK,MACHINE] of bool: capable =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array2d(TASK, MACHINE, [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true,  M_B_available, true,  %% Cut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false, M_B_available, true,  %% Weld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true,  M_B_available, true,  %% Finish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 makespan;</a:t>
            </a:r>
            <a:endParaRPr lang="en-US"/>
          </a:p>
        </p:txBody>
      </p:sp>
      <p:sp>
        <p:nvSpPr>
          <p:cNvPr id="12" name="When"/>
          <p:cNvSpPr/>
          <p:nvPr/>
        </p:nvSpPr>
        <p:spPr>
          <a:xfrm>
            <a:off x="457200" y="440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เหมาะกับ: เหตุการณ์ไม่คาดฝัน ที่ต้องการ plan ใหม่ทั้งหมด  |  ข้อเสีย: plan เปลี่ยนมาก สื่อสารยาก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Penalize Changing the Plan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380000"/>
            <a:ext cx="8229600" cy="5600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 makespan + alpha × disruption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= จำนวน task ที่ถูกย้ายเครื่องจาก plan เดิม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457200" y="2100000"/>
            <a:ext cx="3800000" cy="14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 alpha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  → ไม่สนใจ plan เดิม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5  → สมดุล speed vs. stability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50 → รักษา plan เดิมเป็นหลัก</a:t>
            </a:r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4400000" y="2100000"/>
            <a:ext cx="4401000" cy="14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int: alpha = 5;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0..N: disruption =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sum(j,t)(bool2int(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machine[j,t] != orig_machine[j,t]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makespan + alpha * disruption;</a:t>
            </a:r>
            <a:endParaRPr lang="en-US"/>
          </a:p>
        </p:txBody>
      </p:sp>
      <p:sp>
        <p:nvSpPr>
          <p:cNvPr id="13" name="File"/>
          <p:cNvSpPr/>
          <p:nvPr/>
        </p:nvSpPr>
        <p:spPr>
          <a:xfrm>
            <a:off x="457200" y="365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ลองรัน: day6/07_penalize_changes.mzn  |  ทดลองเปลี่ยน alpha = 0, 5, 50 แล้วเปรียบเทียบ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Rolling Horizon Optimization</a:t>
            </a:r>
            <a:endParaRPr lang="en-US"/>
          </a:p>
        </p:txBody>
      </p:sp>
      <p:sp>
        <p:nvSpPr>
          <p:cNvPr id="10" name="HorizonBg"/>
          <p:cNvSpPr/>
          <p:nvPr/>
        </p:nvSpPr>
        <p:spPr>
          <a:xfrm>
            <a:off x="457200" y="1300000"/>
            <a:ext cx="8229600" cy="90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 Day 1 - 6</a:t>
            </a:r>
            <a:endParaRPr lang="en-US"/>
          </a:p>
        </p:txBody>
      </p:sp>
      <p:sp>
        <p:nvSpPr>
          <p:cNvPr id="11" name="W1"/>
          <p:cNvSpPr/>
          <p:nvPr/>
        </p:nvSpPr>
        <p:spPr>
          <a:xfrm>
            <a:off x="457200" y="1400000"/>
            <a:ext cx="2743200" cy="70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1: D1-D3  ✓ solved, fixed</a:t>
            </a:r>
            <a:endParaRPr lang="en-US"/>
          </a:p>
        </p:txBody>
      </p:sp>
      <p:sp>
        <p:nvSpPr>
          <p:cNvPr id="12" name="W2"/>
          <p:cNvSpPr/>
          <p:nvPr/>
        </p:nvSpPr>
        <p:spPr>
          <a:xfrm>
            <a:off x="3200400" y="1400000"/>
            <a:ext cx="2743200" cy="70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2: D4-D6  ← solving now</a:t>
            </a:r>
            <a:endParaRPr lang="en-US"/>
          </a:p>
        </p:txBody>
      </p:sp>
      <p:sp>
        <p:nvSpPr>
          <p:cNvPr id="13" name="W3"/>
          <p:cNvSpPr/>
          <p:nvPr/>
        </p:nvSpPr>
        <p:spPr>
          <a:xfrm>
            <a:off x="5943600" y="1400000"/>
            <a:ext cx="2743200" cy="70000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3: D7-D9  (unknown)</a:t>
            </a: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57200" y="2300000"/>
            <a:ext cx="4000000" cy="13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ปัญหาเล็กลง → solve เร็วกว่ามาก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 demand จริงทุก window (ปรับได้ตาม reality)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 commit กับ plan ไกล ๆ ที่ไม่แน่นอน</a:t>
            </a: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4600000" y="2300000"/>
            <a:ext cx="4201000" cy="13000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วิธีรัน 2 windows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horizon_start = 1  → solve D1-D3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stock ปลาย window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horizon_start = 4  → solve D4-D6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ใส่ initial_stock = [3, 0, 2]</a:t>
            </a:r>
            <a:endParaRPr lang="en-US"/>
          </a:p>
        </p:txBody>
      </p:sp>
      <p:sp>
        <p:nvSpPr>
          <p:cNvPr id="16" name="File"/>
          <p:cNvSpPr/>
          <p:nvPr/>
        </p:nvSpPr>
        <p:spPr>
          <a:xfrm>
            <a:off x="457200" y="375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day6/08_rolling_horizon.mzn  |  เปลี่ยน horizon_start = 1 แล้ว 4 ดูผลต่างกัน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Slack Variables — Overtime Buffer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380000"/>
            <a:ext cx="3700000" cy="29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overtime เป็น "slack buffer"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+ overtime &gt;= demand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regular_cap = 40h  (ปกติ)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max_overtime = 12h (กรณีฉุกเฉิน)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total_cost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regular_cost * regular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overtime_cost * overtime</a:t>
            </a:r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4300000" y="1380000"/>
            <a:ext cx="4501000" cy="29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09_slack_variables.mzn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0..100: regular[m,p];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0..20:  overtime[m,p];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forall(m,p)(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regular[m,p]  &lt;= normal_cap[m]  /\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overtime[m,p] &lt;= max_overtime[m] /\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regular[m,p] + overtime[m,p]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&gt;= hours_needed[m,p]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 total_cost;</a:t>
            </a:r>
            <a:endParaRPr lang="en-US"/>
          </a:p>
        </p:txBody>
      </p:sp>
      <p:sp>
        <p:nvSpPr>
          <p:cNvPr id="12" name="When"/>
          <p:cNvSpPr/>
          <p:nvPr/>
        </p:nvSpPr>
        <p:spPr>
          <a:xfrm>
            <a:off x="457200" y="4440000"/>
            <a:ext cx="82296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เหมาะกับ: demand spike ที่รู้ล่วงหน้า  |  ตอบได้ว่า "รับ order ได้ไหม? ต้นทุน OT เท่าไหร่?"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5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Scenario-based Planning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2743800" cy="6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Normal (50%)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ปกติ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3352800" y="1400000"/>
            <a:ext cx="2743800" cy="6000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Surge (30%)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+40%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6248400" y="1400000"/>
            <a:ext cx="2743800" cy="6000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Decline (20%)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-25%</a:t>
            </a:r>
            <a:endParaRPr lang="en-US"/>
          </a:p>
        </p:txBody>
      </p:sp>
      <p:sp>
        <p:nvSpPr>
          <p:cNvPr id="13" name="Arrow"/>
          <p:cNvSpPr/>
          <p:nvPr/>
        </p:nvSpPr>
        <p:spPr>
          <a:xfrm>
            <a:off x="4114800" y="2100000"/>
            <a:ext cx="9144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57200" y="2560000"/>
            <a:ext cx="8229600" cy="600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แผนเดียวที่ minimize expected cost ทุก scenario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 Σ prob[s] × cost(plan, s)   s.t. แผนต้องใช้ก่อนรู้ scenario</a:t>
            </a:r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457200" y="3300000"/>
            <a:ext cx="8229600" cy="74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int: expected_cost =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sum(s in SCENARIO)(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prob[s] * (unit_cost*produce + holding*leftover + stockout*unmet)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div 100;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 expected_cost;</a:t>
            </a:r>
            <a:endParaRPr lang="en-US"/>
          </a:p>
        </p:txBody>
      </p:sp>
      <p:sp>
        <p:nvSpPr>
          <p:cNvPr id="16" name="File"/>
          <p:cNvSpPr/>
          <p:nvPr/>
        </p:nvSpPr>
        <p:spPr>
          <a:xfrm>
            <a:off x="457200" y="4170000"/>
            <a:ext cx="82296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day6/10_scenario_planning.mzn  |  ลอง: ลด stockout_cost / เพิ่ม prob[Surge] แล้วดูว่า plan เปลี่ยนยังไง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6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Warm Starting — ให้ Hint แก่ Solver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3800000" cy="20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 solution เดิมเป็น "initial hint" แก่ solver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Solver เริ่มจากจุดที่ดี ไม่ต้อง explore จาก scratch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มีประโยชน์มากเมื่อ: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ปัญหาใหญ่ / solve นาน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Solve ซ้ำบ่อย (real-time re-planning)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Plan เปลี่ยนนิดเดียว (เช่น เพิ่ม 1 job)</a:t>
            </a:r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4400000" y="1400000"/>
            <a:ext cx="4401000" cy="20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Warm start: fix known part of solution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ด้วย constraint ชั่วคราว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machine[OrderA, Cut] = M_A;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machine[OrderA, Weld]= M_C;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start[OrderA, Cut]   = 0;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หรือใช้ search annotation: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:: int_search([machine[j,t]|j,t],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first_fail, indomain_median)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minimize makespan;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457200" y="3560000"/>
            <a:ext cx="8229600" cy="5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Gecode (default solver): ใช้ constraint fix บางส่วนเป็น hint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/ Gurobi / CPLEX มี API-level warm start ที่ทรงพลังกว่า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สรุป: เลือก Technique ไหน?</a:t>
            </a:r>
            <a:endParaRPr lang="en-US"/>
          </a:p>
        </p:txBody>
      </p:sp>
      <p:sp>
        <p:nvSpPr>
          <p:cNvPr id="10" name="TH"/>
          <p:cNvSpPr/>
          <p:nvPr/>
        </p:nvSpPr>
        <p:spPr>
          <a:xfrm>
            <a:off x="457200" y="1350000"/>
            <a:ext cx="8229600" cy="34000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สถานการณ์                                    Technique                       ไฟล์ตัวอย่าง</a:t>
            </a:r>
            <a:endParaRPr lang="en-US"/>
          </a:p>
        </p:txBody>
      </p:sp>
      <p:sp>
        <p:nvSpPr>
          <p:cNvPr id="11" name="Row0"/>
          <p:cNvSpPr/>
          <p:nvPr/>
        </p:nvSpPr>
        <p:spPr>
          <a:xfrm>
            <a:off x="457200" y="1700000"/>
            <a:ext cx="8229600" cy="4800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เครื่องเสีย / demand spike ฉุกเฉิน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Re-optimize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06_reoptimize.mzn</a:t>
            </a:r>
            <a:endParaRPr lang="en-US"/>
          </a:p>
        </p:txBody>
      </p:sp>
      <p:sp>
        <p:nvSpPr>
          <p:cNvPr id="12" name="Row1"/>
          <p:cNvSpPr/>
          <p:nvPr/>
        </p:nvSpPr>
        <p:spPr>
          <a:xfrm>
            <a:off x="457200" y="2180000"/>
            <a:ext cx="8229600" cy="48000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ต้องการ plan เปลี่ยนน้อยที่สุด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Penalize Changes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07_penalize_changes.mzn</a:t>
            </a:r>
            <a:endParaRPr lang="en-US"/>
          </a:p>
        </p:txBody>
      </p:sp>
      <p:sp>
        <p:nvSpPr>
          <p:cNvPr id="13" name="Row2"/>
          <p:cNvSpPr/>
          <p:nvPr/>
        </p:nvSpPr>
        <p:spPr>
          <a:xfrm>
            <a:off x="457200" y="2660000"/>
            <a:ext cx="8229600" cy="4800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Horizon ยาว / demand ไม่แน่นอนไกล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Rolling Horizon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08_rolling_horizon.mzn</a:t>
            </a:r>
            <a:endParaRPr lang="en-US"/>
          </a:p>
        </p:txBody>
      </p:sp>
      <p:sp>
        <p:nvSpPr>
          <p:cNvPr id="14" name="Row3"/>
          <p:cNvSpPr/>
          <p:nvPr/>
        </p:nvSpPr>
        <p:spPr>
          <a:xfrm>
            <a:off x="457200" y="3140000"/>
            <a:ext cx="8229600" cy="48000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รับ order พิเศษ / overtime ได้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 Slack Variables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09_slack_variables.mzn</a:t>
            </a:r>
            <a:endParaRPr lang="en-US"/>
          </a:p>
        </p:txBody>
      </p:sp>
      <p:sp>
        <p:nvSpPr>
          <p:cNvPr id="15" name="Row4"/>
          <p:cNvSpPr/>
          <p:nvPr/>
        </p:nvSpPr>
        <p:spPr>
          <a:xfrm>
            <a:off x="457200" y="3620000"/>
            <a:ext cx="8229600" cy="4800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ตัดสินใจล่วงหน้าภายใต้ uncertainty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 Scenario Planning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10_scenario_planning.mzn</a:t>
            </a:r>
            <a:endParaRPr lang="en-US"/>
          </a:p>
        </p:txBody>
      </p:sp>
      <p:sp>
        <p:nvSpPr>
          <p:cNvPr id="16" name="Row5"/>
          <p:cNvSpPr/>
          <p:nvPr/>
        </p:nvSpPr>
        <p:spPr>
          <a:xfrm>
            <a:off x="457200" y="4100000"/>
            <a:ext cx="8229600" cy="48000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ปัญหาใหญ่ / solve ซ้ำบ่อย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6. Warm Starting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(เพิ่ม constraint hint)</a:t>
            </a:r>
            <a:endParaRPr lang="en-US"/>
          </a:p>
        </p:txBody>
      </p:sp>
      <p:sp>
        <p:nvSpPr>
          <p:cNvPr id="17" name="Tip"/>
          <p:cNvSpPr/>
          <p:nvPr/>
        </p:nvSpPr>
        <p:spPr>
          <a:xfrm>
            <a:off x="457200" y="4650000"/>
            <a:ext cx="82296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ในทางปฏิบัติ: ผสมหลาย technique เช่น Rolling Horizon + Penalize Changes + Slack Variables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Divider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L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3" name="BarR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4" name="Label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Integration Workshop</a:t>
            </a:r>
            <a:endParaRPr lang="en-US"/>
          </a:p>
        </p:txBody>
      </p:sp>
      <p:sp>
        <p:nvSpPr>
          <p:cNvPr id="5" name="T1"/>
          <p:cNvSpPr/>
          <p:nvPr/>
        </p:nvSpPr>
        <p:spPr>
          <a:xfrm>
            <a:off x="457200" y="1645920"/>
            <a:ext cx="64008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× MiniZinc</a:t>
            </a:r>
            <a:endParaRPr lang="en-US"/>
          </a:p>
        </p:txBody>
      </p:sp>
      <p:sp>
        <p:nvSpPr>
          <p:cNvPr id="6" name="T2"/>
          <p:cNvSpPr/>
          <p:nvPr/>
        </p:nvSpPr>
        <p:spPr>
          <a:xfrm>
            <a:off x="457200" y="2330000"/>
            <a:ext cx="64008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Excel × Matplotlib</a:t>
            </a:r>
            <a:endParaRPr lang="en-US"/>
          </a:p>
        </p:txBody>
      </p:sp>
      <p:sp>
        <p:nvSpPr>
          <p:cNvPr id="7" name="Sub"/>
          <p:cNvSpPr/>
          <p:nvPr/>
        </p:nvSpPr>
        <p:spPr>
          <a:xfrm>
            <a:off x="457200" y="3200000"/>
            <a:ext cx="6400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อ่านข้อมูลจาก Excel → Solve ด้วย MiniZinc → แสดงผล Gantt Chart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Why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00000"/>
            <a:ext cx="2000000" cy="31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57000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Python ร่วมกับ MiniZinc?</a:t>
            </a:r>
            <a:endParaRPr lang="en-US"/>
          </a:p>
        </p:txBody>
      </p:sp>
      <p:sp>
        <p:nvSpPr>
          <p:cNvPr id="4" name="Box0"/>
          <p:cNvSpPr/>
          <p:nvPr/>
        </p:nvSpPr>
        <p:spPr>
          <a:xfrm>
            <a:off x="60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21734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capstone_data.xlsx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 orders,
เวลา, เครื่องจักร</a:t>
            </a:r>
            <a:endParaRPr lang="en-US"/>
          </a:p>
        </p:txBody>
      </p:sp>
      <p:sp>
        <p:nvSpPr>
          <p:cNvPr id="5" name="Arrow"/>
          <p:cNvSpPr/>
          <p:nvPr/>
        </p:nvSpPr>
        <p:spPr>
          <a:xfrm>
            <a:off x="2302000" y="1620000"/>
            <a:ext cx="380000" cy="5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Box1"/>
          <p:cNvSpPr/>
          <p:nvPr/>
        </p:nvSpPr>
        <p:spPr>
          <a:xfrm>
            <a:off x="268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377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pandas + openpyxl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อ่านและแปลง
เป็น parameters</a:t>
            </a:r>
            <a:endParaRPr lang="en-US"/>
          </a:p>
        </p:txBody>
      </p:sp>
      <p:sp>
        <p:nvSpPr>
          <p:cNvPr id="7" name="Arrow"/>
          <p:cNvSpPr/>
          <p:nvPr/>
        </p:nvSpPr>
        <p:spPr>
          <a:xfrm>
            <a:off x="4382000" y="1620000"/>
            <a:ext cx="380000" cy="5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Box2"/>
          <p:cNvSpPr/>
          <p:nvPr/>
        </p:nvSpPr>
        <p:spPr>
          <a:xfrm>
            <a:off x="476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1A6B47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minizinc (Gecode)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หาตาราง
ที่ optimal</a:t>
            </a:r>
            <a:endParaRPr lang="en-US"/>
          </a:p>
        </p:txBody>
      </p:sp>
      <p:sp>
        <p:nvSpPr>
          <p:cNvPr id="9" name="Arrow"/>
          <p:cNvSpPr/>
          <p:nvPr/>
        </p:nvSpPr>
        <p:spPr>
          <a:xfrm>
            <a:off x="6462000" y="1620000"/>
            <a:ext cx="380000" cy="5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Box3"/>
          <p:cNvSpPr/>
          <p:nvPr/>
        </p:nvSpPr>
        <p:spPr>
          <a:xfrm>
            <a:off x="684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E34A33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matplotlib Gantt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แสดงผล Gantt
Chart สวยงาม</a:t>
            </a:r>
            <a:endParaRPr lang="en-US"/>
          </a:p>
        </p:txBody>
      </p:sp>
      <p:sp>
        <p:nvSpPr>
          <p:cNvPr id="11" name="StepL0"/>
          <p:cNvSpPr/>
          <p:nvPr/>
        </p:nvSpPr>
        <p:spPr>
          <a:xfrm>
            <a:off x="60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
ข้อมูล</a:t>
            </a:r>
            <a:endParaRPr lang="en-US"/>
          </a:p>
        </p:txBody>
      </p:sp>
      <p:sp>
        <p:nvSpPr>
          <p:cNvPr id="12" name="StepL1"/>
          <p:cNvSpPr/>
          <p:nvPr/>
        </p:nvSpPr>
        <p:spPr>
          <a:xfrm>
            <a:off x="268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
อ่าน+แปลง</a:t>
            </a:r>
            <a:endParaRPr lang="en-US"/>
          </a:p>
        </p:txBody>
      </p:sp>
      <p:sp>
        <p:nvSpPr>
          <p:cNvPr id="13" name="StepL2"/>
          <p:cNvSpPr/>
          <p:nvPr/>
        </p:nvSpPr>
        <p:spPr>
          <a:xfrm>
            <a:off x="476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
Solve</a:t>
            </a:r>
            <a:endParaRPr lang="en-US"/>
          </a:p>
        </p:txBody>
      </p:sp>
      <p:sp>
        <p:nvSpPr>
          <p:cNvPr id="14" name="StepL3"/>
          <p:cNvSpPr/>
          <p:nvPr/>
        </p:nvSpPr>
        <p:spPr>
          <a:xfrm>
            <a:off x="684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
แสดงผล</a:t>
            </a:r>
            <a:endParaRPr lang="en-US"/>
          </a:p>
        </p:txBody>
      </p:sp>
      <p:sp>
        <p:nvSpPr>
          <p:cNvPr id="15" name="Files"/>
          <p:cNvSpPr/>
          <p:nvPr/>
        </p:nvSpPr>
        <p:spPr>
          <a:xfrm>
            <a:off x="457200" y="3000000"/>
            <a:ext cx="8229600" cy="43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ไฟล์ในโฟลเดอร์ day6/capstone/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jobshop_model.mzn  |  capstone_data.xlsx  |  run_capstone.py</a:t>
            </a:r>
            <a:endParaRPr lang="en-US"/>
          </a:p>
        </p:txBody>
      </p:sp>
      <p:sp>
        <p:nvSpPr>
          <p:cNvPr id="16" name="B0"/>
          <p:cNvSpPr/>
          <p:nvPr/>
        </p:nvSpPr>
        <p:spPr>
          <a:xfrm>
            <a:off x="457200" y="3560000"/>
            <a:ext cx="2716533" cy="4400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Integration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ต่อกับ ERP, Excel, Database ขององค์กรได้</a:t>
            </a:r>
            <a:endParaRPr lang="en-US"/>
          </a:p>
        </p:txBody>
      </p:sp>
      <p:sp>
        <p:nvSpPr>
          <p:cNvPr id="17" name="B1"/>
          <p:cNvSpPr/>
          <p:nvPr/>
        </p:nvSpPr>
        <p:spPr>
          <a:xfrm>
            <a:off x="3213733" y="3560000"/>
            <a:ext cx="2716533" cy="4400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Automation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 schedule ใหม่อัตโนมัติทุกวันหรือทุก shift</a:t>
            </a:r>
            <a:endParaRPr lang="en-US"/>
          </a:p>
        </p:txBody>
      </p:sp>
      <p:sp>
        <p:nvSpPr>
          <p:cNvPr id="18" name="B2"/>
          <p:cNvSpPr/>
          <p:nvPr/>
        </p:nvSpPr>
        <p:spPr>
          <a:xfrm>
            <a:off x="5970266" y="3560000"/>
            <a:ext cx="2716533" cy="4400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Visualization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แสดงผลสวยงาม ผู้บริหารเข้าใจง่าย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Code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00000"/>
            <a:ext cx="2000000" cy="31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57000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อ่าน Excel → ส่งให้ MiniZinc</a:t>
            </a:r>
            <a:endParaRPr lang="en-US"/>
          </a:p>
        </p:txBody>
      </p:sp>
      <p:sp>
        <p:nvSpPr>
          <p:cNvPr id="4" name="LH"/>
          <p:cNvSpPr/>
          <p:nvPr/>
        </p:nvSpPr>
        <p:spPr>
          <a:xfrm>
            <a:off x="457200" y="1250000"/>
            <a:ext cx="38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STEP 1-2: อ่าน Excel + เตรียม parameters</a:t>
            </a:r>
            <a:endParaRPr lang="en-US"/>
          </a:p>
        </p:txBody>
      </p:sp>
      <p:sp>
        <p:nvSpPr>
          <p:cNvPr id="5" name="Code"/>
          <p:cNvSpPr/>
          <p:nvPr/>
        </p:nvSpPr>
        <p:spPr>
          <a:xfrm>
            <a:off x="457200" y="1550000"/>
            <a:ext cx="3800000" cy="2350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minizinc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อ่านข้อมูลจาก Excel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df_j = pd.read_excel('capstone_data.xlsx',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sheet_name='orders')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 = pd.read_excel('capstone_data.xlsx',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sheet_name='proc_times')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n_job, n_task, n_machine = 4, 3, 3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สร้าง dur[j,t,m] — flatten เป็น list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dur_flat = []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range(1, n_job+1):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 in range(1, n_task+1):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 = df_p[(df_p.JobID==j) &amp;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(df_p.TaskID==t)]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['M_A','M_B','M_C']: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dur_flat.append(int(row[m]))</a:t>
            </a:r>
            <a:endParaRPr lang="en-US"/>
          </a:p>
        </p:txBody>
      </p:sp>
      <p:sp>
        <p:nvSpPr>
          <p:cNvPr id="6" name="RH"/>
          <p:cNvSpPr/>
          <p:nvPr/>
        </p:nvSpPr>
        <p:spPr>
          <a:xfrm>
            <a:off x="4800000" y="1250000"/>
            <a:ext cx="40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STEP 3: รัน MiniZinc via Python API</a:t>
            </a:r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4800000" y="1550000"/>
            <a:ext cx="4000000" cy="2350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โหลด model และ solver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= minizinc.Model(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['jobshop_model.mzn'])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 = minizinc.Solver.lookup(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"gecode")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   = minizinc.Instance(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solver, model)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ส่ง parameters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inst["n_job"]     = n_job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inst["n_task"]    = n_task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inst["n_machine"] = n_machine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inst["dur"]       = dur_flat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Solve!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4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inst.solve()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9D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makespan = result["makespan"]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9D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  = result["start"]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9D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 = result["machine"]</a:t>
            </a:r>
            <a:endParaRPr lang="en-US"/>
          </a:p>
        </p:txBody>
      </p:sp>
      <p:sp>
        <p:nvSpPr>
          <p:cNvPr id="8" name="Note"/>
          <p:cNvSpPr/>
          <p:nvPr/>
        </p:nvSpPr>
        <p:spPr>
          <a:xfrm>
            <a:off x="457200" y="4050000"/>
            <a:ext cx="8229600" cy="36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minizinc pandas openpyxl matplotlib  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 ต้องติดตั้งแยก: https://www.minizinc.org/software.html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Code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00000"/>
            <a:ext cx="2000000" cy="31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57000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แสดง Gantt Chart + ทดลองรัน</a:t>
            </a:r>
            <a:endParaRPr lang="en-US"/>
          </a:p>
        </p:txBody>
      </p:sp>
      <p:sp>
        <p:nvSpPr>
          <p:cNvPr id="4" name="LH"/>
          <p:cNvSpPr/>
          <p:nvPr/>
        </p:nvSpPr>
        <p:spPr>
          <a:xfrm>
            <a:off x="457200" y="1230000"/>
            <a:ext cx="42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3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STEP 4: Gantt Chart ด้วย matplotlib</a:t>
            </a:r>
            <a:endParaRPr lang="en-US"/>
          </a:p>
        </p:txBody>
      </p:sp>
      <p:sp>
        <p:nvSpPr>
          <p:cNvPr id="5" name="Code"/>
          <p:cNvSpPr/>
          <p:nvPr/>
        </p:nvSpPr>
        <p:spPr>
          <a:xfrm>
            <a:off x="457200" y="1530000"/>
            <a:ext cx="4200000" cy="2500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matplotlib.patches as mp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["#2E86AB","#D97706",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"#1A6B47","#</a:t>
            </a:r>
            <a:r>
              <a:rPr lang="en-US" sz="100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DC2626"]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plt.subplots()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range(n_job):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 in range(n_task):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machine[j][t] - 1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dur[j][t][m]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ax.barh(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y=m, width=d,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left=start[j][t],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color=COLORS[j])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F4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plt.savefig('schedule_result.png')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F4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dirty="0"/>
          </a:p>
        </p:txBody>
      </p:sp>
      <p:sp>
        <p:nvSpPr>
          <p:cNvPr id="6" name="GanttBg"/>
          <p:cNvSpPr/>
          <p:nvPr/>
        </p:nvSpPr>
        <p:spPr>
          <a:xfrm>
            <a:off x="4800000" y="1230000"/>
            <a:ext cx="4001000" cy="2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7" name="GT"/>
          <p:cNvSpPr/>
          <p:nvPr/>
        </p:nvSpPr>
        <p:spPr>
          <a:xfrm>
            <a:off x="4900000" y="1310000"/>
            <a:ext cx="3801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Output (schedule_result.png)</a:t>
            </a:r>
            <a:endParaRPr lang="en-US"/>
          </a:p>
        </p:txBody>
      </p:sp>
      <p:sp>
        <p:nvSpPr>
          <p:cNvPr id="8" name="ML0"/>
          <p:cNvSpPr/>
          <p:nvPr/>
        </p:nvSpPr>
        <p:spPr>
          <a:xfrm>
            <a:off x="4880000" y="1610000"/>
            <a:ext cx="280000" cy="48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9" name="MLt0"/>
          <p:cNvSpPr/>
          <p:nvPr/>
        </p:nvSpPr>
        <p:spPr>
          <a:xfrm>
            <a:off x="4880000" y="1610000"/>
            <a:ext cx="2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M_A</a:t>
            </a:r>
            <a:endParaRPr lang="en-US"/>
          </a:p>
        </p:txBody>
      </p:sp>
      <p:sp>
        <p:nvSpPr>
          <p:cNvPr id="10" name="ML1"/>
          <p:cNvSpPr/>
          <p:nvPr/>
        </p:nvSpPr>
        <p:spPr>
          <a:xfrm>
            <a:off x="4880000" y="2170000"/>
            <a:ext cx="280000" cy="48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1" name="MLt1"/>
          <p:cNvSpPr/>
          <p:nvPr/>
        </p:nvSpPr>
        <p:spPr>
          <a:xfrm>
            <a:off x="4880000" y="2170000"/>
            <a:ext cx="2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M_B</a:t>
            </a:r>
            <a:endParaRPr lang="en-US"/>
          </a:p>
        </p:txBody>
      </p:sp>
      <p:sp>
        <p:nvSpPr>
          <p:cNvPr id="12" name="ML2"/>
          <p:cNvSpPr/>
          <p:nvPr/>
        </p:nvSpPr>
        <p:spPr>
          <a:xfrm>
            <a:off x="4880000" y="2730000"/>
            <a:ext cx="280000" cy="48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3" name="MLt2"/>
          <p:cNvSpPr/>
          <p:nvPr/>
        </p:nvSpPr>
        <p:spPr>
          <a:xfrm>
            <a:off x="4880000" y="2730000"/>
            <a:ext cx="2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M_C</a:t>
            </a:r>
            <a:endParaRPr lang="en-US"/>
          </a:p>
        </p:txBody>
      </p:sp>
      <p:sp>
        <p:nvSpPr>
          <p:cNvPr id="14" name="GB000"/>
          <p:cNvSpPr/>
          <p:nvPr/>
        </p:nvSpPr>
        <p:spPr>
          <a:xfrm>
            <a:off x="5200000" y="1610000"/>
            <a:ext cx="449570" cy="48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5" name="GB105"/>
          <p:cNvSpPr/>
          <p:nvPr/>
        </p:nvSpPr>
        <p:spPr>
          <a:xfrm>
            <a:off x="5659570" y="1610000"/>
            <a:ext cx="541484" cy="48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6" name="GB220"/>
          <p:cNvSpPr/>
          <p:nvPr/>
        </p:nvSpPr>
        <p:spPr>
          <a:xfrm>
            <a:off x="5200000" y="2730000"/>
            <a:ext cx="633398" cy="480000"/>
          </a:xfrm>
          <a:prstGeom prst="rect">
            <a:avLst/>
          </a:prstGeom>
          <a:solidFill>
            <a:srgbClr val="1A6B47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7" name="GB3011"/>
          <p:cNvSpPr/>
          <p:nvPr/>
        </p:nvSpPr>
        <p:spPr>
          <a:xfrm>
            <a:off x="6211054" y="1610000"/>
            <a:ext cx="633398" cy="48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8" name="GB015"/>
          <p:cNvSpPr/>
          <p:nvPr/>
        </p:nvSpPr>
        <p:spPr>
          <a:xfrm>
            <a:off x="5659570" y="2170000"/>
            <a:ext cx="541484" cy="48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9" name="GB2111"/>
          <p:cNvSpPr/>
          <p:nvPr/>
        </p:nvSpPr>
        <p:spPr>
          <a:xfrm>
            <a:off x="6211054" y="2170000"/>
            <a:ext cx="449570" cy="480000"/>
          </a:xfrm>
          <a:prstGeom prst="rect">
            <a:avLst/>
          </a:prstGeom>
          <a:solidFill>
            <a:srgbClr val="1A6B47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0" name="GB1116"/>
          <p:cNvSpPr/>
          <p:nvPr/>
        </p:nvSpPr>
        <p:spPr>
          <a:xfrm>
            <a:off x="6670624" y="2170000"/>
            <a:ext cx="633398" cy="48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1" name="GB3123"/>
          <p:cNvSpPr/>
          <p:nvPr/>
        </p:nvSpPr>
        <p:spPr>
          <a:xfrm>
            <a:off x="7314022" y="2170000"/>
            <a:ext cx="725312" cy="48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2" name="GB0011"/>
          <p:cNvSpPr/>
          <p:nvPr/>
        </p:nvSpPr>
        <p:spPr>
          <a:xfrm>
            <a:off x="6211054" y="1610000"/>
            <a:ext cx="357656" cy="48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3" name="GB2016"/>
          <p:cNvSpPr/>
          <p:nvPr/>
        </p:nvSpPr>
        <p:spPr>
          <a:xfrm>
            <a:off x="6670624" y="1610000"/>
            <a:ext cx="265742" cy="480000"/>
          </a:xfrm>
          <a:prstGeom prst="rect">
            <a:avLst/>
          </a:prstGeom>
          <a:solidFill>
            <a:srgbClr val="1A6B47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4" name="GB1023"/>
          <p:cNvSpPr/>
          <p:nvPr/>
        </p:nvSpPr>
        <p:spPr>
          <a:xfrm>
            <a:off x="7314022" y="1610000"/>
            <a:ext cx="449570" cy="48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5" name="GB3031"/>
          <p:cNvSpPr/>
          <p:nvPr/>
        </p:nvSpPr>
        <p:spPr>
          <a:xfrm>
            <a:off x="8049334" y="1610000"/>
            <a:ext cx="541484" cy="48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6" name="MSLine"/>
          <p:cNvSpPr/>
          <p:nvPr/>
        </p:nvSpPr>
        <p:spPr>
          <a:xfrm>
            <a:off x="8600818" y="1600000"/>
            <a:ext cx="30000" cy="219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7" name="MSLabel"/>
          <p:cNvSpPr/>
          <p:nvPr/>
        </p:nvSpPr>
        <p:spPr>
          <a:xfrm>
            <a:off x="8640818" y="1610000"/>
            <a:ext cx="5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min</a:t>
            </a:r>
            <a:endParaRPr lang="en-US"/>
          </a:p>
        </p:txBody>
      </p:sp>
      <p:sp>
        <p:nvSpPr>
          <p:cNvPr id="29" name="Handson"/>
          <p:cNvSpPr/>
          <p:nvPr/>
        </p:nvSpPr>
        <p:spPr>
          <a:xfrm>
            <a:off x="457200" y="4150000"/>
            <a:ext cx="8229600" cy="68000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Hands-on: รันเลย!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day6/capstone/</a:t>
            </a:r>
            <a:endParaRPr lang="en-US"/>
          </a:p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run_capstone.py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ลองแก้ capstone_data.xlsx → เพิ่ม order ใหม่ → รันใหม่ → Gantt chart เปลี่ยนยังไง?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สรุปหลักสูตร 6 วัน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859536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133856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constraint, solve satisfy/minimize/maximize, data 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57200" y="149961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 &amp; Enums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828800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forall, sum, array indexing, enum types, bool2int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523744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alldifferent, cumulative, table, disjunctive, Job Shop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57200" y="2889504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2944368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18688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predicate, Flexible Job Shop, Rostering, regular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584448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57200" y="358444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639312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913632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circuit/TSP/VRP, bin_packing_capa, Knapsack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457200" y="4279392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51560" y="4334256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608576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bounds, redundant constraints, debugging, Capstone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สรุปทุก Pattern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Global Constraints ทั้งหมด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49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Constraint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ใช้กับ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ตัวอย่าง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alldifferent(x)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globals.mzn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Assignment, no-dup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alldifferent(assigned)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cumulative(s,d,r,b)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cumulative.mzn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cumulative(start,dur,workers,cap)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disjunctive(s,d)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disjunctive.mzn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no-overlap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disjunctive([s[j,t]|j in J],[d[j,t]|j in J])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table(x,tuples)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Lookup/spec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table([mat,hard,wt,cost],mat_table)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regular(seq,tr,q0,F)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regular.mzn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regular([roster[e,d]|d in D],tr,S1,STATE)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circuit(next)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circuit.mzn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TSP/VRP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circuit(next)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bin_packing_capa(c,b,w)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bin_packing_capa.mzn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packing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bin_packing_capa(cap,bin_of,sizes)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Quick Ref: All Constraints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ก่อน Submit โมเดล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📐  Bounds แน่น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ไม่ใช้ 0..9999 — คำนวณ lb/ub จากข้อมูลจริง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0690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64008" cy="10789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800600" y="11704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✅  solve satisfy ก่อน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ทดสอบว่า model ถูกก่อนเพิ่ม objective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40690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64008" cy="107899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02920" y="2359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🔢  ข้อมูลขนาดเล็กก่อน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ทดสอบกับ n=2,3 ก่อน scale ขึ้น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40690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663440" y="2267712"/>
            <a:ext cx="64008" cy="107899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00600" y="2359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🔍  ตรวจ output มือ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7432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 resource usage เทียบกับ constraint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40690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64008" cy="10789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02920" y="35478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💬  มี assert() ตรวจ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error ที่ชัดเจนถ้า data ผิด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56432"/>
            <a:ext cx="40690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4663440" y="3456432"/>
            <a:ext cx="64008" cy="107899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800600" y="35478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📖  Comment อธิบาย constraint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9319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คนอื่น (หรือตัวเองในอีก 1 เดือน) อ่านรู้เรื่อง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Modelling Checklist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ขั้นต่อไป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ขั้นต่อไปหลังอบรม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749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แหล่งเรียนรู้เพิ่มเติม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docs.minizinc.dev — Official tutorial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minizinc.org/challenge — ตัวอย่างโมเดลจาก competition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MiniZinc Playground — ทดลองออนไลน์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1868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+ minizinc package — เชื่อม automation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Gurobi/CPLEX — สำหรับปัญหาใหญ่ระดับ enterprise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069080" cy="374904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นำไปใช้จริง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57276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นำ Capstone model ไปทดสอบกับข้อมูลจริง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214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เพิ่ม solver เชิงพาณิชย์ถ้าปัญหาใหญ่ขึ้น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7004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ขยาย model เพิ่ม constraint ใหม่ตามความต้องการ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1868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แชร์ model กับทีม — ทำ documentation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6732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ติดต่อวิทยากรถ้าติดปัญหา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ขั้นต่อไป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3931920" y="548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ขอแสดงความยินดี!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ท่านสามารถใช้ MiniZinc แก้ปัญหา Optimization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ในงานอุตสาหกรรมได้แล้ว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6400800" cy="36576"/>
          </a:xfrm>
          <a:prstGeom prst="rect">
            <a:avLst/>
          </a:prstGeom>
          <a:solidFill>
            <a:srgbClr val="2E507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169164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292608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forall/sum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6052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16052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39496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940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62940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Constraints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6384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786384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5720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alldifferent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9164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169164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292608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052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416052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39496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2940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662940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Packing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6384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786384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014216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457200" y="4014216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docs.minizinc.dev  |  minizinc.org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Effective Modelling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TIGHT BOUNDS 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total = sum(j,t)(d[j,t]);      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upper bound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lb    = max(j)(sum(t)(d[j,t]));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lb..total: makespan;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REDUNDANT CONSTRAINTS 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bound: objective &gt;= sum(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row_min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(w)(min(t)(cost[w,t])) &lt;= sum(w)(cost[w,assigned[w]]);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SYMMETRY BREAKING (examples) 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Bin Packing: bin_of[i] &lt;= bin_of[i+1]+1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1..n-1)(bin_of[i] &lt;= bin_of[i+1]+1);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Job Shop: ถ้า 2 jobs ทำ task เดียวกันพร้อมกัน force j&lt;k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Assignment: worker 1 ได้ task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หมายเลขน้อยที่สุด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assigned[1] = min(TASKS);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อาจเร็วขึ้น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Quick Ref: Effective Modelling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Debugging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UNSATISFIABLE 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เพิ่ม constraint ทีละอย่าง: เริ่ม solve satisfy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ก่อน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satisfy;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ไม่ minimize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ก่อน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ลด n: เริ่มด้วยข้อมูล 2-3 items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Comment constraint ออก แล้วเพิ่มทีละอย่าง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SLOW SOLVER ───────────────────────────────────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คำนวณ bounds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แทน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hardcode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ub = sum(j,t)(d[j,t]);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แทน var 0..999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เพิ่ม symmetry breaking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ลอง solver อื่น: --solver chuffed หรือ or-tools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WRONG RESULTS 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เพิ่ม assert() ตรวจ input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assert(n &gt; 0, "n must be positive");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เพิ่ม output ตรวจ intermediate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["resource_used = ", show(sum(p)(c[p,r]*x[p])), "\n"];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Quick Ref: Debugging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Library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ตัดสินใจเลือก Pattern ให้ถูก</a:t>
            </a:r>
            <a:endParaRPr lang="en-US" sz="2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4904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ต้องการ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วันที่เรียน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ทุกค่าต้องต่างกัน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alldifferent(x)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ทรัพยากรไม่เกิน cap ทุกเวลา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cumulative(s,d,r,cap)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เครื่องทีละ 1 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disjunctive(s,d)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เลือกจาก tuple ที่กำหนด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table(x, allowed)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บังคับ shift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regular(seq,tr,q0,F)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Hamiltonian cycle (TSP/VRP)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circuit(next)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จัดสิ่งของลงกล่อง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bin_packing_capa(cap,b,w)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 item maximize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0/1 Knapsack หรือ var set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ลด duplicate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Symmetry breaking constraint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5/6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เพิ่ม pruning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Redundant constraints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Pattern Library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— Effective Modelling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var 0..1000: makespan  % hardcode bound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3533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int: ub = sum(j,t)(d[j,t]);  var lb..ub: makespan;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ที่ดีคำนวณได้เสมอ — ไม่ต้อง guess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0352" y="2029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solve minimize cost;  % ก่อนทดสอบ satisfy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267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solve satisfy;  % ทดสอบก่อน, เปลี่ยนเป็น minimize ทีหลัง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 minimize โดยไม่ตรวจว่า model ถูก → UNSAT หาสาเหตุยาก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" y="2944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% ไม่มี comment อธิบาย constraint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1821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% Demand: กะเช้าต้องมีพนักงานอย่างน้อย req_morning คน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474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ที่ไม่มี comment อ่านยากมาก โดยเฉพาะเมื่อกลับมาแก้ทีหลัง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30352" y="38587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forall(i,j in 1..n where i&lt;j)(sym_break[i,j])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0965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% ตรวจว่า symmetry breaking ไม่ตัด optimal solution ออก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breaking ผิดอาจตัดคำตอบที่ดีออก — ต้องระวัง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Common Mistakes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ที่รองรับใน MiniZinc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84117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Solver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ประเภท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เหมาะกับ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(default)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Scheduling, Rostering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gecode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Chuffed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(lazy)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ใหญ่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chuffed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OR-Tools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CP+MIP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problems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org.minizinc.ortools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(free)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Linear/Integer Programming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highs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COIN-BC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(free)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Programming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cbc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Gurobi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(commercial)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LP/MIP ขนาดใหญ่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gurobi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05072"/>
            <a:ext cx="8412480" cy="80467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4"/>
          <p:cNvSpPr/>
          <p:nvPr/>
        </p:nvSpPr>
        <p:spPr>
          <a:xfrm>
            <a:off x="365760" y="400507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530352" y="4041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แนะนำสำหรับผู้เริ่มต้น: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43159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Gecode (default) สำหรับปัญหาทั่วไป  |  Chuffed สำหรับ Scheduling  |  HiGHS/COIN-BC สำหรับปัญหา Linear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Solver Comparison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164592"/>
            <a:ext cx="685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3" name="HeaderText"/>
          <p:cNvSpPr/>
          <p:nvPr/>
        </p:nvSpPr>
        <p:spPr>
          <a:xfrm>
            <a:off x="685800" y="164592"/>
            <a:ext cx="40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6</a:t>
            </a:r>
            <a:endParaRPr lang="en-US"/>
          </a:p>
        </p:txBody>
      </p:sp>
      <p:sp>
        <p:nvSpPr>
          <p:cNvPr id="4" name="TitleBg"/>
          <p:cNvSpPr/>
          <p:nvPr/>
        </p:nvSpPr>
        <p:spPr>
          <a:xfrm>
            <a:off x="0" y="457200"/>
            <a:ext cx="9144000" cy="50292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6 — Effective Modelling &amp; Dynamic Re-optimization</a:t>
            </a:r>
            <a:endParaRPr lang="en-US"/>
          </a:p>
        </p:txBody>
      </p:sp>
      <p:sp>
        <p:nvSpPr>
          <p:cNvPr id="5" name="CardBg0"/>
          <p:cNvSpPr/>
          <p:nvPr/>
        </p:nvSpPr>
        <p:spPr>
          <a:xfrm>
            <a:off x="457200" y="1080000"/>
            <a:ext cx="8229600" cy="568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6" name="Bar0"/>
          <p:cNvSpPr/>
          <p:nvPr/>
        </p:nvSpPr>
        <p:spPr>
          <a:xfrm>
            <a:off x="457200" y="1080000"/>
            <a:ext cx="64008" cy="5688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7" name="CardTitle0"/>
          <p:cNvSpPr/>
          <p:nvPr/>
        </p:nvSpPr>
        <p:spPr>
          <a:xfrm>
            <a:off x="612648" y="11400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Tight Bounds — solver เร็วขึ้น</a:t>
            </a:r>
            <a:endParaRPr lang="en-US"/>
          </a:p>
        </p:txBody>
      </p:sp>
      <p:sp>
        <p:nvSpPr>
          <p:cNvPr id="8" name="CardBody0"/>
          <p:cNvSpPr/>
          <p:nvPr/>
        </p:nvSpPr>
        <p:spPr>
          <a:xfrm>
            <a:off x="612648" y="13900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= min possible  |  ub = max reasonable  |  var lb..ub แทน var 0..999</a:t>
            </a:r>
            <a:endParaRPr lang="en-US"/>
          </a:p>
        </p:txBody>
      </p:sp>
      <p:sp>
        <p:nvSpPr>
          <p:cNvPr id="9" name="CardBg1"/>
          <p:cNvSpPr/>
          <p:nvPr/>
        </p:nvSpPr>
        <p:spPr>
          <a:xfrm>
            <a:off x="457200" y="1678800"/>
            <a:ext cx="8229600" cy="568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0" name="Bar1"/>
          <p:cNvSpPr/>
          <p:nvPr/>
        </p:nvSpPr>
        <p:spPr>
          <a:xfrm>
            <a:off x="457200" y="1678800"/>
            <a:ext cx="64008" cy="56880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1" name="CardTitle1"/>
          <p:cNvSpPr/>
          <p:nvPr/>
        </p:nvSpPr>
        <p:spPr>
          <a:xfrm>
            <a:off x="612648" y="17388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Redundant Constraints — prune เพิ่ม</a:t>
            </a:r>
            <a:endParaRPr lang="en-US"/>
          </a:p>
        </p:txBody>
      </p:sp>
      <p:sp>
        <p:nvSpPr>
          <p:cNvPr id="12" name="CardBody1"/>
          <p:cNvSpPr/>
          <p:nvPr/>
        </p:nvSpPr>
        <p:spPr>
          <a:xfrm>
            <a:off x="612648" y="19888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ที่ซ้ำซ้อนทางตรรกะ แต่ช่วย solver ตัด branch ได้เร็ว</a:t>
            </a:r>
            <a:endParaRPr lang="en-US"/>
          </a:p>
        </p:txBody>
      </p:sp>
      <p:sp>
        <p:nvSpPr>
          <p:cNvPr id="13" name="CardBg2"/>
          <p:cNvSpPr/>
          <p:nvPr/>
        </p:nvSpPr>
        <p:spPr>
          <a:xfrm>
            <a:off x="457200" y="2277600"/>
            <a:ext cx="8229600" cy="568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4" name="Bar2"/>
          <p:cNvSpPr/>
          <p:nvPr/>
        </p:nvSpPr>
        <p:spPr>
          <a:xfrm>
            <a:off x="457200" y="2277600"/>
            <a:ext cx="64008" cy="5688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5" name="CardTitle2"/>
          <p:cNvSpPr/>
          <p:nvPr/>
        </p:nvSpPr>
        <p:spPr>
          <a:xfrm>
            <a:off x="612648" y="23376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Debugging: 3 ประเภท</a:t>
            </a:r>
            <a:endParaRPr lang="en-US"/>
          </a:p>
        </p:txBody>
      </p:sp>
      <p:sp>
        <p:nvSpPr>
          <p:cNvPr id="16" name="CardBody2"/>
          <p:cNvSpPr/>
          <p:nvPr/>
        </p:nvSpPr>
        <p:spPr>
          <a:xfrm>
            <a:off x="612648" y="25876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 → เพิ่ม constraint ทีละอย่าง | Slow → bounds + redundant | Wrong → ตรวจ output มือ</a:t>
            </a:r>
            <a:endParaRPr lang="en-US"/>
          </a:p>
        </p:txBody>
      </p:sp>
      <p:sp>
        <p:nvSpPr>
          <p:cNvPr id="17" name="CardBg3"/>
          <p:cNvSpPr/>
          <p:nvPr/>
        </p:nvSpPr>
        <p:spPr>
          <a:xfrm>
            <a:off x="457200" y="2876400"/>
            <a:ext cx="8229600" cy="568800"/>
          </a:xfrm>
          <a:prstGeom prst="rect">
            <a:avLst/>
          </a:prstGeom>
          <a:solidFill>
            <a:srgbClr val="EE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8" name="Bar3"/>
          <p:cNvSpPr/>
          <p:nvPr/>
        </p:nvSpPr>
        <p:spPr>
          <a:xfrm>
            <a:off x="457200" y="2876400"/>
            <a:ext cx="64008" cy="56880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19" name="CardTitle3"/>
          <p:cNvSpPr/>
          <p:nvPr/>
        </p:nvSpPr>
        <p:spPr>
          <a:xfrm>
            <a:off x="612648" y="29364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Dynamic Re-optimization — 6 เทคนิค</a:t>
            </a:r>
            <a:endParaRPr lang="en-US"/>
          </a:p>
        </p:txBody>
      </p:sp>
      <p:sp>
        <p:nvSpPr>
          <p:cNvPr id="20" name="CardBody3"/>
          <p:cNvSpPr/>
          <p:nvPr/>
        </p:nvSpPr>
        <p:spPr>
          <a:xfrm>
            <a:off x="612648" y="31864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 / Penalize / Rolling Horizon / Slack / Scenario Planning / Warm Start</a:t>
            </a:r>
            <a:endParaRPr lang="en-US"/>
          </a:p>
        </p:txBody>
      </p:sp>
      <p:sp>
        <p:nvSpPr>
          <p:cNvPr id="21" name="CardBg4"/>
          <p:cNvSpPr/>
          <p:nvPr/>
        </p:nvSpPr>
        <p:spPr>
          <a:xfrm>
            <a:off x="457200" y="3475200"/>
            <a:ext cx="8229600" cy="568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2" name="Bar4"/>
          <p:cNvSpPr/>
          <p:nvPr/>
        </p:nvSpPr>
        <p:spPr>
          <a:xfrm>
            <a:off x="457200" y="3475200"/>
            <a:ext cx="64008" cy="5688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</a:p>
        </p:txBody>
      </p:sp>
      <p:sp>
        <p:nvSpPr>
          <p:cNvPr id="23" name="CardTitle4"/>
          <p:cNvSpPr/>
          <p:nvPr/>
        </p:nvSpPr>
        <p:spPr>
          <a:xfrm>
            <a:off x="612648" y="35352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Capstone = นำไปใช้จริง</a:t>
            </a:r>
            <a:endParaRPr lang="en-US"/>
          </a:p>
        </p:txBody>
      </p:sp>
      <p:sp>
        <p:nvSpPr>
          <p:cNvPr id="24" name="CardBody4"/>
          <p:cNvSpPr/>
          <p:nvPr/>
        </p:nvSpPr>
        <p:spPr>
          <a:xfrm>
            <a:off x="612648" y="37852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ปัญหาจริงขององค์กร → MiniZinc model → ผลลัพธ์ที่ดีขึ้น</a:t>
            </a:r>
            <a:endParaRPr lang="en-US"/>
          </a:p>
        </p:txBody>
      </p:sp>
      <p:sp>
        <p:nvSpPr>
          <p:cNvPr id="25" name="CongratsBg"/>
          <p:cNvSpPr/>
          <p:nvPr/>
        </p:nvSpPr>
        <p:spPr>
          <a:xfrm>
            <a:off x="457200" y="4114000"/>
            <a:ext cx="8229600" cy="201168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ยินดีด้วย! ท่านจบหลักสูตร MiniZinc for Industrial Optimization แล้ว</a:t>
            </a:r>
            <a:endParaRPr lang="en-US"/>
          </a:p>
        </p:txBody>
      </p:sp>
      <p:sp>
        <p:nvSpPr>
          <p:cNvPr id="26" name="FooterL"/>
          <p:cNvSpPr/>
          <p:nvPr/>
        </p:nvSpPr>
        <p:spPr>
          <a:xfrm>
            <a:off x="457200" y="4883500"/>
            <a:ext cx="500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</a:t>
            </a:r>
            <a:endParaRPr lang="en-US"/>
          </a:p>
        </p:txBody>
      </p:sp>
      <p:sp>
        <p:nvSpPr>
          <p:cNvPr id="27" name="FooterR"/>
          <p:cNvSpPr/>
          <p:nvPr/>
        </p:nvSpPr>
        <p:spPr>
          <a:xfrm>
            <a:off x="7772400" y="48835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4546</Words>
  <Application>Microsoft Macintosh PowerPoint</Application>
  <PresentationFormat>On-screen Show (16:9)</PresentationFormat>
  <Paragraphs>671</Paragraphs>
  <Slides>32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6 - Effective Modelling &amp; Capstone</dc:title>
  <dc:subject>PptxGenJS Presentation</dc:subject>
  <dc:creator>PptxGenJS</dc:creator>
  <cp:lastModifiedBy>Vacharapat METTANANT</cp:lastModifiedBy>
  <cp:revision>6</cp:revision>
  <dcterms:created xsi:type="dcterms:W3CDTF">2026-06-05T02:48:23Z</dcterms:created>
  <dcterms:modified xsi:type="dcterms:W3CDTF">2026-07-17T13:46:24Z</dcterms:modified>
</cp:coreProperties>
</file>