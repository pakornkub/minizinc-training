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55" d="100"/>
          <a:sy n="155" d="100"/>
        </p:scale>
        <p:origin x="424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3173856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3C5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3" name="Shape 1"/>
          <p:cNvSpPr/>
          <p:nvPr/>
        </p:nvSpPr>
        <p:spPr>
          <a:xfrm>
            <a:off x="6858000" y="0"/>
            <a:ext cx="2286000" cy="5143500"/>
          </a:xfrm>
          <a:prstGeom prst="rect">
            <a:avLst/>
          </a:prstGeom>
          <a:solidFill>
            <a:srgbClr val="162F48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4" name="Shape 2"/>
          <p:cNvSpPr/>
          <p:nvPr/>
        </p:nvSpPr>
        <p:spPr>
          <a:xfrm>
            <a:off x="6858000" y="0"/>
            <a:ext cx="36576" cy="5143500"/>
          </a:xfrm>
          <a:prstGeom prst="rect">
            <a:avLst/>
          </a:prstGeom>
          <a:solidFill>
            <a:srgbClr val="2E86AB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วันที่ 6 — วันสุดท้าย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57200" y="1005840"/>
            <a:ext cx="640080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Effective Modelling</a:t>
            </a:r>
            <a:endParaRPr lang="en-US" sz="4000" dirty="0"/>
          </a:p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&amp; Capstone Project</a:t>
            </a:r>
            <a:endParaRPr lang="en-US" sz="4000" dirty="0"/>
          </a:p>
        </p:txBody>
      </p:sp>
      <p:sp>
        <p:nvSpPr>
          <p:cNvPr id="7" name="Shape 5"/>
          <p:cNvSpPr/>
          <p:nvPr/>
        </p:nvSpPr>
        <p:spPr>
          <a:xfrm>
            <a:off x="457200" y="2834640"/>
            <a:ext cx="4114800" cy="36576"/>
          </a:xfrm>
          <a:prstGeom prst="rect">
            <a:avLst/>
          </a:prstGeom>
          <a:solidFill>
            <a:srgbClr val="2E86AB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8" name="Text 6"/>
          <p:cNvSpPr/>
          <p:nvPr/>
        </p:nvSpPr>
        <p:spPr>
          <a:xfrm>
            <a:off x="457200" y="2944368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92BA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Bounds · Redundant Constraints · Debugging · นำไปใช้จริง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57200" y="3566160"/>
            <a:ext cx="1920240" cy="822960"/>
          </a:xfrm>
          <a:prstGeom prst="rect">
            <a:avLst/>
          </a:prstGeom>
          <a:solidFill>
            <a:srgbClr val="203D5A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0" name="Text 8"/>
          <p:cNvSpPr/>
          <p:nvPr/>
        </p:nvSpPr>
        <p:spPr>
          <a:xfrm>
            <a:off x="457200" y="3611880"/>
            <a:ext cx="1920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🎯 Tight Bounds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3977640"/>
            <a:ext cx="1920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solver เร็วขึ้น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2606040" y="3566160"/>
            <a:ext cx="1920240" cy="822960"/>
          </a:xfrm>
          <a:prstGeom prst="rect">
            <a:avLst/>
          </a:prstGeom>
          <a:solidFill>
            <a:srgbClr val="203D5A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3" name="Text 11"/>
          <p:cNvSpPr/>
          <p:nvPr/>
        </p:nvSpPr>
        <p:spPr>
          <a:xfrm>
            <a:off x="2606040" y="3611880"/>
            <a:ext cx="1920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➕ Redundant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606040" y="3977640"/>
            <a:ext cx="1920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prune เพิ่ม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754880" y="3566160"/>
            <a:ext cx="1920240" cy="822960"/>
          </a:xfrm>
          <a:prstGeom prst="rect">
            <a:avLst/>
          </a:prstGeom>
          <a:solidFill>
            <a:srgbClr val="203D5A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6" name="Text 14"/>
          <p:cNvSpPr/>
          <p:nvPr/>
        </p:nvSpPr>
        <p:spPr>
          <a:xfrm>
            <a:off x="4754880" y="3611880"/>
            <a:ext cx="1920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🐛 Debug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754880" y="3977640"/>
            <a:ext cx="1920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แก้ปัญหาเป็น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903720" y="3566160"/>
            <a:ext cx="1920240" cy="822960"/>
          </a:xfrm>
          <a:prstGeom prst="rect">
            <a:avLst/>
          </a:prstGeom>
          <a:solidFill>
            <a:srgbClr val="203D5A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9" name="Text 17"/>
          <p:cNvSpPr/>
          <p:nvPr/>
        </p:nvSpPr>
        <p:spPr>
          <a:xfrm>
            <a:off x="6903720" y="3611880"/>
            <a:ext cx="1920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🏆 Capstone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903720" y="3977640"/>
            <a:ext cx="1920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โมเดลจริง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2011680" cy="256032"/>
          </a:xfrm>
          <a:prstGeom prst="rect">
            <a:avLst/>
          </a:prstGeom>
          <a:solidFill>
            <a:srgbClr val="2E86AB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3" name="Text 1"/>
          <p:cNvSpPr/>
          <p:nvPr/>
        </p:nvSpPr>
        <p:spPr>
          <a:xfrm>
            <a:off x="365760" y="164592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45720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กำหนดการวันที่ 6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54864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6" name="Shape 4"/>
          <p:cNvSpPr/>
          <p:nvPr/>
        </p:nvSpPr>
        <p:spPr>
          <a:xfrm>
            <a:off x="365760" y="1078992"/>
            <a:ext cx="64008" cy="548640"/>
          </a:xfrm>
          <a:prstGeom prst="rect">
            <a:avLst/>
          </a:prstGeom>
          <a:solidFill>
            <a:srgbClr val="2E86AB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7" name="Text 5"/>
          <p:cNvSpPr/>
          <p:nvPr/>
        </p:nvSpPr>
        <p:spPr>
          <a:xfrm>
            <a:off x="502920" y="1078992"/>
            <a:ext cx="1371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09:00–09:45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938528" y="1078992"/>
            <a:ext cx="3017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📐 Variable Bounds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029200" y="1078992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tight bounds ช่วย solver อย่างไร — before/after ตัวอย่าง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65760" y="1700784"/>
            <a:ext cx="8412480" cy="548640"/>
          </a:xfrm>
          <a:prstGeom prst="rect">
            <a:avLst/>
          </a:prstGeom>
          <a:solidFill>
            <a:srgbClr val="F0F4F8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1" name="Shape 9"/>
          <p:cNvSpPr/>
          <p:nvPr/>
        </p:nvSpPr>
        <p:spPr>
          <a:xfrm>
            <a:off x="365760" y="1700784"/>
            <a:ext cx="64008" cy="548640"/>
          </a:xfrm>
          <a:prstGeom prst="rect">
            <a:avLst/>
          </a:prstGeom>
          <a:solidFill>
            <a:srgbClr val="2E86AB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2" name="Text 10"/>
          <p:cNvSpPr/>
          <p:nvPr/>
        </p:nvSpPr>
        <p:spPr>
          <a:xfrm>
            <a:off x="502920" y="1700784"/>
            <a:ext cx="1371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09:45–10:30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1938528" y="1700784"/>
            <a:ext cx="3017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➕ Redundant Constraints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5029200" y="1700784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ทำไม constraint ที่ 'ซ้ำซ้อน' ช่วยได้ — lower bound tricks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65760" y="2322576"/>
            <a:ext cx="8412480" cy="54864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6" name="Shape 14"/>
          <p:cNvSpPr/>
          <p:nvPr/>
        </p:nvSpPr>
        <p:spPr>
          <a:xfrm>
            <a:off x="365760" y="2322576"/>
            <a:ext cx="64008" cy="548640"/>
          </a:xfrm>
          <a:prstGeom prst="rect">
            <a:avLst/>
          </a:prstGeom>
          <a:solidFill>
            <a:srgbClr val="2E86AB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7" name="Text 15"/>
          <p:cNvSpPr/>
          <p:nvPr/>
        </p:nvSpPr>
        <p:spPr>
          <a:xfrm>
            <a:off x="502920" y="2322576"/>
            <a:ext cx="1371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10:30–11:00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1938528" y="2322576"/>
            <a:ext cx="3017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🐛 Debugging Workflow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5029200" y="2322576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UNSAT → Slow → Wrong Results — ขั้นตอนแก้ปัญหา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65760" y="2944368"/>
            <a:ext cx="8412480" cy="548640"/>
          </a:xfrm>
          <a:prstGeom prst="rect">
            <a:avLst/>
          </a:prstGeom>
          <a:solidFill>
            <a:srgbClr val="FEF3E2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21" name="Shape 19"/>
          <p:cNvSpPr/>
          <p:nvPr/>
        </p:nvSpPr>
        <p:spPr>
          <a:xfrm>
            <a:off x="365760" y="2944368"/>
            <a:ext cx="64008" cy="548640"/>
          </a:xfrm>
          <a:prstGeom prst="rect">
            <a:avLst/>
          </a:prstGeom>
          <a:solidFill>
            <a:srgbClr val="F18F01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22" name="Text 20"/>
          <p:cNvSpPr/>
          <p:nvPr/>
        </p:nvSpPr>
        <p:spPr>
          <a:xfrm>
            <a:off x="502920" y="2944368"/>
            <a:ext cx="1371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11:00–12:00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1938528" y="2944368"/>
            <a:ext cx="3017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18F0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🔨 Workshop 6A — Debugging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5029200" y="2944368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กรณีจริง: UNSAT, Slow, Wrong — หาและแก้ไขปัญหา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365760" y="3566160"/>
            <a:ext cx="8412480" cy="548640"/>
          </a:xfrm>
          <a:prstGeom prst="rect">
            <a:avLst/>
          </a:prstGeom>
          <a:solidFill>
            <a:srgbClr val="FEF3C7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26" name="Shape 24"/>
          <p:cNvSpPr/>
          <p:nvPr/>
        </p:nvSpPr>
        <p:spPr>
          <a:xfrm>
            <a:off x="365760" y="3566160"/>
            <a:ext cx="64008" cy="548640"/>
          </a:xfrm>
          <a:prstGeom prst="rect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27" name="Text 25"/>
          <p:cNvSpPr/>
          <p:nvPr/>
        </p:nvSpPr>
        <p:spPr>
          <a:xfrm>
            <a:off x="502920" y="3566160"/>
            <a:ext cx="1371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13:00–15:30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938528" y="3566160"/>
            <a:ext cx="3017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🏆 Capstone Project</a:t>
            </a:r>
            <a:endParaRPr lang="en-US" sz="1250" dirty="0"/>
          </a:p>
        </p:txBody>
      </p:sp>
      <p:sp>
        <p:nvSpPr>
          <p:cNvPr id="29" name="Text 27"/>
          <p:cNvSpPr/>
          <p:nvPr/>
        </p:nvSpPr>
        <p:spPr>
          <a:xfrm>
            <a:off x="5029200" y="356616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สร้างโมเดลจากปัญหาจริงขององค์กร — ทำงานเป็นกลุ่ม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65760" y="4187952"/>
            <a:ext cx="8412480" cy="548640"/>
          </a:xfrm>
          <a:prstGeom prst="rect">
            <a:avLst/>
          </a:prstGeom>
          <a:solidFill>
            <a:srgbClr val="FEF3C7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31" name="Shape 29"/>
          <p:cNvSpPr/>
          <p:nvPr/>
        </p:nvSpPr>
        <p:spPr>
          <a:xfrm>
            <a:off x="365760" y="4187952"/>
            <a:ext cx="64008" cy="548640"/>
          </a:xfrm>
          <a:prstGeom prst="rect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32" name="Text 30"/>
          <p:cNvSpPr/>
          <p:nvPr/>
        </p:nvSpPr>
        <p:spPr>
          <a:xfrm>
            <a:off x="502920" y="4187952"/>
            <a:ext cx="1371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15:30–16:00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1938528" y="4187952"/>
            <a:ext cx="3017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🎤 นำเสนอ Capstone</a:t>
            </a:r>
            <a:endParaRPr lang="en-US" sz="1250" dirty="0"/>
          </a:p>
        </p:txBody>
      </p:sp>
      <p:sp>
        <p:nvSpPr>
          <p:cNvPr id="34" name="Text 32"/>
          <p:cNvSpPr/>
          <p:nvPr/>
        </p:nvSpPr>
        <p:spPr>
          <a:xfrm>
            <a:off x="5029200" y="4187952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แต่ละกลุ่มนำเสนอ 10 นาที — ปัญหา โมเดล ผลลัพธ์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365760" y="4846320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วันที่ 6: Effective Modelling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8412480" y="4846320"/>
            <a:ext cx="548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22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2011680" cy="256032"/>
          </a:xfrm>
          <a:prstGeom prst="rect">
            <a:avLst/>
          </a:prstGeom>
          <a:solidFill>
            <a:srgbClr val="2E86AB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3" name="Text 1"/>
          <p:cNvSpPr/>
          <p:nvPr/>
        </p:nvSpPr>
        <p:spPr>
          <a:xfrm>
            <a:off x="365760" y="164592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ช่วงเช้า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45720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 Bounds — ช่วย Solver ตัด Space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548640"/>
          </a:xfrm>
          <a:prstGeom prst="rect">
            <a:avLst/>
          </a:prstGeom>
          <a:solidFill>
            <a:srgbClr val="1A3C5E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6" name="Text 4"/>
          <p:cNvSpPr/>
          <p:nvPr/>
        </p:nvSpPr>
        <p:spPr>
          <a:xfrm>
            <a:off x="502920" y="1078992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Solver ทำงานใน search space ที่กำหนดโดย bounds  →  bounds แน่น = space เล็ก = เร็วกว่า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365760" y="1755648"/>
            <a:ext cx="4023360" cy="2633472"/>
          </a:xfrm>
          <a:prstGeom prst="rect">
            <a:avLst/>
          </a:prstGeom>
          <a:solidFill>
            <a:srgbClr val="FEE2E2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8" name="Shape 6"/>
          <p:cNvSpPr/>
          <p:nvPr/>
        </p:nvSpPr>
        <p:spPr>
          <a:xfrm>
            <a:off x="365760" y="1755648"/>
            <a:ext cx="4023360" cy="384048"/>
          </a:xfrm>
          <a:prstGeom prst="rect">
            <a:avLst/>
          </a:prstGeom>
          <a:solidFill>
            <a:srgbClr val="DC2626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9" name="Text 7"/>
          <p:cNvSpPr/>
          <p:nvPr/>
        </p:nvSpPr>
        <p:spPr>
          <a:xfrm>
            <a:off x="365760" y="1755648"/>
            <a:ext cx="4023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 Bound กว้างเกิน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7200" y="2212848"/>
            <a:ext cx="3840480" cy="2057400"/>
          </a:xfrm>
          <a:prstGeom prst="rect">
            <a:avLst/>
          </a:prstGeom>
          <a:solidFill>
            <a:srgbClr val="1E2D3D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11" name="Shape 9"/>
          <p:cNvSpPr/>
          <p:nvPr/>
        </p:nvSpPr>
        <p:spPr>
          <a:xfrm>
            <a:off x="457200" y="2212848"/>
            <a:ext cx="54864" cy="2057400"/>
          </a:xfrm>
          <a:prstGeom prst="rect">
            <a:avLst/>
          </a:prstGeom>
          <a:solidFill>
            <a:srgbClr val="DC2626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2" name="Text 10"/>
          <p:cNvSpPr/>
          <p:nvPr/>
        </p:nvSpPr>
        <p:spPr>
          <a:xfrm>
            <a:off x="603504" y="2286000"/>
            <a:ext cx="3675888" cy="198424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% ❌ Hardcode ค่าสูง</a:t>
            </a:r>
            <a:r>
              <a:rPr lang="en-US" sz="105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F8717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 0..999: start;</a:t>
            </a:r>
            <a:r>
              <a:rPr lang="en-US" sz="105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F8717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 0..999: makespan;</a:t>
            </a:r>
            <a:r>
              <a:rPr lang="en-US" sz="105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% Solver ค้นหาใน 0..999</a:t>
            </a:r>
            <a:r>
              <a:rPr lang="en-US" sz="105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% = 1,000 ค่า ต่อตัวแปร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754880" y="1755648"/>
            <a:ext cx="4023360" cy="2633472"/>
          </a:xfrm>
          <a:prstGeom prst="rect">
            <a:avLst/>
          </a:prstGeom>
          <a:solidFill>
            <a:srgbClr val="E8F5EE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4" name="Shape 12"/>
          <p:cNvSpPr/>
          <p:nvPr/>
        </p:nvSpPr>
        <p:spPr>
          <a:xfrm>
            <a:off x="4754880" y="1755648"/>
            <a:ext cx="4023360" cy="384048"/>
          </a:xfrm>
          <a:prstGeom prst="rect">
            <a:avLst/>
          </a:prstGeom>
          <a:solidFill>
            <a:srgbClr val="1A6B47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5" name="Text 13"/>
          <p:cNvSpPr/>
          <p:nvPr/>
        </p:nvSpPr>
        <p:spPr>
          <a:xfrm>
            <a:off x="4754880" y="1755648"/>
            <a:ext cx="4023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Bound แน่น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846320" y="2212848"/>
            <a:ext cx="3840480" cy="2057400"/>
          </a:xfrm>
          <a:prstGeom prst="rect">
            <a:avLst/>
          </a:prstGeom>
          <a:solidFill>
            <a:srgbClr val="1E2D3D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17" name="Shape 15"/>
          <p:cNvSpPr/>
          <p:nvPr/>
        </p:nvSpPr>
        <p:spPr>
          <a:xfrm>
            <a:off x="4846320" y="2212848"/>
            <a:ext cx="54864" cy="2057400"/>
          </a:xfrm>
          <a:prstGeom prst="rect">
            <a:avLst/>
          </a:prstGeom>
          <a:solidFill>
            <a:srgbClr val="1A6B47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8" name="Text 16"/>
          <p:cNvSpPr/>
          <p:nvPr/>
        </p:nvSpPr>
        <p:spPr>
          <a:xfrm>
            <a:off x="4992624" y="2286000"/>
            <a:ext cx="3675888" cy="198424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% ✅ คำนวณ bound จากข้อมูล</a:t>
            </a:r>
            <a:r>
              <a:rPr lang="en-US" sz="105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BC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total=sum(j,t)(d[j,t]);</a:t>
            </a:r>
            <a:r>
              <a:rPr lang="en-US" sz="105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BC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lb=max(j)(sum(t)(d[j,t]));</a:t>
            </a:r>
            <a:r>
              <a:rPr lang="en-US" sz="105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EC8A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 0..total: start;</a:t>
            </a:r>
            <a:r>
              <a:rPr lang="en-US" sz="105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EC8A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 lb..total: makespan;</a:t>
            </a:r>
            <a:r>
              <a:rPr lang="en-US" sz="105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% lb = lower bound ที่รู้แน่ๆ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365760" y="4526280"/>
            <a:ext cx="8412480" cy="256032"/>
          </a:xfrm>
          <a:prstGeom prst="rect">
            <a:avLst/>
          </a:prstGeom>
          <a:solidFill>
            <a:srgbClr val="FEF3E2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20" name="Text 18"/>
          <p:cNvSpPr/>
          <p:nvPr/>
        </p:nvSpPr>
        <p:spPr>
          <a:xfrm>
            <a:off x="502920" y="4526280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18F0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Rule: lower bound = เร็วที่สุดที่ทฤษฎีบอก  |  upper bound = ช้าที่สุดที่สมเหตุสมผล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365760" y="4846320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วันที่ 6: Effective Modelling — Variable Bounds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8412480" y="4846320"/>
            <a:ext cx="548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22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2011680" cy="256032"/>
          </a:xfrm>
          <a:prstGeom prst="rect">
            <a:avLst/>
          </a:prstGeom>
          <a:solidFill>
            <a:srgbClr val="2E86AB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3" name="Text 1"/>
          <p:cNvSpPr/>
          <p:nvPr/>
        </p:nvSpPr>
        <p:spPr>
          <a:xfrm>
            <a:off x="365760" y="164592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ช่วงเช้า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45720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การคำนวณ Bounds ที่ดี</a:t>
            </a:r>
            <a:endParaRPr lang="en-US" sz="28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78992"/>
          <a:ext cx="8412480" cy="2926080"/>
        </p:xfrm>
        <a:graphic>
          <a:graphicData uri="http://schemas.openxmlformats.org/drawingml/2006/table">
            <a:tbl>
              <a:tblPr/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00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26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876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ปัญหา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C5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Lower Bound (lb)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C5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Upper Bound (ub)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C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876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A3C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Job Shop makespan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A6B4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max(j)(sum(t)(d[j,t]))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2E86A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sum(j,t)(d[j,t])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876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A3C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Bin Packing n_bins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A6B4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ceil(sum(sizes)/capacity)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2E86A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n_items (worst case)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876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A3C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Rostering nights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A6B4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ceil(req_night*n_days/n_emp)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2E86A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n_days (every night)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876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A3C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VRP total distance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A6B4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sum(min_dist_to_nearest)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2E86A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sum(all_dist) (loose)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876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A3C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Scheduling start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A6B4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2E86A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sum(all_durations) - min_dur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365760" y="4160520"/>
            <a:ext cx="8412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Pattern: var lb..ub: variable;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365760" y="4480560"/>
            <a:ext cx="8412480" cy="530352"/>
          </a:xfrm>
          <a:prstGeom prst="rect">
            <a:avLst/>
          </a:prstGeom>
          <a:solidFill>
            <a:srgbClr val="1E2D3D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8" name="Shape 5"/>
          <p:cNvSpPr/>
          <p:nvPr/>
        </p:nvSpPr>
        <p:spPr>
          <a:xfrm>
            <a:off x="365760" y="4480560"/>
            <a:ext cx="54864" cy="530352"/>
          </a:xfrm>
          <a:prstGeom prst="rect">
            <a:avLst/>
          </a:prstGeom>
          <a:solidFill>
            <a:srgbClr val="0D7680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9" name="Text 6"/>
          <p:cNvSpPr/>
          <p:nvPr/>
        </p:nvSpPr>
        <p:spPr>
          <a:xfrm>
            <a:off x="512064" y="4496046"/>
            <a:ext cx="8247888" cy="45720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7BC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lb = max(j)(sum(t)(d[j,t]));  int: ub = sum(j,t)(d[</a:t>
            </a:r>
            <a:r>
              <a:rPr lang="en-US" sz="1050" dirty="0" err="1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j,t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]);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EC8A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 lb..ub: makespan;  </a:t>
            </a:r>
            <a:r>
              <a:rPr lang="en-US" sz="105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% แทน</a:t>
            </a:r>
            <a:r>
              <a:rPr lang="en-US" sz="1050" dirty="0">
                <a:solidFill>
                  <a:srgbClr val="F8717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var 0..999: makespan;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365760" y="4846320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วันที่ 6: Effective Modelling — Computing Bounds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8412480" y="4846320"/>
            <a:ext cx="548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22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2011680" cy="256032"/>
          </a:xfrm>
          <a:prstGeom prst="rect">
            <a:avLst/>
          </a:prstGeom>
          <a:solidFill>
            <a:srgbClr val="2E86AB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3" name="Text 1"/>
          <p:cNvSpPr/>
          <p:nvPr/>
        </p:nvSpPr>
        <p:spPr>
          <a:xfrm>
            <a:off x="365760" y="164592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ช่วงเช้า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45720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Redundant Constraints — เพิ่ม Pruning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566928"/>
          </a:xfrm>
          <a:prstGeom prst="rect">
            <a:avLst/>
          </a:prstGeom>
          <a:solidFill>
            <a:srgbClr val="1A3C5E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6" name="Text 4"/>
          <p:cNvSpPr/>
          <p:nvPr/>
        </p:nvSpPr>
        <p:spPr>
          <a:xfrm>
            <a:off x="502920" y="1078992"/>
            <a:ext cx="82296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Redundant = จริงอยู่แล้วจาก constraint อื่น  แต่ช่วย solver ตัดสิ่งที่เป็นไปไม่ได้ได้เร็วกว่า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365760" y="1783080"/>
            <a:ext cx="8412480" cy="2331720"/>
          </a:xfrm>
          <a:prstGeom prst="rect">
            <a:avLst/>
          </a:prstGeom>
          <a:solidFill>
            <a:srgbClr val="1E2D3D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8" name="Shape 6"/>
          <p:cNvSpPr/>
          <p:nvPr/>
        </p:nvSpPr>
        <p:spPr>
          <a:xfrm>
            <a:off x="365760" y="1783080"/>
            <a:ext cx="54864" cy="2331720"/>
          </a:xfrm>
          <a:prstGeom prst="rect">
            <a:avLst/>
          </a:prstGeom>
          <a:solidFill>
            <a:srgbClr val="0D7680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9" name="Text 7"/>
          <p:cNvSpPr/>
          <p:nvPr/>
        </p:nvSpPr>
        <p:spPr>
          <a:xfrm>
            <a:off x="512064" y="1856232"/>
            <a:ext cx="8247888" cy="225856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% ปัญหา Assignment (แต่ละคนได้งานต่างกัน)</a:t>
            </a:r>
            <a:r>
              <a:rPr lang="en-US" sz="105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constraint alldifferent(assigned);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BC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solve minimize sum(w)(cost[w, assigned[w]]);</a:t>
            </a:r>
            <a:r>
              <a:rPr lang="en-US" sz="105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% ── Redundant constraints เพิ่ม pruning ──────────────────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% Lower bound: ต้นทุนรวมต้องอย่างน้อยเท่ากับ sum ของ min </a:t>
            </a:r>
            <a:r>
              <a:rPr lang="en-US" sz="1050" dirty="0" err="1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ต่อ</a:t>
            </a:r>
            <a:r>
              <a:rPr lang="en-US" sz="105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worker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EC8A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constraint sum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(w)(min(t)(cost[w,t])) &lt;= sum(w)(cost[w,assigned[w]]);</a:t>
            </a:r>
            <a:r>
              <a:rPr lang="en-US" sz="105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% Lower bound อีกแบบ: sum ของ min </a:t>
            </a:r>
            <a:r>
              <a:rPr lang="en-US" sz="1050" dirty="0" err="1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ต่อ</a:t>
            </a:r>
            <a:r>
              <a:rPr lang="en-US" sz="105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task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EC8A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constraint sum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(t)(min(w)(cost[w,t])) &lt;= sum(w)(cost[w,assigned[w]]);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365760" y="4251960"/>
            <a:ext cx="8412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ทำไมได้ผล: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4474956"/>
            <a:ext cx="8412480" cy="228600"/>
          </a:xfrm>
          <a:prstGeom prst="rect">
            <a:avLst/>
          </a:prstGeom>
          <a:solidFill>
            <a:srgbClr val="F0F4F8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2" name="Shape 10"/>
          <p:cNvSpPr/>
          <p:nvPr/>
        </p:nvSpPr>
        <p:spPr>
          <a:xfrm>
            <a:off x="365760" y="4474956"/>
            <a:ext cx="54864" cy="228600"/>
          </a:xfrm>
          <a:prstGeom prst="rect">
            <a:avLst/>
          </a:prstGeom>
          <a:solidFill>
            <a:srgbClr val="0D7680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3" name="Text 11"/>
          <p:cNvSpPr/>
          <p:nvPr/>
        </p:nvSpPr>
        <p:spPr>
          <a:xfrm>
            <a:off x="502920" y="4474956"/>
            <a:ext cx="2926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Redundant constraint บอก solver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3520440" y="4474956"/>
            <a:ext cx="5166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 cost ที่เป็นไปได้ก่อนหาคำตอบ — prune branches ที่ cost จะเกินได้เลย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365760" y="4730988"/>
            <a:ext cx="54864" cy="228600"/>
          </a:xfrm>
          <a:prstGeom prst="rect">
            <a:avLst/>
          </a:prstGeom>
          <a:solidFill>
            <a:srgbClr val="0D7680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7" name="Text 15"/>
          <p:cNvSpPr/>
          <p:nvPr/>
        </p:nvSpPr>
        <p:spPr>
          <a:xfrm>
            <a:off x="502920" y="4730988"/>
            <a:ext cx="2926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ไม่ตัด optimal solution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3520440" y="4730988"/>
            <a:ext cx="5166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เพราะ constraint จริงอยู่แล้ว — เป็นแค่ hint ให้ solver ฉลาดขึ้น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365760" y="4928700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วันที่ 6: Effective Modelling — Redundant Constraints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8412480" y="4730988"/>
            <a:ext cx="548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22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2011680" cy="256032"/>
          </a:xfrm>
          <a:prstGeom prst="rect">
            <a:avLst/>
          </a:prstGeom>
          <a:solidFill>
            <a:srgbClr val="2E86AB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3" name="Text 1"/>
          <p:cNvSpPr/>
          <p:nvPr/>
        </p:nvSpPr>
        <p:spPr>
          <a:xfrm>
            <a:off x="365760" y="164592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ช่วงเช้า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45720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Debugging Workflow — 3 ประเภทปัญหา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1115568"/>
          </a:xfrm>
          <a:prstGeom prst="rect">
            <a:avLst/>
          </a:prstGeom>
          <a:solidFill>
            <a:srgbClr val="FEE2E2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6" name="Shape 4"/>
          <p:cNvSpPr/>
          <p:nvPr/>
        </p:nvSpPr>
        <p:spPr>
          <a:xfrm>
            <a:off x="365760" y="1078992"/>
            <a:ext cx="64008" cy="1115568"/>
          </a:xfrm>
          <a:prstGeom prst="rect">
            <a:avLst/>
          </a:prstGeom>
          <a:solidFill>
            <a:srgbClr val="DC2626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7" name="Shape 5"/>
          <p:cNvSpPr/>
          <p:nvPr/>
        </p:nvSpPr>
        <p:spPr>
          <a:xfrm>
            <a:off x="365760" y="1078992"/>
            <a:ext cx="2011680" cy="1115568"/>
          </a:xfrm>
          <a:prstGeom prst="rect">
            <a:avLst/>
          </a:prstGeom>
          <a:solidFill>
            <a:srgbClr val="DC2626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8" name="Text 6"/>
          <p:cNvSpPr/>
          <p:nvPr/>
        </p:nvSpPr>
        <p:spPr>
          <a:xfrm>
            <a:off x="365760" y="1078992"/>
            <a:ext cx="2011680" cy="11155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🚫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UNSATISFIABLE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2468880" y="1170432"/>
            <a:ext cx="62179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เพิ่ม constraint ทีละอย่าง — หาว่าอันไหนทำให้ขัดแย้ง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2468880" y="1426464"/>
            <a:ext cx="62179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ลด scope: เริ่มกับข้อมูลน้อยๆ (2-3 items)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2468880" y="1682496"/>
            <a:ext cx="62179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คำนวณมือ: ผลลัพธ์ที่เป็นไปได้มีจริงไหม?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2468880" y="1938528"/>
            <a:ext cx="62179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ผ่อนคลาย constraint แล้วดูว่า UNSAT หายไหม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65760" y="2313432"/>
            <a:ext cx="8412480" cy="1115568"/>
          </a:xfrm>
          <a:prstGeom prst="rect">
            <a:avLst/>
          </a:prstGeom>
          <a:solidFill>
            <a:srgbClr val="FEF3C7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4" name="Shape 12"/>
          <p:cNvSpPr/>
          <p:nvPr/>
        </p:nvSpPr>
        <p:spPr>
          <a:xfrm>
            <a:off x="365760" y="2313432"/>
            <a:ext cx="64008" cy="1115568"/>
          </a:xfrm>
          <a:prstGeom prst="rect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5" name="Shape 13"/>
          <p:cNvSpPr/>
          <p:nvPr/>
        </p:nvSpPr>
        <p:spPr>
          <a:xfrm>
            <a:off x="365760" y="2313432"/>
            <a:ext cx="2011680" cy="1115568"/>
          </a:xfrm>
          <a:prstGeom prst="rect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6" name="Text 14"/>
          <p:cNvSpPr/>
          <p:nvPr/>
        </p:nvSpPr>
        <p:spPr>
          <a:xfrm>
            <a:off x="365760" y="2313432"/>
            <a:ext cx="2011680" cy="11155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⏳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SLOW / TIMEOUT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2468880" y="2404872"/>
            <a:ext cx="62179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ตรวจ bounds: กว้างเกินไปไหม? คำนวณ lb/ub ที่แน่น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2468880" y="2660904"/>
            <a:ext cx="62179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เพิ่ม redundant constraints เพื่อช่วย prune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2468880" y="2916936"/>
            <a:ext cx="62179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เพิ่ม symmetry breaking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2468880" y="3172968"/>
            <a:ext cx="62179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ลอง solver อื่น: Chuffed, OR-Tools, Gurobi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365760" y="3547872"/>
            <a:ext cx="8412480" cy="1115568"/>
          </a:xfrm>
          <a:prstGeom prst="rect">
            <a:avLst/>
          </a:prstGeom>
          <a:solidFill>
            <a:srgbClr val="F7FAFC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22" name="Shape 20"/>
          <p:cNvSpPr/>
          <p:nvPr/>
        </p:nvSpPr>
        <p:spPr>
          <a:xfrm>
            <a:off x="365760" y="3547872"/>
            <a:ext cx="64008" cy="1115568"/>
          </a:xfrm>
          <a:prstGeom prst="rect">
            <a:avLst/>
          </a:prstGeom>
          <a:solidFill>
            <a:srgbClr val="6B46C1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23" name="Shape 21"/>
          <p:cNvSpPr/>
          <p:nvPr/>
        </p:nvSpPr>
        <p:spPr>
          <a:xfrm>
            <a:off x="365760" y="3547872"/>
            <a:ext cx="2011680" cy="1115568"/>
          </a:xfrm>
          <a:prstGeom prst="rect">
            <a:avLst/>
          </a:prstGeom>
          <a:solidFill>
            <a:srgbClr val="6B46C1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24" name="Text 22"/>
          <p:cNvSpPr/>
          <p:nvPr/>
        </p:nvSpPr>
        <p:spPr>
          <a:xfrm>
            <a:off x="365760" y="3547872"/>
            <a:ext cx="2011680" cy="11155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❓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 RESULT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2468880" y="3639312"/>
            <a:ext cx="62179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ตรวจ output มือ: คำนวณ resource usage แล้วเทียบ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2468880" y="3895344"/>
            <a:ext cx="62179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ลอง solve satisfy ก่อน ดูว่า model ถูก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2468880" y="4151376"/>
            <a:ext cx="62179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เพิ่ม assert() ตรวจ data ที่รับมา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2468880" y="4407408"/>
            <a:ext cx="62179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ตรวจ array index: แถว/คอลัมน์สลับกันไหม?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365760" y="4846320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วันที่ 6: Effective Modelling — Debugging Workflow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8412480" y="4846320"/>
            <a:ext cx="548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22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EF3E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F18F01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🔨  Workshop 6A — Debugging Challenge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365760" y="100584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18F0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เวลา: 60 นาที  |  ไฟล์: debug_broken_1.mzn, debug_broken_2.mzn, debug_broken_3.mzn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435608"/>
            <a:ext cx="8412480" cy="978408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6" name="Shape 4"/>
          <p:cNvSpPr/>
          <p:nvPr/>
        </p:nvSpPr>
        <p:spPr>
          <a:xfrm>
            <a:off x="365760" y="1435608"/>
            <a:ext cx="502920" cy="978408"/>
          </a:xfrm>
          <a:prstGeom prst="rect">
            <a:avLst/>
          </a:prstGeom>
          <a:solidFill>
            <a:srgbClr val="DC2626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7" name="Text 5"/>
          <p:cNvSpPr/>
          <p:nvPr/>
        </p:nvSpPr>
        <p:spPr>
          <a:xfrm>
            <a:off x="365760" y="1435608"/>
            <a:ext cx="502920" cy="9784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00000"/>
                </a:solidFill>
              </a:rPr>
              <a:t>🚫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960120" y="1490472"/>
            <a:ext cx="76809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กรณี 1: UNSATISFIABLE (debug_broken_1.mzn)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960120" y="1819656"/>
            <a:ext cx="76809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Maintenance Scheduling — deadline ที่กำหนดเป็นไปไม่ได้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ภารกิจ: หาว่า deadline ต้องเป็นเท่าไรถึงจะ satisfy? คำนวณมือก่อนแล้วยืนยันด้วย MiniZinc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65760" y="2532888"/>
            <a:ext cx="8412480" cy="978408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11" name="Shape 9"/>
          <p:cNvSpPr/>
          <p:nvPr/>
        </p:nvSpPr>
        <p:spPr>
          <a:xfrm>
            <a:off x="365760" y="2532888"/>
            <a:ext cx="502920" cy="978408"/>
          </a:xfrm>
          <a:prstGeom prst="rect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2" name="Text 10"/>
          <p:cNvSpPr/>
          <p:nvPr/>
        </p:nvSpPr>
        <p:spPr>
          <a:xfrm>
            <a:off x="365760" y="2532888"/>
            <a:ext cx="502920" cy="9784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00000"/>
                </a:solidFill>
              </a:rPr>
              <a:t>⏳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960120" y="2587752"/>
            <a:ext cx="76809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กรณี 2: ช้ามาก (debug_broken_2.mzn)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960120" y="2916936"/>
            <a:ext cx="76809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Job Shop 6×4 — bounds hardcode เป็น 200 ทั้งที่คำนวณได้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ภารกิจ: คำนวณ total และ lb ที่แน่น แล้วเปรียบเทียบ solve time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3630168"/>
            <a:ext cx="8412480" cy="978408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16" name="Shape 14"/>
          <p:cNvSpPr/>
          <p:nvPr/>
        </p:nvSpPr>
        <p:spPr>
          <a:xfrm>
            <a:off x="365760" y="3630168"/>
            <a:ext cx="502920" cy="978408"/>
          </a:xfrm>
          <a:prstGeom prst="rect">
            <a:avLst/>
          </a:prstGeom>
          <a:solidFill>
            <a:srgbClr val="6B46C1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7" name="Text 15"/>
          <p:cNvSpPr/>
          <p:nvPr/>
        </p:nvSpPr>
        <p:spPr>
          <a:xfrm>
            <a:off x="365760" y="3630168"/>
            <a:ext cx="502920" cy="9784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00000"/>
                </a:solidFill>
              </a:rPr>
              <a:t>❓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960120" y="3685032"/>
            <a:ext cx="76809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กรณี 3: ผลไม่ถูกต้อง (debug_broken_3.mzn)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960120" y="4014216"/>
            <a:ext cx="76809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Planning — model รันได้แต่ resource usage เกิน capacity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ภารกิจ: หา bug แล้วแก้ไข ยืนยันด้วยการคำนวณมือ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365760" y="4846320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วันที่ 6: Effective Modelling — Workshop 6A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8412480" y="4846320"/>
            <a:ext cx="548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22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A3C5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28600" cy="5143500"/>
          </a:xfrm>
          <a:prstGeom prst="rect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3" name="Shape 1"/>
          <p:cNvSpPr/>
          <p:nvPr/>
        </p:nvSpPr>
        <p:spPr>
          <a:xfrm>
            <a:off x="6858000" y="0"/>
            <a:ext cx="2286000" cy="5143500"/>
          </a:xfrm>
          <a:prstGeom prst="rect">
            <a:avLst/>
          </a:prstGeom>
          <a:solidFill>
            <a:srgbClr val="162F48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4" name="Text 2"/>
          <p:cNvSpPr/>
          <p:nvPr/>
        </p:nvSpPr>
        <p:spPr>
          <a:xfrm>
            <a:off x="457200" y="1097280"/>
            <a:ext cx="6400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ช่วงบ่าย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1645920"/>
            <a:ext cx="64008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 Project</a:t>
            </a:r>
            <a:endParaRPr lang="en-US" sz="3600" dirty="0"/>
          </a:p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สร้างโมเดลจากงานจริง</a:t>
            </a:r>
            <a:endParaRPr lang="en-US" sz="3600" dirty="0"/>
          </a:p>
        </p:txBody>
      </p:sp>
      <p:sp>
        <p:nvSpPr>
          <p:cNvPr id="6" name="Shape 4"/>
          <p:cNvSpPr/>
          <p:nvPr/>
        </p:nvSpPr>
        <p:spPr>
          <a:xfrm>
            <a:off x="457200" y="3429000"/>
            <a:ext cx="64008" cy="274320"/>
          </a:xfrm>
          <a:prstGeom prst="rect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7" name="Text 5"/>
          <p:cNvSpPr/>
          <p:nvPr/>
        </p:nvSpPr>
        <p:spPr>
          <a:xfrm>
            <a:off x="658368" y="3429000"/>
            <a:ext cx="5943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2BA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เลือกปัญหาจากองค์กรของท่าน หรือจากโจทย์ที่กำหนด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813048"/>
            <a:ext cx="64008" cy="274320"/>
          </a:xfrm>
          <a:prstGeom prst="rect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9" name="Text 7"/>
          <p:cNvSpPr/>
          <p:nvPr/>
        </p:nvSpPr>
        <p:spPr>
          <a:xfrm>
            <a:off x="658368" y="3813048"/>
            <a:ext cx="5943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2BA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ออกแบบ model: variables, constraints, objective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4197096"/>
            <a:ext cx="64008" cy="274320"/>
          </a:xfrm>
          <a:prstGeom prst="rect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1" name="Text 9"/>
          <p:cNvSpPr/>
          <p:nvPr/>
        </p:nvSpPr>
        <p:spPr>
          <a:xfrm>
            <a:off x="658368" y="4197096"/>
            <a:ext cx="5943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2BA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เขียน MiniZinc โดยใช้ capstone_template.mzn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57200" y="4581144"/>
            <a:ext cx="64008" cy="274320"/>
          </a:xfrm>
          <a:prstGeom prst="rect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3" name="Text 11"/>
          <p:cNvSpPr/>
          <p:nvPr/>
        </p:nvSpPr>
        <p:spPr>
          <a:xfrm>
            <a:off x="658368" y="4581144"/>
            <a:ext cx="5943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2BA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ทดสอบ ปรับแต่ง และนำเสนอ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2011680" cy="256032"/>
          </a:xfrm>
          <a:prstGeom prst="rect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3" name="Text 1"/>
          <p:cNvSpPr/>
          <p:nvPr/>
        </p:nvSpPr>
        <p:spPr>
          <a:xfrm>
            <a:off x="365760" y="164592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45720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ตัวเลือกโจทย์ Capstone Project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4069080" cy="1645920"/>
          </a:xfrm>
          <a:prstGeom prst="rect">
            <a:avLst/>
          </a:prstGeom>
          <a:solidFill>
            <a:srgbClr val="F0F4F8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6" name="Shape 4"/>
          <p:cNvSpPr/>
          <p:nvPr/>
        </p:nvSpPr>
        <p:spPr>
          <a:xfrm>
            <a:off x="365760" y="1078992"/>
            <a:ext cx="64008" cy="1645920"/>
          </a:xfrm>
          <a:prstGeom prst="rect">
            <a:avLst/>
          </a:prstGeom>
          <a:solidFill>
            <a:srgbClr val="2E86AB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7" name="Text 5"/>
          <p:cNvSpPr/>
          <p:nvPr/>
        </p:nvSpPr>
        <p:spPr>
          <a:xfrm>
            <a:off x="502920" y="1170432"/>
            <a:ext cx="3794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E86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🏭  การผลิต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02920" y="1554480"/>
            <a:ext cx="37947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Multi-machine Job Shop: 5 jobs, 4 เครื่อง, minimize makespan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502920" y="1901952"/>
            <a:ext cx="37947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Production Lot Sizing: วางแผนผลิต 8 สินค้า 4 สัปดาห์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502920" y="2249424"/>
            <a:ext cx="37947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Assembly Line Balancing: กระจาย task ลง 4 สถานี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663440" y="1078992"/>
            <a:ext cx="4069080" cy="1645920"/>
          </a:xfrm>
          <a:prstGeom prst="rect">
            <a:avLst/>
          </a:prstGeom>
          <a:solidFill>
            <a:srgbClr val="F7FAFC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12" name="Shape 10"/>
          <p:cNvSpPr/>
          <p:nvPr/>
        </p:nvSpPr>
        <p:spPr>
          <a:xfrm>
            <a:off x="4663440" y="1078992"/>
            <a:ext cx="64008" cy="1645920"/>
          </a:xfrm>
          <a:prstGeom prst="rect">
            <a:avLst/>
          </a:prstGeom>
          <a:solidFill>
            <a:srgbClr val="1A6B47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3" name="Text 11"/>
          <p:cNvSpPr/>
          <p:nvPr/>
        </p:nvSpPr>
        <p:spPr>
          <a:xfrm>
            <a:off x="4800600" y="1170432"/>
            <a:ext cx="3794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6B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👷  HR / Workforce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800600" y="1554480"/>
            <a:ext cx="37947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Employee Rostering: 15 คน 3 กะ 4 สัปดาห์ กฎแรงงาน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4800600" y="1901952"/>
            <a:ext cx="37947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Workforce Planning: จัด skill mix + fairness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4800600" y="2249424"/>
            <a:ext cx="37947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Exam Scheduling: จัดสอบ ห้อง + เวลา ไม่ชน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365760" y="2862072"/>
            <a:ext cx="4069080" cy="1645920"/>
          </a:xfrm>
          <a:prstGeom prst="rect">
            <a:avLst/>
          </a:prstGeom>
          <a:solidFill>
            <a:srgbClr val="F0F4F8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18" name="Shape 16"/>
          <p:cNvSpPr/>
          <p:nvPr/>
        </p:nvSpPr>
        <p:spPr>
          <a:xfrm>
            <a:off x="365760" y="2862072"/>
            <a:ext cx="64008" cy="1645920"/>
          </a:xfrm>
          <a:prstGeom prst="rect">
            <a:avLst/>
          </a:prstGeom>
          <a:solidFill>
            <a:srgbClr val="6B46C1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9" name="Text 17"/>
          <p:cNvSpPr/>
          <p:nvPr/>
        </p:nvSpPr>
        <p:spPr>
          <a:xfrm>
            <a:off x="502920" y="2953512"/>
            <a:ext cx="3794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6B46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🚚  Logistics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502920" y="3337560"/>
            <a:ext cx="37947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Multi-Depot VRP: 2 คลัง 15 ลูกค้า 5 รถ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502920" y="3685032"/>
            <a:ext cx="37947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Warehouse Slotting: จัดตำแหน่งสินค้า 50 SKU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502920" y="4032504"/>
            <a:ext cx="37947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Container Loading: จัดตู้ลดค่าขนส่ง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4663440" y="2862072"/>
            <a:ext cx="4069080" cy="1645920"/>
          </a:xfrm>
          <a:prstGeom prst="rect">
            <a:avLst/>
          </a:prstGeom>
          <a:solidFill>
            <a:srgbClr val="F7FAFC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24" name="Shape 22"/>
          <p:cNvSpPr/>
          <p:nvPr/>
        </p:nvSpPr>
        <p:spPr>
          <a:xfrm>
            <a:off x="4663440" y="2862072"/>
            <a:ext cx="64008" cy="1645920"/>
          </a:xfrm>
          <a:prstGeom prst="rect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25" name="Text 23"/>
          <p:cNvSpPr/>
          <p:nvPr/>
        </p:nvSpPr>
        <p:spPr>
          <a:xfrm>
            <a:off x="4800600" y="2953512"/>
            <a:ext cx="3794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ปัญหาจากองค์กร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4800600" y="3337560"/>
            <a:ext cx="37947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นำปัญหาที่ท่านเจออยู่ทุกวัน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4800600" y="3685032"/>
            <a:ext cx="37947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วิทยากรช่วยออกแบบ model ให้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4800600" y="4032504"/>
            <a:ext cx="37947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ผลลัพธ์นำไปใช้จริงได้เลย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365760" y="4846320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วันที่ 6: Effective Modelling — Capstone Options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8412480" y="4846320"/>
            <a:ext cx="548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22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2011680" cy="256032"/>
          </a:xfrm>
          <a:prstGeom prst="rect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3" name="Text 1"/>
          <p:cNvSpPr/>
          <p:nvPr/>
        </p:nvSpPr>
        <p:spPr>
          <a:xfrm>
            <a:off x="365760" y="164592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45720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ขั้นตอนสร้างโมเดลจากปัญหาจริง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822960"/>
          </a:xfrm>
          <a:prstGeom prst="rect">
            <a:avLst/>
          </a:prstGeom>
          <a:solidFill>
            <a:srgbClr val="F0F4F8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6" name="Shape 4"/>
          <p:cNvSpPr/>
          <p:nvPr/>
        </p:nvSpPr>
        <p:spPr>
          <a:xfrm>
            <a:off x="365760" y="1078992"/>
            <a:ext cx="64008" cy="822960"/>
          </a:xfrm>
          <a:prstGeom prst="rect">
            <a:avLst/>
          </a:prstGeom>
          <a:solidFill>
            <a:srgbClr val="2E86AB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7" name="Shape 5"/>
          <p:cNvSpPr/>
          <p:nvPr/>
        </p:nvSpPr>
        <p:spPr>
          <a:xfrm>
            <a:off x="365760" y="1078992"/>
            <a:ext cx="658368" cy="822960"/>
          </a:xfrm>
          <a:prstGeom prst="rect">
            <a:avLst/>
          </a:prstGeom>
          <a:solidFill>
            <a:srgbClr val="2E86AB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8" name="Text 6"/>
          <p:cNvSpPr/>
          <p:nvPr/>
        </p:nvSpPr>
        <p:spPr>
          <a:xfrm>
            <a:off x="365760" y="1078992"/>
            <a:ext cx="658368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1115568" y="1133856"/>
            <a:ext cx="75712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E86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นิยามปัญหา (10 นาที)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115568" y="1463040"/>
            <a:ext cx="75712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อะไรคือ Decision? (ใครทำอะไร เมื่อไร กี่หน่วย)  •  Objective คืออะไร? (minimize cost / maximize profit)  •  Constraints มีอะไรบ้าง? (จดทุกข้อที่นึกได้)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365760" y="1993392"/>
            <a:ext cx="8412480" cy="82296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12" name="Shape 10"/>
          <p:cNvSpPr/>
          <p:nvPr/>
        </p:nvSpPr>
        <p:spPr>
          <a:xfrm>
            <a:off x="365760" y="1993392"/>
            <a:ext cx="64008" cy="822960"/>
          </a:xfrm>
          <a:prstGeom prst="rect">
            <a:avLst/>
          </a:prstGeom>
          <a:solidFill>
            <a:srgbClr val="0D7680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3" name="Shape 11"/>
          <p:cNvSpPr/>
          <p:nvPr/>
        </p:nvSpPr>
        <p:spPr>
          <a:xfrm>
            <a:off x="365760" y="1993392"/>
            <a:ext cx="658368" cy="822960"/>
          </a:xfrm>
          <a:prstGeom prst="rect">
            <a:avLst/>
          </a:prstGeom>
          <a:solidFill>
            <a:srgbClr val="0D7680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4" name="Text 12"/>
          <p:cNvSpPr/>
          <p:nvPr/>
        </p:nvSpPr>
        <p:spPr>
          <a:xfrm>
            <a:off x="365760" y="1993392"/>
            <a:ext cx="658368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1115568" y="2048256"/>
            <a:ext cx="75712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ออกแบบ Variables (15 นาที)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115568" y="2377440"/>
            <a:ext cx="75712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กำหนด enum สำหรับชื่อสิ่งต่างๆ  •  กำหนด decision variables + bounds แน่น  •  เริ่มด้วย solve satisfy ก่อนเสมอ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365760" y="2907792"/>
            <a:ext cx="8412480" cy="822960"/>
          </a:xfrm>
          <a:prstGeom prst="rect">
            <a:avLst/>
          </a:prstGeom>
          <a:solidFill>
            <a:srgbClr val="F0F4F8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18" name="Shape 16"/>
          <p:cNvSpPr/>
          <p:nvPr/>
        </p:nvSpPr>
        <p:spPr>
          <a:xfrm>
            <a:off x="365760" y="2907792"/>
            <a:ext cx="64008" cy="822960"/>
          </a:xfrm>
          <a:prstGeom prst="rect">
            <a:avLst/>
          </a:prstGeom>
          <a:solidFill>
            <a:srgbClr val="1A6B47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9" name="Shape 17"/>
          <p:cNvSpPr/>
          <p:nvPr/>
        </p:nvSpPr>
        <p:spPr>
          <a:xfrm>
            <a:off x="365760" y="2907792"/>
            <a:ext cx="658368" cy="822960"/>
          </a:xfrm>
          <a:prstGeom prst="rect">
            <a:avLst/>
          </a:prstGeom>
          <a:solidFill>
            <a:srgbClr val="1A6B47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20" name="Text 18"/>
          <p:cNvSpPr/>
          <p:nvPr/>
        </p:nvSpPr>
        <p:spPr>
          <a:xfrm>
            <a:off x="365760" y="2907792"/>
            <a:ext cx="658368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400" dirty="0"/>
          </a:p>
        </p:txBody>
      </p:sp>
      <p:sp>
        <p:nvSpPr>
          <p:cNvPr id="21" name="Text 19"/>
          <p:cNvSpPr/>
          <p:nvPr/>
        </p:nvSpPr>
        <p:spPr>
          <a:xfrm>
            <a:off x="1115568" y="2962656"/>
            <a:ext cx="75712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6B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เพิ่ม Constraints ทีละอย่าง (30 นาที)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115568" y="3291840"/>
            <a:ext cx="75712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Constraint สำคัญที่สุดก่อน — ทดสอบทุกครั้ง  •  ถ้า UNSAT: หา constraint ที่ทำให้ขัดแย้ง  •  เพิ่ม Objective และ minimize/maximize สุดท้าย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365760" y="3822192"/>
            <a:ext cx="8412480" cy="82296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24" name="Shape 22"/>
          <p:cNvSpPr/>
          <p:nvPr/>
        </p:nvSpPr>
        <p:spPr>
          <a:xfrm>
            <a:off x="365760" y="3822192"/>
            <a:ext cx="64008" cy="822960"/>
          </a:xfrm>
          <a:prstGeom prst="rect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25" name="Shape 23"/>
          <p:cNvSpPr/>
          <p:nvPr/>
        </p:nvSpPr>
        <p:spPr>
          <a:xfrm>
            <a:off x="365760" y="3822192"/>
            <a:ext cx="658368" cy="822960"/>
          </a:xfrm>
          <a:prstGeom prst="rect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26" name="Text 24"/>
          <p:cNvSpPr/>
          <p:nvPr/>
        </p:nvSpPr>
        <p:spPr>
          <a:xfrm>
            <a:off x="365760" y="3822192"/>
            <a:ext cx="658368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400" dirty="0"/>
          </a:p>
        </p:txBody>
      </p:sp>
      <p:sp>
        <p:nvSpPr>
          <p:cNvPr id="27" name="Text 25"/>
          <p:cNvSpPr/>
          <p:nvPr/>
        </p:nvSpPr>
        <p:spPr>
          <a:xfrm>
            <a:off x="1115568" y="3877056"/>
            <a:ext cx="75712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ทดสอบและปรับแต่ง (15 นาที)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1115568" y="4206240"/>
            <a:ext cx="75712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ตรวจ output: คำนวณมือว่าถูกต้องไหม?  •  ถ้าช้า: ปรับ bounds, เพิ่ม redundant  •  เตรียม data file จริง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365760" y="4846320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วันที่ 6: Effective Modelling — How to Model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8412480" y="4846320"/>
            <a:ext cx="548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22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2011680" cy="256032"/>
          </a:xfrm>
          <a:prstGeom prst="rect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3" name="Text 1"/>
          <p:cNvSpPr/>
          <p:nvPr/>
        </p:nvSpPr>
        <p:spPr>
          <a:xfrm>
            <a:off x="365760" y="164592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45720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การนำเสนอ Capstone (10 นาที/กลุ่ม)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804672"/>
          </a:xfrm>
          <a:prstGeom prst="rect">
            <a:avLst/>
          </a:prstGeom>
          <a:solidFill>
            <a:srgbClr val="F0F4F8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6" name="Shape 4"/>
          <p:cNvSpPr/>
          <p:nvPr/>
        </p:nvSpPr>
        <p:spPr>
          <a:xfrm>
            <a:off x="365760" y="1097280"/>
            <a:ext cx="1005840" cy="804672"/>
          </a:xfrm>
          <a:prstGeom prst="rect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7" name="Text 5"/>
          <p:cNvSpPr/>
          <p:nvPr/>
        </p:nvSpPr>
        <p:spPr>
          <a:xfrm>
            <a:off x="365760" y="1097280"/>
            <a:ext cx="100584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นาที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481328" y="1188720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ปัญหาคืออะไร?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481328" y="1536192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อธิบายปัญหาจริงในองค์กร — ทำไมต้อง optimize?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65760" y="2011680"/>
            <a:ext cx="8412480" cy="804672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1" name="Shape 9"/>
          <p:cNvSpPr/>
          <p:nvPr/>
        </p:nvSpPr>
        <p:spPr>
          <a:xfrm>
            <a:off x="365760" y="2011680"/>
            <a:ext cx="1005840" cy="804672"/>
          </a:xfrm>
          <a:prstGeom prst="rect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2" name="Text 10"/>
          <p:cNvSpPr/>
          <p:nvPr/>
        </p:nvSpPr>
        <p:spPr>
          <a:xfrm>
            <a:off x="365760" y="2011680"/>
            <a:ext cx="100584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นาที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481328" y="2103120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โมเดล MiniZinc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481328" y="2450592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Variables, Constraints หลัก, Objective — แสดงโค้ดสั้นๆ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2926080"/>
            <a:ext cx="8412480" cy="804672"/>
          </a:xfrm>
          <a:prstGeom prst="rect">
            <a:avLst/>
          </a:prstGeom>
          <a:solidFill>
            <a:srgbClr val="F0F4F8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6" name="Shape 14"/>
          <p:cNvSpPr/>
          <p:nvPr/>
        </p:nvSpPr>
        <p:spPr>
          <a:xfrm>
            <a:off x="365760" y="2926080"/>
            <a:ext cx="1005840" cy="804672"/>
          </a:xfrm>
          <a:prstGeom prst="rect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7" name="Text 15"/>
          <p:cNvSpPr/>
          <p:nvPr/>
        </p:nvSpPr>
        <p:spPr>
          <a:xfrm>
            <a:off x="365760" y="2926080"/>
            <a:ext cx="100584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นาที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481328" y="3017520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ผลลัพธ์ที่ได้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481328" y="3364992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คำตอบที่ดีที่สุดคืออะไร? ดีกว่าวิธีเดิมแค่ไหน?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365760" y="3840480"/>
            <a:ext cx="8412480" cy="804672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21" name="Shape 19"/>
          <p:cNvSpPr/>
          <p:nvPr/>
        </p:nvSpPr>
        <p:spPr>
          <a:xfrm>
            <a:off x="365760" y="3840480"/>
            <a:ext cx="1005840" cy="804672"/>
          </a:xfrm>
          <a:prstGeom prst="rect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22" name="Text 20"/>
          <p:cNvSpPr/>
          <p:nvPr/>
        </p:nvSpPr>
        <p:spPr>
          <a:xfrm>
            <a:off x="365760" y="3840480"/>
            <a:ext cx="100584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นาที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1481328" y="3931920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ถาม-ตอบ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1481328" y="4279392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สิ่งที่เรียนรู้, ความท้าทาย, ขั้นต่อไป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365760" y="4736592"/>
            <a:ext cx="8412480" cy="256032"/>
          </a:xfrm>
          <a:prstGeom prst="rect">
            <a:avLst/>
          </a:prstGeom>
          <a:solidFill>
            <a:srgbClr val="FEF3E2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26" name="Text 24"/>
          <p:cNvSpPr/>
          <p:nvPr/>
        </p:nvSpPr>
        <p:spPr>
          <a:xfrm>
            <a:off x="502920" y="4736592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18F0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focus ที่ปัญหาและผลลัพธ์ — ไม่ต้องอธิบาย syntax ทุกบรรทัด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365760" y="4961652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วันที่ 6: Effective Modelling — Presentation Tips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8412480" y="4846320"/>
            <a:ext cx="548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22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A3C5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28600" cy="5143500"/>
          </a:xfrm>
          <a:prstGeom prst="rect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3" name="Text 1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สรุปหลักสูตร 6 วัน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04672"/>
            <a:ext cx="8229600" cy="621792"/>
          </a:xfrm>
          <a:prstGeom prst="rect">
            <a:avLst/>
          </a:prstGeom>
          <a:solidFill>
            <a:srgbClr val="1E3A5F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5" name="Shape 3"/>
          <p:cNvSpPr/>
          <p:nvPr/>
        </p:nvSpPr>
        <p:spPr>
          <a:xfrm>
            <a:off x="457200" y="804672"/>
            <a:ext cx="475488" cy="621792"/>
          </a:xfrm>
          <a:prstGeom prst="rect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6" name="Text 4"/>
          <p:cNvSpPr/>
          <p:nvPr/>
        </p:nvSpPr>
        <p:spPr>
          <a:xfrm>
            <a:off x="457200" y="804672"/>
            <a:ext cx="475488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051560" y="859536"/>
            <a:ext cx="7543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วันที่ 1: พื้นฐาน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051560" y="1133856"/>
            <a:ext cx="7543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92BA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var, constraint, solve satisfy/minimize/maximize, data files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57200" y="1499616"/>
            <a:ext cx="8229600" cy="621792"/>
          </a:xfrm>
          <a:prstGeom prst="rect">
            <a:avLst/>
          </a:prstGeom>
          <a:solidFill>
            <a:srgbClr val="1E3A5F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0" name="Shape 8"/>
          <p:cNvSpPr/>
          <p:nvPr/>
        </p:nvSpPr>
        <p:spPr>
          <a:xfrm>
            <a:off x="457200" y="1499616"/>
            <a:ext cx="475488" cy="621792"/>
          </a:xfrm>
          <a:prstGeom prst="rect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1" name="Text 9"/>
          <p:cNvSpPr/>
          <p:nvPr/>
        </p:nvSpPr>
        <p:spPr>
          <a:xfrm>
            <a:off x="457200" y="1499616"/>
            <a:ext cx="475488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051560" y="1554480"/>
            <a:ext cx="7543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วันที่ 2: Arrays &amp; Enums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051560" y="1828800"/>
            <a:ext cx="7543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92BA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forall, sum, array indexing, enum types, bool2int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57200" y="2194560"/>
            <a:ext cx="8229600" cy="621792"/>
          </a:xfrm>
          <a:prstGeom prst="rect">
            <a:avLst/>
          </a:prstGeom>
          <a:solidFill>
            <a:srgbClr val="1E3A5F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5" name="Shape 13"/>
          <p:cNvSpPr/>
          <p:nvPr/>
        </p:nvSpPr>
        <p:spPr>
          <a:xfrm>
            <a:off x="457200" y="2194560"/>
            <a:ext cx="475488" cy="621792"/>
          </a:xfrm>
          <a:prstGeom prst="rect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6" name="Text 14"/>
          <p:cNvSpPr/>
          <p:nvPr/>
        </p:nvSpPr>
        <p:spPr>
          <a:xfrm>
            <a:off x="457200" y="2194560"/>
            <a:ext cx="475488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051560" y="2249424"/>
            <a:ext cx="7543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วันที่ 3: Global Constraints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1051560" y="2523744"/>
            <a:ext cx="7543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92BA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alldifferent, cumulative, table, disjunctive, Job Shop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457200" y="2889504"/>
            <a:ext cx="8229600" cy="621792"/>
          </a:xfrm>
          <a:prstGeom prst="rect">
            <a:avLst/>
          </a:prstGeom>
          <a:solidFill>
            <a:srgbClr val="1E3A5F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20" name="Shape 18"/>
          <p:cNvSpPr/>
          <p:nvPr/>
        </p:nvSpPr>
        <p:spPr>
          <a:xfrm>
            <a:off x="457200" y="2889504"/>
            <a:ext cx="475488" cy="621792"/>
          </a:xfrm>
          <a:prstGeom prst="rect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21" name="Text 19"/>
          <p:cNvSpPr/>
          <p:nvPr/>
        </p:nvSpPr>
        <p:spPr>
          <a:xfrm>
            <a:off x="457200" y="2889504"/>
            <a:ext cx="475488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1051560" y="2944368"/>
            <a:ext cx="7543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วันที่ 4: Scheduling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1051560" y="3218688"/>
            <a:ext cx="7543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92BA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predicate, Flexible Job Shop, Rostering, regular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57200" y="3584448"/>
            <a:ext cx="8229600" cy="621792"/>
          </a:xfrm>
          <a:prstGeom prst="rect">
            <a:avLst/>
          </a:prstGeom>
          <a:solidFill>
            <a:srgbClr val="1E3A5F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25" name="Shape 23"/>
          <p:cNvSpPr/>
          <p:nvPr/>
        </p:nvSpPr>
        <p:spPr>
          <a:xfrm>
            <a:off x="457200" y="3584448"/>
            <a:ext cx="475488" cy="621792"/>
          </a:xfrm>
          <a:prstGeom prst="rect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26" name="Text 24"/>
          <p:cNvSpPr/>
          <p:nvPr/>
        </p:nvSpPr>
        <p:spPr>
          <a:xfrm>
            <a:off x="457200" y="3584448"/>
            <a:ext cx="475488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1051560" y="3639312"/>
            <a:ext cx="7543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วันที่ 5: Routing &amp; Packing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1051560" y="3913632"/>
            <a:ext cx="7543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92BA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circuit/TSP/VRP, bin_packing_capa, Knapsack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457200" y="4279392"/>
            <a:ext cx="8229600" cy="621792"/>
          </a:xfrm>
          <a:prstGeom prst="rect">
            <a:avLst/>
          </a:prstGeom>
          <a:solidFill>
            <a:srgbClr val="1E3A5F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30" name="Shape 28"/>
          <p:cNvSpPr/>
          <p:nvPr/>
        </p:nvSpPr>
        <p:spPr>
          <a:xfrm>
            <a:off x="457200" y="4279392"/>
            <a:ext cx="475488" cy="621792"/>
          </a:xfrm>
          <a:prstGeom prst="rect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31" name="Text 29"/>
          <p:cNvSpPr/>
          <p:nvPr/>
        </p:nvSpPr>
        <p:spPr>
          <a:xfrm>
            <a:off x="457200" y="4279392"/>
            <a:ext cx="475488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1051560" y="4334256"/>
            <a:ext cx="7543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วันที่ 6: Effective Modelling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1051560" y="4608576"/>
            <a:ext cx="7543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92BA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tight bounds, redundant constraints, debugging, Capstone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2011680" cy="256032"/>
          </a:xfrm>
          <a:prstGeom prst="rect">
            <a:avLst/>
          </a:prstGeom>
          <a:solidFill>
            <a:srgbClr val="1A3C5E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3" name="Text 1"/>
          <p:cNvSpPr/>
          <p:nvPr/>
        </p:nvSpPr>
        <p:spPr>
          <a:xfrm>
            <a:off x="365760" y="164592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สรุปทุก Pattern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45720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Reference: Global Constraints ทั้งหมด</a:t>
            </a:r>
            <a:endParaRPr lang="en-US" sz="25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51560"/>
          <a:ext cx="8412480" cy="3749040"/>
        </p:xfrm>
        <a:graphic>
          <a:graphicData uri="http://schemas.openxmlformats.org/drawingml/2006/table">
            <a:tbl>
              <a:tblPr/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4688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6863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Constraint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C5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Include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C5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ใช้กับ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C5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ตัวอย่าง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C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6863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2E86A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alldifferent(x)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D7680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globals.mzn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Assignment, no-dup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alldifferent(assigned)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6863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2E86A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cumulative(s,d,r,b)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D7680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cumulative.mzn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Resource scheduling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cumulative(start,dur,workers,cap)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6863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2E86A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disjunctive(s,d)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D7680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disjunctive.mzn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Machine no-overlap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disjunctive([s[j,t]|j in J],[d[j,t]|j in J])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6863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2E86A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table(x,tuples)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D7680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table.mzn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Lookup/spec table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table([mat,hard,wt,cost],mat_table)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6863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2E86A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regular(seq,tr,q0,F)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D7680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regular.mzn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Shift patterns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regular([roster[e,d]|d in D],tr,S1,STATE)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6863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2E86A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circuit(next)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D7680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circuit.mzn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TSP/VRP routing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circuit(next)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6863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2E86A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bin_packing_capa(c,b,w)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D7680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bin_packing_capa.mzn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Bin packing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bin_packing_capa(cap,bin_of,sizes)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365760" y="4846320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วันที่ 6: Effective Modelling — Quick Ref: All Constraints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8412480" y="4846320"/>
            <a:ext cx="548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22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2011680" cy="256032"/>
          </a:xfrm>
          <a:prstGeom prst="rect">
            <a:avLst/>
          </a:prstGeom>
          <a:solidFill>
            <a:srgbClr val="1A3C5E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3" name="Text 1"/>
          <p:cNvSpPr/>
          <p:nvPr/>
        </p:nvSpPr>
        <p:spPr>
          <a:xfrm>
            <a:off x="365760" y="164592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Checklist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45720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Checklist ก่อน Submit โมเดล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4069080" cy="1078992"/>
          </a:xfrm>
          <a:prstGeom prst="rect">
            <a:avLst/>
          </a:prstGeom>
          <a:solidFill>
            <a:srgbClr val="F0F4F8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6" name="Shape 4"/>
          <p:cNvSpPr/>
          <p:nvPr/>
        </p:nvSpPr>
        <p:spPr>
          <a:xfrm>
            <a:off x="365760" y="1078992"/>
            <a:ext cx="64008" cy="1078992"/>
          </a:xfrm>
          <a:prstGeom prst="rect">
            <a:avLst/>
          </a:prstGeom>
          <a:solidFill>
            <a:srgbClr val="2E86AB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7" name="Text 5"/>
          <p:cNvSpPr/>
          <p:nvPr/>
        </p:nvSpPr>
        <p:spPr>
          <a:xfrm>
            <a:off x="502920" y="1170432"/>
            <a:ext cx="3794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E86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 📐  Bounds แน่น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02920" y="1554480"/>
            <a:ext cx="3794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ไม่ใช้ 0..9999 — คำนวณ lb/ub จากข้อมูลจริง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663440" y="1078992"/>
            <a:ext cx="4069080" cy="1078992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10" name="Shape 8"/>
          <p:cNvSpPr/>
          <p:nvPr/>
        </p:nvSpPr>
        <p:spPr>
          <a:xfrm>
            <a:off x="4663440" y="1078992"/>
            <a:ext cx="64008" cy="1078992"/>
          </a:xfrm>
          <a:prstGeom prst="rect">
            <a:avLst/>
          </a:prstGeom>
          <a:solidFill>
            <a:srgbClr val="1A6B47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1" name="Text 9"/>
          <p:cNvSpPr/>
          <p:nvPr/>
        </p:nvSpPr>
        <p:spPr>
          <a:xfrm>
            <a:off x="4800600" y="1170432"/>
            <a:ext cx="3794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6B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 ✅  solve satisfy ก่อน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800600" y="1554480"/>
            <a:ext cx="3794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ทดสอบว่า model ถูกก่อนเพิ่ม objective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65760" y="2267712"/>
            <a:ext cx="4069080" cy="1078992"/>
          </a:xfrm>
          <a:prstGeom prst="rect">
            <a:avLst/>
          </a:prstGeom>
          <a:solidFill>
            <a:srgbClr val="F0F4F8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14" name="Shape 12"/>
          <p:cNvSpPr/>
          <p:nvPr/>
        </p:nvSpPr>
        <p:spPr>
          <a:xfrm>
            <a:off x="365760" y="2267712"/>
            <a:ext cx="64008" cy="1078992"/>
          </a:xfrm>
          <a:prstGeom prst="rect">
            <a:avLst/>
          </a:prstGeom>
          <a:solidFill>
            <a:srgbClr val="0D7680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5" name="Text 13"/>
          <p:cNvSpPr/>
          <p:nvPr/>
        </p:nvSpPr>
        <p:spPr>
          <a:xfrm>
            <a:off x="502920" y="2359152"/>
            <a:ext cx="3794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7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 🔢  ข้อมูลขนาดเล็กก่อน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02920" y="2743200"/>
            <a:ext cx="3794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ทดสอบกับ n=2,3 ก่อน scale ขึ้น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663440" y="2267712"/>
            <a:ext cx="4069080" cy="1078992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18" name="Shape 16"/>
          <p:cNvSpPr/>
          <p:nvPr/>
        </p:nvSpPr>
        <p:spPr>
          <a:xfrm>
            <a:off x="4663440" y="2267712"/>
            <a:ext cx="64008" cy="1078992"/>
          </a:xfrm>
          <a:prstGeom prst="rect">
            <a:avLst/>
          </a:prstGeom>
          <a:solidFill>
            <a:srgbClr val="6B46C1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9" name="Text 17"/>
          <p:cNvSpPr/>
          <p:nvPr/>
        </p:nvSpPr>
        <p:spPr>
          <a:xfrm>
            <a:off x="4800600" y="2359152"/>
            <a:ext cx="3794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6B46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 🔍  ตรวจ output มือ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4800600" y="2743200"/>
            <a:ext cx="3794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คำนวณ resource usage เทียบกับ constraint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365760" y="3456432"/>
            <a:ext cx="4069080" cy="1078992"/>
          </a:xfrm>
          <a:prstGeom prst="rect">
            <a:avLst/>
          </a:prstGeom>
          <a:solidFill>
            <a:srgbClr val="F0F4F8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22" name="Shape 20"/>
          <p:cNvSpPr/>
          <p:nvPr/>
        </p:nvSpPr>
        <p:spPr>
          <a:xfrm>
            <a:off x="365760" y="3456432"/>
            <a:ext cx="64008" cy="1078992"/>
          </a:xfrm>
          <a:prstGeom prst="rect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23" name="Text 21"/>
          <p:cNvSpPr/>
          <p:nvPr/>
        </p:nvSpPr>
        <p:spPr>
          <a:xfrm>
            <a:off x="502920" y="3547872"/>
            <a:ext cx="3794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 💬  มี assert() ตรวจ data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02920" y="3931920"/>
            <a:ext cx="3794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บอก error ที่ชัดเจนถ้า data ผิด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663440" y="3456432"/>
            <a:ext cx="4069080" cy="1078992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26" name="Shape 24"/>
          <p:cNvSpPr/>
          <p:nvPr/>
        </p:nvSpPr>
        <p:spPr>
          <a:xfrm>
            <a:off x="4663440" y="3456432"/>
            <a:ext cx="64008" cy="1078992"/>
          </a:xfrm>
          <a:prstGeom prst="rect">
            <a:avLst/>
          </a:prstGeom>
          <a:solidFill>
            <a:srgbClr val="F18F01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27" name="Text 25"/>
          <p:cNvSpPr/>
          <p:nvPr/>
        </p:nvSpPr>
        <p:spPr>
          <a:xfrm>
            <a:off x="4800600" y="3547872"/>
            <a:ext cx="3794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18F0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 📖  Comment อธิบาย constraint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4800600" y="3931920"/>
            <a:ext cx="3794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คนอื่น (หรือตัวเองในอีก 1 เดือน) อ่านรู้เรื่อง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365760" y="4846320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วันที่ 6: Effective Modelling — Modelling Checklist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8412480" y="4846320"/>
            <a:ext cx="548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22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2011680" cy="256032"/>
          </a:xfrm>
          <a:prstGeom prst="rect">
            <a:avLst/>
          </a:prstGeom>
          <a:solidFill>
            <a:srgbClr val="1A3C5E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3" name="Text 1"/>
          <p:cNvSpPr/>
          <p:nvPr/>
        </p:nvSpPr>
        <p:spPr>
          <a:xfrm>
            <a:off x="365760" y="164592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ขั้นต่อไป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45720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ขั้นต่อไปหลังอบรม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4069080" cy="3749040"/>
          </a:xfrm>
          <a:prstGeom prst="rect">
            <a:avLst/>
          </a:prstGeom>
          <a:solidFill>
            <a:srgbClr val="F0F4F8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6" name="Shape 4"/>
          <p:cNvSpPr/>
          <p:nvPr/>
        </p:nvSpPr>
        <p:spPr>
          <a:xfrm>
            <a:off x="365760" y="1078992"/>
            <a:ext cx="4069080" cy="384048"/>
          </a:xfrm>
          <a:prstGeom prst="rect">
            <a:avLst/>
          </a:prstGeom>
          <a:solidFill>
            <a:srgbClr val="1A3C5E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7" name="Text 5"/>
          <p:cNvSpPr/>
          <p:nvPr/>
        </p:nvSpPr>
        <p:spPr>
          <a:xfrm>
            <a:off x="365760" y="1078992"/>
            <a:ext cx="40690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📚  แหล่งเรียนรู้เพิ่มเติม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02920" y="1572768"/>
            <a:ext cx="37947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docs.minizinc.dev — Official tutorial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02920" y="2121408"/>
            <a:ext cx="37947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minizinc.org/challenge — ตัวอย่างโมเดลจาก competition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02920" y="2670048"/>
            <a:ext cx="37947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MiniZinc Playground — ทดลองออนไลน์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02920" y="3218688"/>
            <a:ext cx="37947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Python + minizinc package — เชื่อม automation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502920" y="3767328"/>
            <a:ext cx="37947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Gurobi/CPLEX — สำหรับปัญหาใหญ่ระดับ enterprise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709160" y="1078992"/>
            <a:ext cx="4069080" cy="3749040"/>
          </a:xfrm>
          <a:prstGeom prst="rect">
            <a:avLst/>
          </a:prstGeom>
          <a:solidFill>
            <a:srgbClr val="F7FAFC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4" name="Shape 12"/>
          <p:cNvSpPr/>
          <p:nvPr/>
        </p:nvSpPr>
        <p:spPr>
          <a:xfrm>
            <a:off x="4709160" y="1078992"/>
            <a:ext cx="4069080" cy="384048"/>
          </a:xfrm>
          <a:prstGeom prst="rect">
            <a:avLst/>
          </a:prstGeom>
          <a:solidFill>
            <a:srgbClr val="1A6B47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5" name="Text 13"/>
          <p:cNvSpPr/>
          <p:nvPr/>
        </p:nvSpPr>
        <p:spPr>
          <a:xfrm>
            <a:off x="4709160" y="1078992"/>
            <a:ext cx="40690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🎯  นำไปใช้จริง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846320" y="1572768"/>
            <a:ext cx="37947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6B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นำ Capstone model ไปทดสอบกับข้อมูลจริง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846320" y="2121408"/>
            <a:ext cx="37947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6B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เพิ่ม solver เชิงพาณิชย์ถ้าปัญหาใหญ่ขึ้น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846320" y="2670048"/>
            <a:ext cx="37947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6B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ขยาย model เพิ่ม constraint ใหม่ตามความต้องการ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846320" y="3218688"/>
            <a:ext cx="37947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6B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แชร์ model กับทีม — ทำ documentation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846320" y="3767328"/>
            <a:ext cx="37947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6B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ติดต่อวิทยากรถ้าติดปัญหา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365760" y="4846320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วันที่ 6: Effective Modelling — ขั้นต่อไป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8412480" y="4846320"/>
            <a:ext cx="548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/ 22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A3C5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A3C5E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228600" cy="5143500"/>
          </a:xfrm>
          <a:prstGeom prst="rect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4" name="Shape 2"/>
          <p:cNvSpPr/>
          <p:nvPr/>
        </p:nvSpPr>
        <p:spPr>
          <a:xfrm>
            <a:off x="0" y="4572000"/>
            <a:ext cx="9144000" cy="571500"/>
          </a:xfrm>
          <a:prstGeom prst="rect">
            <a:avLst/>
          </a:prstGeom>
          <a:solidFill>
            <a:srgbClr val="122B45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5" name="Text 3"/>
          <p:cNvSpPr/>
          <p:nvPr/>
        </p:nvSpPr>
        <p:spPr>
          <a:xfrm>
            <a:off x="3931920" y="548640"/>
            <a:ext cx="12801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800" dirty="0">
                <a:solidFill>
                  <a:srgbClr val="000000"/>
                </a:solidFill>
              </a:rPr>
              <a:t>🎉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457200" y="141732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ขอแสดงความยินดี!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457200" y="2057400"/>
            <a:ext cx="8229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ท่านสามารถใช้ MiniZinc แก้ปัญหา Optimization</a:t>
            </a:r>
            <a:endParaRPr lang="en-US" sz="1800" dirty="0"/>
          </a:p>
          <a:p>
            <a:pPr marL="0" indent="0" algn="ctr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ในงานอุตสาหกรรมได้แล้ว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1371600" y="2926080"/>
            <a:ext cx="6400800" cy="36576"/>
          </a:xfrm>
          <a:prstGeom prst="rect">
            <a:avLst/>
          </a:prstGeom>
          <a:solidFill>
            <a:srgbClr val="2E5075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9" name="Shape 7"/>
          <p:cNvSpPr/>
          <p:nvPr/>
        </p:nvSpPr>
        <p:spPr>
          <a:xfrm>
            <a:off x="457200" y="3063240"/>
            <a:ext cx="1115568" cy="347472"/>
          </a:xfrm>
          <a:prstGeom prst="rect">
            <a:avLst/>
          </a:prstGeom>
          <a:solidFill>
            <a:srgbClr val="1E3A5F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0" name="Text 8"/>
          <p:cNvSpPr/>
          <p:nvPr/>
        </p:nvSpPr>
        <p:spPr>
          <a:xfrm>
            <a:off x="457200" y="3063240"/>
            <a:ext cx="111556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92BA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Variables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1691640" y="3063240"/>
            <a:ext cx="1115568" cy="347472"/>
          </a:xfrm>
          <a:prstGeom prst="rect">
            <a:avLst/>
          </a:prstGeom>
          <a:solidFill>
            <a:srgbClr val="1E3A5F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2" name="Text 10"/>
          <p:cNvSpPr/>
          <p:nvPr/>
        </p:nvSpPr>
        <p:spPr>
          <a:xfrm>
            <a:off x="1691640" y="3063240"/>
            <a:ext cx="111556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92BA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Constraints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2926080" y="3063240"/>
            <a:ext cx="1115568" cy="347472"/>
          </a:xfrm>
          <a:prstGeom prst="rect">
            <a:avLst/>
          </a:prstGeom>
          <a:solidFill>
            <a:srgbClr val="1E3A5F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4" name="Text 12"/>
          <p:cNvSpPr/>
          <p:nvPr/>
        </p:nvSpPr>
        <p:spPr>
          <a:xfrm>
            <a:off x="2926080" y="3063240"/>
            <a:ext cx="111556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92BA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forall/sum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4160520" y="3063240"/>
            <a:ext cx="1115568" cy="347472"/>
          </a:xfrm>
          <a:prstGeom prst="rect">
            <a:avLst/>
          </a:prstGeom>
          <a:solidFill>
            <a:srgbClr val="1E3A5F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6" name="Text 14"/>
          <p:cNvSpPr/>
          <p:nvPr/>
        </p:nvSpPr>
        <p:spPr>
          <a:xfrm>
            <a:off x="4160520" y="3063240"/>
            <a:ext cx="111556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92BA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Arrays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5394960" y="3063240"/>
            <a:ext cx="1115568" cy="347472"/>
          </a:xfrm>
          <a:prstGeom prst="rect">
            <a:avLst/>
          </a:prstGeom>
          <a:solidFill>
            <a:srgbClr val="1E3A5F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8" name="Text 16"/>
          <p:cNvSpPr/>
          <p:nvPr/>
        </p:nvSpPr>
        <p:spPr>
          <a:xfrm>
            <a:off x="5394960" y="3063240"/>
            <a:ext cx="111556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92BA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Enum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6629400" y="3063240"/>
            <a:ext cx="1115568" cy="347472"/>
          </a:xfrm>
          <a:prstGeom prst="rect">
            <a:avLst/>
          </a:prstGeom>
          <a:solidFill>
            <a:srgbClr val="1E3A5F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20" name="Text 18"/>
          <p:cNvSpPr/>
          <p:nvPr/>
        </p:nvSpPr>
        <p:spPr>
          <a:xfrm>
            <a:off x="6629400" y="3063240"/>
            <a:ext cx="111556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92BA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Constraints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7863840" y="3063240"/>
            <a:ext cx="1115568" cy="347472"/>
          </a:xfrm>
          <a:prstGeom prst="rect">
            <a:avLst/>
          </a:prstGeom>
          <a:solidFill>
            <a:srgbClr val="1E3A5F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22" name="Text 20"/>
          <p:cNvSpPr/>
          <p:nvPr/>
        </p:nvSpPr>
        <p:spPr>
          <a:xfrm>
            <a:off x="7863840" y="3063240"/>
            <a:ext cx="111556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92BA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cumulative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457200" y="3538728"/>
            <a:ext cx="1115568" cy="347472"/>
          </a:xfrm>
          <a:prstGeom prst="rect">
            <a:avLst/>
          </a:prstGeom>
          <a:solidFill>
            <a:srgbClr val="1E3A5F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24" name="Text 22"/>
          <p:cNvSpPr/>
          <p:nvPr/>
        </p:nvSpPr>
        <p:spPr>
          <a:xfrm>
            <a:off x="457200" y="3538728"/>
            <a:ext cx="111556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92BA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alldifferent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1691640" y="3538728"/>
            <a:ext cx="1115568" cy="347472"/>
          </a:xfrm>
          <a:prstGeom prst="rect">
            <a:avLst/>
          </a:prstGeom>
          <a:solidFill>
            <a:srgbClr val="1E3A5F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26" name="Text 24"/>
          <p:cNvSpPr/>
          <p:nvPr/>
        </p:nvSpPr>
        <p:spPr>
          <a:xfrm>
            <a:off x="1691640" y="3538728"/>
            <a:ext cx="111556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92BA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Job Shop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2926080" y="3538728"/>
            <a:ext cx="1115568" cy="347472"/>
          </a:xfrm>
          <a:prstGeom prst="rect">
            <a:avLst/>
          </a:prstGeom>
          <a:solidFill>
            <a:srgbClr val="1E3A5F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28" name="Text 26"/>
          <p:cNvSpPr/>
          <p:nvPr/>
        </p:nvSpPr>
        <p:spPr>
          <a:xfrm>
            <a:off x="2926080" y="3538728"/>
            <a:ext cx="111556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92BA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Rostering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4160520" y="3538728"/>
            <a:ext cx="1115568" cy="347472"/>
          </a:xfrm>
          <a:prstGeom prst="rect">
            <a:avLst/>
          </a:prstGeom>
          <a:solidFill>
            <a:srgbClr val="1E3A5F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30" name="Text 28"/>
          <p:cNvSpPr/>
          <p:nvPr/>
        </p:nvSpPr>
        <p:spPr>
          <a:xfrm>
            <a:off x="4160520" y="3538728"/>
            <a:ext cx="111556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92BA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regular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5394960" y="3538728"/>
            <a:ext cx="1115568" cy="347472"/>
          </a:xfrm>
          <a:prstGeom prst="rect">
            <a:avLst/>
          </a:prstGeom>
          <a:solidFill>
            <a:srgbClr val="1E3A5F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32" name="Text 30"/>
          <p:cNvSpPr/>
          <p:nvPr/>
        </p:nvSpPr>
        <p:spPr>
          <a:xfrm>
            <a:off x="5394960" y="3538728"/>
            <a:ext cx="111556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92BA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VRP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6629400" y="3538728"/>
            <a:ext cx="1115568" cy="347472"/>
          </a:xfrm>
          <a:prstGeom prst="rect">
            <a:avLst/>
          </a:prstGeom>
          <a:solidFill>
            <a:srgbClr val="1E3A5F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34" name="Text 32"/>
          <p:cNvSpPr/>
          <p:nvPr/>
        </p:nvSpPr>
        <p:spPr>
          <a:xfrm>
            <a:off x="6629400" y="3538728"/>
            <a:ext cx="111556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92BA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 Packing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7863840" y="3538728"/>
            <a:ext cx="1115568" cy="347472"/>
          </a:xfrm>
          <a:prstGeom prst="rect">
            <a:avLst/>
          </a:prstGeom>
          <a:solidFill>
            <a:srgbClr val="1E3A5F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36" name="Text 34"/>
          <p:cNvSpPr/>
          <p:nvPr/>
        </p:nvSpPr>
        <p:spPr>
          <a:xfrm>
            <a:off x="7863840" y="3538728"/>
            <a:ext cx="111556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92BA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Knapsack</a:t>
            </a:r>
            <a:endParaRPr lang="en-US" sz="850" dirty="0"/>
          </a:p>
        </p:txBody>
      </p:sp>
      <p:sp>
        <p:nvSpPr>
          <p:cNvPr id="37" name="Shape 35"/>
          <p:cNvSpPr/>
          <p:nvPr/>
        </p:nvSpPr>
        <p:spPr>
          <a:xfrm>
            <a:off x="457200" y="4014216"/>
            <a:ext cx="1115568" cy="347472"/>
          </a:xfrm>
          <a:prstGeom prst="rect">
            <a:avLst/>
          </a:prstGeom>
          <a:solidFill>
            <a:srgbClr val="1E3A5F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38" name="Text 36"/>
          <p:cNvSpPr/>
          <p:nvPr/>
        </p:nvSpPr>
        <p:spPr>
          <a:xfrm>
            <a:off x="457200" y="4014216"/>
            <a:ext cx="111556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92BA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Debugging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457200" y="4617720"/>
            <a:ext cx="8229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4A7E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docs.minizinc.dev  |  minizinc.org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2011680" cy="256032"/>
          </a:xfrm>
          <a:prstGeom prst="rect">
            <a:avLst/>
          </a:prstGeom>
          <a:solidFill>
            <a:srgbClr val="1A3C5E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3" name="Text 1"/>
          <p:cNvSpPr/>
          <p:nvPr/>
        </p:nvSpPr>
        <p:spPr>
          <a:xfrm>
            <a:off x="365760" y="164592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Ref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45720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Reference: Effective Modelling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3703320"/>
          </a:xfrm>
          <a:prstGeom prst="rect">
            <a:avLst/>
          </a:prstGeom>
          <a:solidFill>
            <a:srgbClr val="1E2D3D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6" name="Shape 4"/>
          <p:cNvSpPr/>
          <p:nvPr/>
        </p:nvSpPr>
        <p:spPr>
          <a:xfrm>
            <a:off x="365760" y="1078992"/>
            <a:ext cx="54864" cy="3703320"/>
          </a:xfrm>
          <a:prstGeom prst="rect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7" name="Text 5"/>
          <p:cNvSpPr/>
          <p:nvPr/>
        </p:nvSpPr>
        <p:spPr>
          <a:xfrm>
            <a:off x="512064" y="1152144"/>
            <a:ext cx="8247888" cy="363016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% ─── TIGHT BOUNDS ──────────────────────────────────</a:t>
            </a:r>
            <a:r>
              <a:rPr lang="en-US" sz="105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BC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total = sum(j,t)(d[j,t]);         </a:t>
            </a:r>
            <a:r>
              <a:rPr lang="en-US" sz="105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% upper bound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BC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lb    = max(j)(sum(t)(d[j,t]));   </a:t>
            </a:r>
            <a:r>
              <a:rPr lang="en-US" sz="105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% lower bound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EC8A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 lb..total: makespan;</a:t>
            </a:r>
            <a:r>
              <a:rPr lang="en-US" sz="105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% ─── REDUNDANT CONSTRAINTS ─────────────────────────</a:t>
            </a:r>
            <a:r>
              <a:rPr lang="en-US" sz="105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% Lower bound: objective &gt;= sum(</a:t>
            </a:r>
            <a:r>
              <a:rPr lang="en-US" sz="1050" dirty="0" err="1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row_min</a:t>
            </a:r>
            <a:r>
              <a:rPr lang="en-US" sz="105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EC8A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constraint sum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(w)(min(t)(cost[w,t])) &lt;= sum(w)(cost[w,assigned[w]]);</a:t>
            </a:r>
            <a:r>
              <a:rPr lang="en-US" sz="105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% ─── SYMMETRY BREAKING (examples) ──────────────────</a:t>
            </a:r>
            <a:r>
              <a:rPr lang="en-US" sz="105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% Bin Packing: bin_of[i] &lt;= bin_of[i+1]+1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F4A2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constraint forall</a:t>
            </a: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(i in 1..n-1)(bin_of[i] &lt;= bin_of[i+1]+1);</a:t>
            </a:r>
            <a:r>
              <a:rPr lang="en-US" sz="105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% Job Shop: ถ้า 2 jobs ทำ task เดียวกันพร้อมกัน force j&lt;k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% Assignment: worker 1 ได้ task </a:t>
            </a:r>
            <a:r>
              <a:rPr lang="en-US" sz="1050" dirty="0" err="1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หมายเลขน้อยที่สุด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constraint assigned[1] = min(TASKS);  </a:t>
            </a:r>
            <a:r>
              <a:rPr lang="en-US" sz="105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% อาจเร็วขึ้น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365760" y="4846320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วันที่ 6: Effective Modelling — Quick Ref: Effective Modelling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0" y="4846320"/>
            <a:ext cx="548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/ 22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2011680" cy="256032"/>
          </a:xfrm>
          <a:prstGeom prst="rect">
            <a:avLst/>
          </a:prstGeom>
          <a:solidFill>
            <a:srgbClr val="1A3C5E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3" name="Text 1"/>
          <p:cNvSpPr/>
          <p:nvPr/>
        </p:nvSpPr>
        <p:spPr>
          <a:xfrm>
            <a:off x="365760" y="164592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Ref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45720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Reference: Debugging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3703320"/>
          </a:xfrm>
          <a:prstGeom prst="rect">
            <a:avLst/>
          </a:prstGeom>
          <a:solidFill>
            <a:srgbClr val="1E2D3D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6" name="Shape 4"/>
          <p:cNvSpPr/>
          <p:nvPr/>
        </p:nvSpPr>
        <p:spPr>
          <a:xfrm>
            <a:off x="365760" y="1078992"/>
            <a:ext cx="54864" cy="3703320"/>
          </a:xfrm>
          <a:prstGeom prst="rect">
            <a:avLst/>
          </a:prstGeom>
          <a:solidFill>
            <a:srgbClr val="DC2626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7" name="Text 5"/>
          <p:cNvSpPr/>
          <p:nvPr/>
        </p:nvSpPr>
        <p:spPr>
          <a:xfrm>
            <a:off x="512064" y="1152144"/>
            <a:ext cx="8247888" cy="363016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% ─── UNSATISFIABLE ──────────────────────────────────</a:t>
            </a:r>
            <a:r>
              <a:rPr lang="en-US" sz="105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% 1. เพิ่ม constraint ทีละอย่าง: เริ่ม solve satisfy </a:t>
            </a:r>
            <a:r>
              <a:rPr lang="en-US" sz="1050" dirty="0" err="1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ก่อน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BC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solve satisfy;  </a:t>
            </a:r>
            <a:r>
              <a:rPr lang="en-US" sz="105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% ไม่ minimize </a:t>
            </a:r>
            <a:r>
              <a:rPr lang="en-US" sz="1050" dirty="0" err="1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ก่อน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% 2. ลด n: เริ่มด้วยข้อมูล 2-3 items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% 3. Comment constraint ออก แล้วเพิ่มทีละอย่าง</a:t>
            </a:r>
            <a:r>
              <a:rPr lang="en-US" sz="105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% ─── SLOW SOLVER ───────────────────────────────────</a:t>
            </a:r>
            <a:r>
              <a:rPr lang="en-US" sz="105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% 1. คำนวณ bounds </a:t>
            </a:r>
            <a:r>
              <a:rPr lang="en-US" sz="1050" dirty="0" err="1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แทน</a:t>
            </a:r>
            <a:r>
              <a:rPr lang="en-US" sz="105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hardcode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BC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</a:t>
            </a:r>
            <a:r>
              <a:rPr lang="en-US" sz="1050" dirty="0">
                <a:solidFill>
                  <a:srgbClr val="7EC8A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ub = sum(j,t)(d[j,t]);  </a:t>
            </a:r>
            <a:r>
              <a:rPr lang="en-US" sz="105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% แทน var 0..999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% 2. เพิ่ม symmetry breaking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% 3. ลอง solver อื่น: --solver chuffed หรือ or-tools</a:t>
            </a:r>
            <a:r>
              <a:rPr lang="en-US" sz="105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% ─── WRONG RESULTS ─────────────────────────────────</a:t>
            </a:r>
            <a:r>
              <a:rPr lang="en-US" sz="105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% 1. เพิ่ม assert() ตรวจ input data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E8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constraint assert(n &gt; 0, "n must be positive");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180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% 2. เพิ่ม output ตรวจ intermediate values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F9E78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output ["resource_used = ", show(sum(p)(c[p,r]*x[p])), "\n"];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365760" y="4846320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วันที่ 6: Effective Modelling — Quick Ref: Debugging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0" y="4846320"/>
            <a:ext cx="548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/ 22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2011680" cy="256032"/>
          </a:xfrm>
          <a:prstGeom prst="rect">
            <a:avLst/>
          </a:prstGeom>
          <a:solidFill>
            <a:srgbClr val="1A3C5E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3" name="Text 1"/>
          <p:cNvSpPr/>
          <p:nvPr/>
        </p:nvSpPr>
        <p:spPr>
          <a:xfrm>
            <a:off x="365760" y="164592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Pattern Library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45720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ตัดสินใจเลือก Pattern ให้ถูก</a:t>
            </a:r>
            <a:endParaRPr lang="en-US" sz="27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51560"/>
          <a:ext cx="8412480" cy="3749042"/>
        </p:xfrm>
        <a:graphic>
          <a:graphicData uri="http://schemas.openxmlformats.org/drawingml/2006/table">
            <a:tbl>
              <a:tblPr/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4082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ต้องการ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C5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Pattern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C5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วันที่เรียน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C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082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1A3C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ทุกค่าต้องต่างกัน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2E86A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alldifferent(x)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71809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วัน 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082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1A3C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ทรัพยากรไม่เกิน cap ทุกเวลา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2E86A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cumulative(s,d,r,cap)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71809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วัน 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082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1A3C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เครื่องทีละ 1 job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2E86A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disjunctive(s,d)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71809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วัน 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082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1A3C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เลือกจาก tuple ที่กำหนด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2E86A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table(x, allowed)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71809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วัน 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4082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1A3C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บังคับ shift pattern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2E86A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regular(seq,tr,q0,F)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71809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วัน 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4082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1A3C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Hamiltonian cycle (TSP/VRP)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2E86A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circuit(next)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71809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วัน 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4082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1A3C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จัดสิ่งของลงกล่อง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2E86A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bin_packing_capa(cap,b,w)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71809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วัน 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4082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1A3C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เลือก item maximize profit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2E86A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0/1 Knapsack หรือ var set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71809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วัน 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4082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1A3C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ลด duplicate solutions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2E86A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Symmetry breaking constraint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71809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วัน 5/6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4082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1A3C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เพิ่ม pruning speed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2E86A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Redundant constraints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71809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วัน 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365760" y="4846320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วันที่ 6: Effective Modelling — Pattern Library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8412480" y="4846320"/>
            <a:ext cx="548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 / 22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2011680" cy="256032"/>
          </a:xfrm>
          <a:prstGeom prst="rect">
            <a:avLst/>
          </a:prstGeom>
          <a:solidFill>
            <a:srgbClr val="F18F01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3" name="Text 1"/>
          <p:cNvSpPr/>
          <p:nvPr/>
        </p:nvSpPr>
        <p:spPr>
          <a:xfrm>
            <a:off x="365760" y="164592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ข้อผิดพลาด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45720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ข้อผิดพลาดที่พบบ่อย — Effective Modelling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804672"/>
          </a:xfrm>
          <a:prstGeom prst="rect">
            <a:avLst/>
          </a:prstGeom>
          <a:solidFill>
            <a:srgbClr val="F0F4F8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6" name="Shape 4"/>
          <p:cNvSpPr/>
          <p:nvPr/>
        </p:nvSpPr>
        <p:spPr>
          <a:xfrm>
            <a:off x="365760" y="1078992"/>
            <a:ext cx="64008" cy="804672"/>
          </a:xfrm>
          <a:prstGeom prst="rect">
            <a:avLst/>
          </a:prstGeom>
          <a:solidFill>
            <a:srgbClr val="F18F01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7" name="Text 5"/>
          <p:cNvSpPr/>
          <p:nvPr/>
        </p:nvSpPr>
        <p:spPr>
          <a:xfrm>
            <a:off x="530352" y="1115568"/>
            <a:ext cx="8229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C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❌  var 0..1000: makespan  % hardcode bound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30352" y="1353312"/>
            <a:ext cx="8229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6B4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✅  int: ub = sum(j,t)(d[j,t]);  var lb..ub: makespan;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30352" y="1645920"/>
            <a:ext cx="8229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Bound ที่ดีคำนวณได้เสมอ — ไม่ต้อง guess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365760" y="1993392"/>
            <a:ext cx="8412480" cy="804672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1" name="Shape 9"/>
          <p:cNvSpPr/>
          <p:nvPr/>
        </p:nvSpPr>
        <p:spPr>
          <a:xfrm>
            <a:off x="365760" y="1993392"/>
            <a:ext cx="64008" cy="804672"/>
          </a:xfrm>
          <a:prstGeom prst="rect">
            <a:avLst/>
          </a:prstGeom>
          <a:solidFill>
            <a:srgbClr val="F18F01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2" name="Text 10"/>
          <p:cNvSpPr/>
          <p:nvPr/>
        </p:nvSpPr>
        <p:spPr>
          <a:xfrm>
            <a:off x="530352" y="2029968"/>
            <a:ext cx="8229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C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❌  solve minimize cost;  % ก่อนทดสอบ satisfy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30352" y="2267712"/>
            <a:ext cx="8229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6B4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✅  solve satisfy;  % ทดสอบก่อน, เปลี่ยนเป็น minimize ทีหลัง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30352" y="2560320"/>
            <a:ext cx="8229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เริ่ม minimize โดยไม่ตรวจว่า model ถูก → UNSAT หาสาเหตุยาก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365760" y="2907792"/>
            <a:ext cx="8412480" cy="804672"/>
          </a:xfrm>
          <a:prstGeom prst="rect">
            <a:avLst/>
          </a:prstGeom>
          <a:solidFill>
            <a:srgbClr val="F0F4F8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6" name="Shape 14"/>
          <p:cNvSpPr/>
          <p:nvPr/>
        </p:nvSpPr>
        <p:spPr>
          <a:xfrm>
            <a:off x="365760" y="2907792"/>
            <a:ext cx="64008" cy="804672"/>
          </a:xfrm>
          <a:prstGeom prst="rect">
            <a:avLst/>
          </a:prstGeom>
          <a:solidFill>
            <a:srgbClr val="F18F01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7" name="Text 15"/>
          <p:cNvSpPr/>
          <p:nvPr/>
        </p:nvSpPr>
        <p:spPr>
          <a:xfrm>
            <a:off x="530352" y="2944368"/>
            <a:ext cx="8229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C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❌  % ไม่มี comment อธิบาย constraint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530352" y="3182112"/>
            <a:ext cx="8229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6B4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✅  % Demand: กะเช้าต้องมีพนักงานอย่างน้อย req_morning คน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530352" y="3474720"/>
            <a:ext cx="8229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ที่ไม่มี comment อ่านยากมาก โดยเฉพาะเมื่อกลับมาแก้ทีหลัง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365760" y="3822192"/>
            <a:ext cx="8412480" cy="804672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21" name="Shape 19"/>
          <p:cNvSpPr/>
          <p:nvPr/>
        </p:nvSpPr>
        <p:spPr>
          <a:xfrm>
            <a:off x="365760" y="3822192"/>
            <a:ext cx="64008" cy="804672"/>
          </a:xfrm>
          <a:prstGeom prst="rect">
            <a:avLst/>
          </a:prstGeom>
          <a:solidFill>
            <a:srgbClr val="F18F01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22" name="Text 20"/>
          <p:cNvSpPr/>
          <p:nvPr/>
        </p:nvSpPr>
        <p:spPr>
          <a:xfrm>
            <a:off x="530352" y="3858768"/>
            <a:ext cx="8229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C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❌  forall(i,j in 1..n where i&lt;j)(sym_break[i,j])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530352" y="4096512"/>
            <a:ext cx="8229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6B4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✅  % ตรวจว่า symmetry breaking ไม่ตัด optimal solution ออก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530352" y="4389120"/>
            <a:ext cx="8229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Symmetry breaking ผิดอาจตัดคำตอบที่ดีออก — ต้องระวัง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365760" y="4846320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วันที่ 6: Effective Modelling — Common Mistakes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8412480" y="4846320"/>
            <a:ext cx="548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/ 22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2011680" cy="256032"/>
          </a:xfrm>
          <a:prstGeom prst="rect">
            <a:avLst/>
          </a:prstGeom>
          <a:solidFill>
            <a:srgbClr val="1A3C5E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3" name="Text 1"/>
          <p:cNvSpPr/>
          <p:nvPr/>
        </p:nvSpPr>
        <p:spPr>
          <a:xfrm>
            <a:off x="365760" y="164592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Bonus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45720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Solver ที่รองรับใน MiniZinc</a:t>
            </a:r>
            <a:endParaRPr lang="en-US" sz="28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51560"/>
          <a:ext cx="8412480" cy="2841174"/>
        </p:xfrm>
        <a:graphic>
          <a:graphicData uri="http://schemas.openxmlformats.org/drawingml/2006/table">
            <a:tbl>
              <a:tblPr/>
              <a:tblGrid>
                <a:gridCol w="1645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918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04949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Solver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C5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ประเภท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C5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เหมาะกับ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C5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Flag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C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4949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2E86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Gecode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CP (default)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Integer, Scheduling, Rostering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D7680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--solver gecode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4949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2E86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Chuffed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CP (lazy)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Scheduling ใหญ่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D7680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--solver chuffed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4949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2E86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OR-Tools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CP+MIP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Mixed problems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D7680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--solver org.minizinc.ortools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4949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2E86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MIP (free)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Linear/Integer Programming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D7680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--solver highs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04949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2E86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COIN-BC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MIP (free)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 Programming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D7680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--solver cbc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04949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2E86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Gurobi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MIP (commercial)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Production LP/MIP ขนาดใหญ่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D7680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--solver gurobi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365760" y="4005072"/>
            <a:ext cx="8412480" cy="804672"/>
          </a:xfrm>
          <a:prstGeom prst="rect">
            <a:avLst/>
          </a:prstGeom>
          <a:solidFill>
            <a:srgbClr val="FEF3E2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7" name="Shape 4"/>
          <p:cNvSpPr/>
          <p:nvPr/>
        </p:nvSpPr>
        <p:spPr>
          <a:xfrm>
            <a:off x="365760" y="4005072"/>
            <a:ext cx="64008" cy="804672"/>
          </a:xfrm>
          <a:prstGeom prst="rect">
            <a:avLst/>
          </a:prstGeom>
          <a:solidFill>
            <a:srgbClr val="F18F01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8" name="Text 5"/>
          <p:cNvSpPr/>
          <p:nvPr/>
        </p:nvSpPr>
        <p:spPr>
          <a:xfrm>
            <a:off x="530352" y="4041648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18F0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แนะนำสำหรับผู้เริ่มต้น: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530352" y="4315968"/>
            <a:ext cx="822960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Gecode (default) สำหรับปัญหาทั่วไป  |  Chuffed สำหรับ Scheduling  |  HiGHS/COIN-BC สำหรับปัญหา Linear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365760" y="4846320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วันที่ 6: Effective Modelling — Solver Comparison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8412480" y="4846320"/>
            <a:ext cx="548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 / 22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2011680" cy="256032"/>
          </a:xfrm>
          <a:prstGeom prst="rect">
            <a:avLst/>
          </a:prstGeom>
          <a:solidFill>
            <a:srgbClr val="1A3C5E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3" name="Text 1"/>
          <p:cNvSpPr/>
          <p:nvPr/>
        </p:nvSpPr>
        <p:spPr>
          <a:xfrm>
            <a:off x="365760" y="164592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สรุปวันที่ 6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45720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สรุปวันที่ 6 — Effective Modelling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777240"/>
          </a:xfrm>
          <a:prstGeom prst="rect">
            <a:avLst/>
          </a:prstGeom>
          <a:solidFill>
            <a:srgbClr val="F0F4F8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6" name="Shape 4"/>
          <p:cNvSpPr/>
          <p:nvPr/>
        </p:nvSpPr>
        <p:spPr>
          <a:xfrm>
            <a:off x="365760" y="1078992"/>
            <a:ext cx="64008" cy="777240"/>
          </a:xfrm>
          <a:prstGeom prst="rect">
            <a:avLst/>
          </a:prstGeom>
          <a:solidFill>
            <a:srgbClr val="1A3C5E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7" name="Text 5"/>
          <p:cNvSpPr/>
          <p:nvPr/>
        </p:nvSpPr>
        <p:spPr>
          <a:xfrm>
            <a:off x="548640" y="11430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📐  Tight Bounds — solver เร็วขึ้น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48640" y="1481328"/>
            <a:ext cx="804672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lb = min possible  |  ub = max reasonable  |  var lb..ub แทน var 0..999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65760" y="1929384"/>
            <a:ext cx="8412480" cy="77724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10" name="Shape 8"/>
          <p:cNvSpPr/>
          <p:nvPr/>
        </p:nvSpPr>
        <p:spPr>
          <a:xfrm>
            <a:off x="365760" y="1929384"/>
            <a:ext cx="64008" cy="777240"/>
          </a:xfrm>
          <a:prstGeom prst="rect">
            <a:avLst/>
          </a:prstGeom>
          <a:solidFill>
            <a:srgbClr val="1A3C5E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1" name="Text 9"/>
          <p:cNvSpPr/>
          <p:nvPr/>
        </p:nvSpPr>
        <p:spPr>
          <a:xfrm>
            <a:off x="548640" y="1993392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➕  Redundant Constraints — prune เพิ่ม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48640" y="2331720"/>
            <a:ext cx="804672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constraint ที่ซ้ำซ้อนทางตรรกะ แต่ช่วย solver ตัด branch ได้เร็ว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65760" y="2779776"/>
            <a:ext cx="8412480" cy="777240"/>
          </a:xfrm>
          <a:prstGeom prst="rect">
            <a:avLst/>
          </a:prstGeom>
          <a:solidFill>
            <a:srgbClr val="F0F4F8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14" name="Shape 12"/>
          <p:cNvSpPr/>
          <p:nvPr/>
        </p:nvSpPr>
        <p:spPr>
          <a:xfrm>
            <a:off x="365760" y="2779776"/>
            <a:ext cx="64008" cy="777240"/>
          </a:xfrm>
          <a:prstGeom prst="rect">
            <a:avLst/>
          </a:prstGeom>
          <a:solidFill>
            <a:srgbClr val="1A3C5E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5" name="Text 13"/>
          <p:cNvSpPr/>
          <p:nvPr/>
        </p:nvSpPr>
        <p:spPr>
          <a:xfrm>
            <a:off x="548640" y="2843784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🐛  Debugging: 3 ประเภท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48640" y="3182112"/>
            <a:ext cx="804672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UNSAT → เพิ่ม constraint ทีละอย่าง | Slow → bounds + redundant | Wrong → ตรวจ output มือ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365760" y="3630168"/>
            <a:ext cx="8412480" cy="77724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18" name="Shape 16"/>
          <p:cNvSpPr/>
          <p:nvPr/>
        </p:nvSpPr>
        <p:spPr>
          <a:xfrm>
            <a:off x="365760" y="3630168"/>
            <a:ext cx="64008" cy="777240"/>
          </a:xfrm>
          <a:prstGeom prst="rect">
            <a:avLst/>
          </a:prstGeom>
          <a:solidFill>
            <a:srgbClr val="1A3C5E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9" name="Text 17"/>
          <p:cNvSpPr/>
          <p:nvPr/>
        </p:nvSpPr>
        <p:spPr>
          <a:xfrm>
            <a:off x="548640" y="3694176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🏆  Capstone = นำไปใช้จริง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548640" y="4032504"/>
            <a:ext cx="804672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ปัญหาจริงขององค์กร → MiniZinc model → ผลลัพธ์ที่ดีขึ้น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365760" y="4498848"/>
            <a:ext cx="8412480" cy="201168"/>
          </a:xfrm>
          <a:prstGeom prst="rect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22" name="Text 20"/>
          <p:cNvSpPr/>
          <p:nvPr/>
        </p:nvSpPr>
        <p:spPr>
          <a:xfrm>
            <a:off x="457200" y="4498848"/>
            <a:ext cx="8229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A3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🎓  ยินดีด้วย! ท่านจบหลักสูตร MiniZinc for Industrial Optimization แล้ว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365760" y="4846320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วันที่ 6: Effective Modelling — สรุปวันที่ 6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8412480" y="4846320"/>
            <a:ext cx="548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 / 22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</TotalTime>
  <Words>3028</Words>
  <Application>Microsoft Macintosh PowerPoint</Application>
  <PresentationFormat>On-screen Show (16:9)</PresentationFormat>
  <Paragraphs>460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6" baseType="lpstr">
      <vt:lpstr>Arial</vt:lpstr>
      <vt:lpstr>Calibri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MiniZinc Day 6 - Effective Modelling &amp; Capstone</dc:title>
  <dc:subject>PptxGenJS Presentation</dc:subject>
  <dc:creator>PptxGenJS</dc:creator>
  <cp:lastModifiedBy>Vacharapat METTANANT</cp:lastModifiedBy>
  <cp:revision>4</cp:revision>
  <dcterms:created xsi:type="dcterms:W3CDTF">2026-06-05T02:48:23Z</dcterms:created>
  <dcterms:modified xsi:type="dcterms:W3CDTF">2026-06-05T02:55:23Z</dcterms:modified>
</cp:coreProperties>
</file>