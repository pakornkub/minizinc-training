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147483649" r:id="rId29"/>
    <p:sldId id="2147483650" r:id="rId30"/>
    <p:sldId id="2147483651" r:id="rId31"/>
    <p:sldId id="2147483652" r:id="rId32"/>
    <p:sldId id="2147483653" r:id="rId33"/>
    <p:sldId id="2147483654" r:id="rId34"/>
    <p:sldId id="2147483655" r:id="rId35"/>
    <p:sldId id="2147483656" r:id="rId36"/>
    <p:sldId id="2147483657" r:id="rId37"/>
    <p:sldId id="2147483658" r:id="rId3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4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1738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F4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6858000" y="0"/>
            <a:ext cx="36576" cy="51435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6 — วันสุดท้าย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Modelling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Python × MiniZinc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4114800" cy="36576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457200" y="294436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 · Redundant Constraints · Debugging · นำไปใช้จริง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1920240" cy="822960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Tight Bounds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977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เร็วขึ้น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06040" y="3566160"/>
            <a:ext cx="1920240" cy="822960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2606040" y="36118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Redundant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3977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 เพิ่ม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566160"/>
            <a:ext cx="1920240" cy="822960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4754880" y="36118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Debug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977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แก้ปัญหาเป็น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3566160"/>
            <a:ext cx="1920240" cy="822960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6903720" y="36118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Capstone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03720" y="3977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โมเดลจริง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กำหนดการวันที่ 6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64008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02920" y="107899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09:00–09:45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38528" y="107899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Variable Bounds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0" y="107899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bounds ช่วย solver อย่างไร — before/after ตัวอย่าง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700784"/>
            <a:ext cx="8412480" cy="5486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365760" y="1700784"/>
            <a:ext cx="64008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502920" y="170078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09:45–10:30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38528" y="170078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Redundant Constraints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0" y="170078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ทำไม constraint ที่ 'ซ้ำซ้อน' ช่วยได้ — lower bound tricks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322576"/>
            <a:ext cx="841248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65760" y="2322576"/>
            <a:ext cx="64008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02920" y="232257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10:30–11:00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38528" y="232257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Debugging Workflow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0" y="232257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UNSAT → Slow → Wrong Results — ขั้นตอนแก้ปัญหา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944368"/>
            <a:ext cx="8412480" cy="548640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365760" y="2944368"/>
            <a:ext cx="64008" cy="54864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502920" y="294436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11:00–12:00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38528" y="294436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Workshop 6A — Debugging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0" y="294436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กรณีจริง: UNSAT, Slow, Wrong — หาและแก้ไขปัญหา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566160"/>
            <a:ext cx="8412480" cy="54864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Shape 24"/>
          <p:cNvSpPr/>
          <p:nvPr/>
        </p:nvSpPr>
        <p:spPr>
          <a:xfrm>
            <a:off x="365760" y="3566160"/>
            <a:ext cx="64008" cy="5486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502920" y="35661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13:00–14:30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938528" y="35661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Dynamic Re-optimization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0" y="3566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เทคนิครับมือ plan เปลี่ยนกลางทาง — รัน 5 ไฟล์ตัวอย่างจริง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187952"/>
            <a:ext cx="8412480" cy="54864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Shape 29"/>
          <p:cNvSpPr/>
          <p:nvPr/>
        </p:nvSpPr>
        <p:spPr>
          <a:xfrm>
            <a:off x="365760" y="4187952"/>
            <a:ext cx="64008" cy="5486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502920" y="418795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14:30–16:00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938528" y="418795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Python × MiniZinc Capstone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029200" y="418795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→ MiniZinc → Gantt Chart — รันจริง พร้อมนำเสนอ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6: Effective Modelling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Bounds — ช่วย Solver ตัด Space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ทำงานใน search space ที่กำหนดโดย bounds  →  bounds แน่น = space เล็ก = เร็วกว่า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55648"/>
            <a:ext cx="4023360" cy="2633472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365760" y="1755648"/>
            <a:ext cx="4023360" cy="38404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365760" y="175564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Bound กว้างเกิน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3840480" cy="205740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457200" y="2212848"/>
            <a:ext cx="54864" cy="20574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603504" y="2286000"/>
            <a:ext cx="3675888" cy="19842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❌ Hardcode ค่าสูง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0..999: start;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0..999: makespan;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Solver ค้นหาใน 0..999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= 1,000 ค่า ต่อตัวแปร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755648"/>
            <a:ext cx="4023360" cy="2633472"/>
          </a:xfrm>
          <a:prstGeom prst="rect">
            <a:avLst/>
          </a:prstGeom>
          <a:solidFill>
            <a:srgbClr val="E8F5E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4754880" y="1755648"/>
            <a:ext cx="4023360" cy="384048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4754880" y="175564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Bound แน่น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212848"/>
            <a:ext cx="3840480" cy="205740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4846320" y="2212848"/>
            <a:ext cx="54864" cy="2057400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4992624" y="2286000"/>
            <a:ext cx="3675888" cy="19842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✅ คำนวณ bound จากข้อมูล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total=sum(j,t)(d[j,t]);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lb=max(j)(sum(t)(d[j,t]));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0..total: start;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lb..total: makespan;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lb = lower bound ที่รู้แน่ๆ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4526280"/>
            <a:ext cx="8412480" cy="256032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502920" y="4526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Rule: lower bound = เร็วที่สุดที่ทฤษฎีบอก  |  upper bound = ช้าที่สุดที่สมเหตุสมผล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6: Effective Modelling — Variable Bounds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การคำนวณ Bounds ที่ดี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78992"/>
          <a:ext cx="8412480" cy="29260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ปัญหา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Bound (lb)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Bound (ub)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Shop makespan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6B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max(j)(sum(t)(d[j,t]))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sum(j,t)(d[j,t])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 Packing n_bins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6B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ceil(sum(sizes)/capacity)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n_items (worst case)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Rostering nights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6B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ceil(req_night*n_days/n_emp)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n_days (every night)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VRP total distance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6B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sum(min_dist_to_nearest)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sum(all_dist) (loose)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Scheduling start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6B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sum(all_durations) - min_dur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1605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var lb..ub: variable;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4480560"/>
            <a:ext cx="8412480" cy="530352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8" name="Shape 5"/>
          <p:cNvSpPr/>
          <p:nvPr/>
        </p:nvSpPr>
        <p:spPr>
          <a:xfrm>
            <a:off x="365760" y="4480560"/>
            <a:ext cx="54864" cy="530352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6"/>
          <p:cNvSpPr/>
          <p:nvPr/>
        </p:nvSpPr>
        <p:spPr>
          <a:xfrm>
            <a:off x="512064" y="4496046"/>
            <a:ext cx="8247888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lb = max(j)(sum(t)(d[j,t]));  int: ub = sum(j,t)(d[</a:t>
            </a:r>
            <a:r>
              <a:rPr lang="en-US" sz="1050" dirty="0" err="1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j,t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lb..ub: makespan;  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แทน</a:t>
            </a:r>
            <a:r>
              <a:rPr lang="en-US" sz="10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0..999: makespan;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6: Effective Modelling — Computing Bounds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Constraints — เพิ่ม Pruning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= จริงอยู่แล้วจาก constraint อื่น  แต่ช่วย solver ตัดสิ่งที่เป็นไปไม่ได้ได้เร็วกว่า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8412480" cy="233172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54864" cy="233172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512064" y="1856232"/>
            <a:ext cx="8247888" cy="22585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ปัญหา Assignment (แต่ละคนได้งานต่างกัน)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alldifferent(assigned);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minimize sum(w)(cost[w, assigned[w]]);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 Redundant constraints เพิ่ม pruning ──────────────────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Lower bound: ต้นทุนรวมต้องอย่างน้อยเท่ากับ sum ของ min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ต่อ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worker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sum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(w)(min(t)(cost[w,t])) &lt;= sum(w)(cost[w,assigned[w]]);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Lower bound อีกแบบ: sum ของ min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ต่อ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sum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(t)(min(w)(cost[w,t])) &lt;= sum(w)(cost[w,assigned[w]]);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42519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ทำไมได้ผล: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474956"/>
            <a:ext cx="8412480" cy="2286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365760" y="4474956"/>
            <a:ext cx="54864" cy="22860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502920" y="4474956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constraint บอก solver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4474956"/>
            <a:ext cx="5166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cost ที่เป็นไปได้ก่อนหาคำตอบ — prune branches ที่ cost จะเกินได้เลย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730988"/>
            <a:ext cx="54864" cy="22860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02920" y="473098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ไม่ตัด optimal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0440" y="4730988"/>
            <a:ext cx="5166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เพราะ constraint จริงอยู่แล้ว — เป็นแค่ hint ให้ solver ฉลาดขึ้น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9287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6: Effective Modelling — Redundant Constraints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0" y="47309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Workflow — 3 ประเภทปัญหา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1115568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64008" cy="111556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2011680" cy="111556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365760" y="1078992"/>
            <a:ext cx="20116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UNSATISFIABLE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1170432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เพิ่ม constraint ทีละอย่าง — หาว่าอันไหนทำให้ขัดแย้ง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1426464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ลด scope: เริ่มกับข้อมูลน้อยๆ (2-3 items)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1682496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คำนวณมือ: ผลลัพธ์ที่เป็นไปได้มีจริงไหม?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1938528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ผ่อนคลาย constraint แล้วดูว่า UNSAT หายไหม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313432"/>
            <a:ext cx="8412480" cy="1115568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365760" y="2313432"/>
            <a:ext cx="64008" cy="111556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365760" y="2313432"/>
            <a:ext cx="2011680" cy="111556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365760" y="2313432"/>
            <a:ext cx="20116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/ TIMEOUT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68880" y="2404872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ตรวจ bounds: กว้างเกินไปไหม? คำนวณ lb/ub ที่แน่น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2660904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เพิ่ม redundant constraints เพื่อช่วย prune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68880" y="2916936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เพิ่ม symmetry breaking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68880" y="3172968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ลอง solver อื่น: Chuffed, OR-Tools, Gurobi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547872"/>
            <a:ext cx="8412480" cy="111556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Shape 20"/>
          <p:cNvSpPr/>
          <p:nvPr/>
        </p:nvSpPr>
        <p:spPr>
          <a:xfrm>
            <a:off x="365760" y="3547872"/>
            <a:ext cx="64008" cy="1115568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3" name="Shape 21"/>
          <p:cNvSpPr/>
          <p:nvPr/>
        </p:nvSpPr>
        <p:spPr>
          <a:xfrm>
            <a:off x="365760" y="3547872"/>
            <a:ext cx="2011680" cy="1115568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365760" y="3547872"/>
            <a:ext cx="20116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RESULT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468880" y="3639312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ตรวจ output มือ: คำนวณ resource usage แล้วเทียบ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68880" y="3895344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ลอง solve satisfy ก่อน ดูว่า model ถูก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68880" y="4151376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เพิ่ม assert() ตรวจ data ที่รับมา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68880" y="4407408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ตรวจ array index: แถว/คอลัมน์สลับกันไหม?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6: Effective Modelling — Debugging Workflow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 Workshop 6A — Debugging Challenge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เวลา: 60 นาที  |  ไฟล์: debug_broken_1.mzn, debug_broken_2.mzn, debug_broken_3.mzn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435608"/>
            <a:ext cx="8412480" cy="9784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435608"/>
            <a:ext cx="502920" cy="97840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365760" y="1435608"/>
            <a:ext cx="50292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🚫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149047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กรณี 1: UNSATISFIABLE (debug_broken_1.mzn)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819656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Scheduling — deadline ที่กำหนดเป็นไปไม่ได้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ภารกิจ: หาว่า deadline ต้องเป็นเท่าไรถึงจะ satisfy? คำนวณมือก่อนแล้วยืนยันด้วย MiniZinc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532888"/>
            <a:ext cx="8412480" cy="9784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365760" y="2532888"/>
            <a:ext cx="502920" cy="97840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365760" y="2532888"/>
            <a:ext cx="50292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⏳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258775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กรณี 2: ช้ามาก (debug_broken_2.mzn)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916936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Shop 6×4 — bounds hardcode เป็น 200 ทั้งที่คำนวณได้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ภารกิจ: คำนวณ total และ lb ที่แน่น แล้วเปรียบเทียบ solve time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630168"/>
            <a:ext cx="8412480" cy="9784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65760" y="3630168"/>
            <a:ext cx="502920" cy="978408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365760" y="3630168"/>
            <a:ext cx="50292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60120" y="368503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กรณี 3: ผลไม่ถูกต้อง (debug_broken_3.mzn)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4014216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Planning — model รันได้แต่ resource usage เกิน capacity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ภารกิจ: หา bug แล้วแก้ไข ยืนยันด้วยการคำนวณมือ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6: Effective Modelling — Workshop 6A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pstone_Divider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L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rtlCol="0" anchor="ctr" lIns="137160" tIns="91440" rIns="137160" bIns="91440"/>
          <a:lstStyle/>
          <a:p>
            <a:pPr marL="0" indent="0">
              <a:buNone/>
            </a:pPr>
            <a:endParaRPr lang="en-TH"/>
            <a:endParaRPr lang="en-US"/>
          </a:p>
        </p:txBody>
      </p:sp>
      <p:sp>
        <p:nvSpPr>
          <p:cNvPr id="3" name="BarR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F48"/>
          </a:solidFill>
          <a:ln/>
        </p:spPr>
        <p:txBody>
          <a:bodyPr wrap="square" rtlCol="0" anchor="ctr" lIns="137160" tIns="91440" rIns="137160" bIns="91440"/>
          <a:lstStyle/>
          <a:p>
            <a:pPr marL="0" indent="0">
              <a:buNone/>
            </a:pPr>
            <a:endParaRPr lang="en-TH"/>
            <a:endParaRPr lang="en-US"/>
          </a:p>
        </p:txBody>
      </p:sp>
      <p:sp>
        <p:nvSpPr>
          <p:cNvPr id="4" name="Label"/>
          <p:cNvSpPr/>
          <p:nvPr/>
        </p:nvSpPr>
        <p:spPr>
          <a:xfrm>
            <a:off x="457200" y="10972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— Integration Workshop</a:t>
            </a:r>
            <a:endParaRPr lang="en-US"/>
          </a:p>
        </p:txBody>
      </p:sp>
      <p:sp>
        <p:nvSpPr>
          <p:cNvPr id="5" name="T1"/>
          <p:cNvSpPr/>
          <p:nvPr/>
        </p:nvSpPr>
        <p:spPr>
          <a:xfrm>
            <a:off x="457200" y="1645920"/>
            <a:ext cx="6400800" cy="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× MiniZinc</a:t>
            </a:r>
            <a:endParaRPr lang="en-US"/>
          </a:p>
        </p:txBody>
      </p:sp>
      <p:sp>
        <p:nvSpPr>
          <p:cNvPr id="6" name="T2"/>
          <p:cNvSpPr/>
          <p:nvPr/>
        </p:nvSpPr>
        <p:spPr>
          <a:xfrm>
            <a:off x="457200" y="2330000"/>
            <a:ext cx="6400800" cy="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Excel × Matplotlib</a:t>
            </a:r>
            <a:endParaRPr lang="en-US"/>
          </a:p>
        </p:txBody>
      </p:sp>
      <p:sp>
        <p:nvSpPr>
          <p:cNvPr id="7" name="Sub"/>
          <p:cNvSpPr/>
          <p:nvPr/>
        </p:nvSpPr>
        <p:spPr>
          <a:xfrm>
            <a:off x="457200" y="3200000"/>
            <a:ext cx="64008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อ่านข้อมูลจาก Excel → Solve ด้วย MiniZinc → แสดงผล Gantt Chart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pstone_Why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457200" y="200000"/>
            <a:ext cx="2000000" cy="31000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/>
        </p:spPr>
        <p:txBody>
          <a:bodyPr wrap="square" rtlCol="0" anchor="ctr" lIns="137160" tIns="91440" rIns="137160" bIns="91440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570000"/>
            <a:ext cx="8229600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ทำไมต้องใช้ Python ร่วมกับ MiniZinc?</a:t>
            </a:r>
            <a:endParaRPr lang="en-US"/>
          </a:p>
        </p:txBody>
      </p:sp>
      <p:sp>
        <p:nvSpPr>
          <p:cNvPr id="4" name="Box0"/>
          <p:cNvSpPr/>
          <p:nvPr/>
        </p:nvSpPr>
        <p:spPr>
          <a:xfrm>
            <a:off x="602000" y="1380000"/>
            <a:ext cx="1700000" cy="980000"/>
          </a:xfrm>
          <a:prstGeom prst="roundRect">
            <a:avLst>
              <a:gd name="adj" fmla="val 12000"/>
            </a:avLst>
          </a:prstGeom>
          <a:solidFill>
            <a:srgbClr val="217346"/>
          </a:solidFill>
          <a:ln/>
        </p:spPr>
        <p:txBody>
          <a:bodyPr wrap="square" rtlCol="0" anchor="ctr" lIns="137160" tIns="91440" rIns="137160" bIns="91440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capstone_data.xlsx</a:t>
            </a:r>
            <a:endParaRPr lang="en-US"/>
          </a:p>
          <a:p>
            <a:pPr marL="0" indent="0">
              <a:buNone/>
            </a:pPr>
            <a:r>
              <a:rPr lang="en-US" sz="10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 orders,
เวลา, เครื่องจักร</a:t>
            </a:r>
            <a:endParaRPr lang="en-US"/>
          </a:p>
        </p:txBody>
      </p:sp>
      <p:sp>
        <p:nvSpPr>
          <p:cNvPr id="5" name="Arrow"/>
          <p:cNvSpPr/>
          <p:nvPr/>
        </p:nvSpPr>
        <p:spPr>
          <a:xfrm>
            <a:off x="2302000" y="1620000"/>
            <a:ext cx="380000" cy="5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E86AB"/>
          </a:solidFill>
          <a:ln/>
        </p:spPr>
        <p:txBody>
          <a:bodyPr wrap="square" rtlCol="0" anchor="ctr" lIns="137160" tIns="91440" rIns="137160" bIns="91440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/>
          </a:p>
        </p:txBody>
      </p:sp>
      <p:sp>
        <p:nvSpPr>
          <p:cNvPr id="6" name="Box1"/>
          <p:cNvSpPr/>
          <p:nvPr/>
        </p:nvSpPr>
        <p:spPr>
          <a:xfrm>
            <a:off x="2682000" y="1380000"/>
            <a:ext cx="1700000" cy="980000"/>
          </a:xfrm>
          <a:prstGeom prst="roundRect">
            <a:avLst>
              <a:gd name="adj" fmla="val 12000"/>
            </a:avLst>
          </a:prstGeom>
          <a:solidFill>
            <a:srgbClr val="3776AB"/>
          </a:solidFill>
          <a:ln/>
        </p:spPr>
        <p:txBody>
          <a:bodyPr wrap="square" rtlCol="0" anchor="ctr" lIns="137160" tIns="91440" rIns="137160" bIns="91440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pandas + openpyxl</a:t>
            </a:r>
            <a:endParaRPr lang="en-US"/>
          </a:p>
          <a:p>
            <a:pPr marL="0" indent="0">
              <a:buNone/>
            </a:pPr>
            <a:r>
              <a:rPr lang="en-US" sz="10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อ่านและแปลง
เป็น parameters</a:t>
            </a:r>
            <a:endParaRPr lang="en-US"/>
          </a:p>
        </p:txBody>
      </p:sp>
      <p:sp>
        <p:nvSpPr>
          <p:cNvPr id="7" name="Arrow"/>
          <p:cNvSpPr/>
          <p:nvPr/>
        </p:nvSpPr>
        <p:spPr>
          <a:xfrm>
            <a:off x="4382000" y="1620000"/>
            <a:ext cx="380000" cy="5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E86AB"/>
          </a:solidFill>
          <a:ln/>
        </p:spPr>
        <p:txBody>
          <a:bodyPr wrap="square" rtlCol="0" anchor="ctr" lIns="137160" tIns="91440" rIns="137160" bIns="91440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/>
          </a:p>
        </p:txBody>
      </p:sp>
      <p:sp>
        <p:nvSpPr>
          <p:cNvPr id="8" name="Box2"/>
          <p:cNvSpPr/>
          <p:nvPr/>
        </p:nvSpPr>
        <p:spPr>
          <a:xfrm>
            <a:off x="4762000" y="1380000"/>
            <a:ext cx="1700000" cy="980000"/>
          </a:xfrm>
          <a:prstGeom prst="roundRect">
            <a:avLst>
              <a:gd name="adj" fmla="val 12000"/>
            </a:avLst>
          </a:prstGeom>
          <a:solidFill>
            <a:srgbClr val="1A6B47"/>
          </a:solidFill>
          <a:ln/>
        </p:spPr>
        <p:txBody>
          <a:bodyPr wrap="square" rtlCol="0" anchor="ctr" lIns="137160" tIns="91440" rIns="137160" bIns="91440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minizinc (Gecode)</a:t>
            </a:r>
            <a:endParaRPr lang="en-US"/>
          </a:p>
          <a:p>
            <a:pPr marL="0" indent="0">
              <a:buNone/>
            </a:pPr>
            <a:r>
              <a:rPr lang="en-US" sz="10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หาตาราง
ที่ optimal</a:t>
            </a:r>
            <a:endParaRPr lang="en-US"/>
          </a:p>
        </p:txBody>
      </p:sp>
      <p:sp>
        <p:nvSpPr>
          <p:cNvPr id="9" name="Arrow"/>
          <p:cNvSpPr/>
          <p:nvPr/>
        </p:nvSpPr>
        <p:spPr>
          <a:xfrm>
            <a:off x="6462000" y="1620000"/>
            <a:ext cx="380000" cy="5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E86AB"/>
          </a:solidFill>
          <a:ln/>
        </p:spPr>
        <p:txBody>
          <a:bodyPr wrap="square" rtlCol="0" anchor="ctr" lIns="137160" tIns="91440" rIns="137160" bIns="91440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/>
          </a:p>
        </p:txBody>
      </p:sp>
      <p:sp>
        <p:nvSpPr>
          <p:cNvPr id="10" name="Box3"/>
          <p:cNvSpPr/>
          <p:nvPr/>
        </p:nvSpPr>
        <p:spPr>
          <a:xfrm>
            <a:off x="6842000" y="1380000"/>
            <a:ext cx="1700000" cy="980000"/>
          </a:xfrm>
          <a:prstGeom prst="roundRect">
            <a:avLst>
              <a:gd name="adj" fmla="val 12000"/>
            </a:avLst>
          </a:prstGeom>
          <a:solidFill>
            <a:srgbClr val="E34A33"/>
          </a:solidFill>
          <a:ln/>
        </p:spPr>
        <p:txBody>
          <a:bodyPr wrap="square" rtlCol="0" anchor="ctr" lIns="137160" tIns="91440" rIns="137160" bIns="91440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matplotlib Gantt</a:t>
            </a:r>
            <a:endParaRPr lang="en-US"/>
          </a:p>
          <a:p>
            <a:pPr marL="0" indent="0">
              <a:buNone/>
            </a:pPr>
            <a:r>
              <a:rPr lang="en-US" sz="10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แสดงผล Gantt
Chart สวยงาม</a:t>
            </a:r>
            <a:endParaRPr lang="en-US"/>
          </a:p>
        </p:txBody>
      </p:sp>
      <p:sp>
        <p:nvSpPr>
          <p:cNvPr id="11" name="StepL0"/>
          <p:cNvSpPr/>
          <p:nvPr/>
        </p:nvSpPr>
        <p:spPr>
          <a:xfrm>
            <a:off x="602000" y="2420000"/>
            <a:ext cx="1700000" cy="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
ข้อมูล</a:t>
            </a:r>
            <a:endParaRPr lang="en-US"/>
          </a:p>
        </p:txBody>
      </p:sp>
      <p:sp>
        <p:nvSpPr>
          <p:cNvPr id="12" name="StepL1"/>
          <p:cNvSpPr/>
          <p:nvPr/>
        </p:nvSpPr>
        <p:spPr>
          <a:xfrm>
            <a:off x="2682000" y="2420000"/>
            <a:ext cx="1700000" cy="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
อ่าน+แปลง</a:t>
            </a:r>
            <a:endParaRPr lang="en-US"/>
          </a:p>
        </p:txBody>
      </p:sp>
      <p:sp>
        <p:nvSpPr>
          <p:cNvPr id="13" name="StepL2"/>
          <p:cNvSpPr/>
          <p:nvPr/>
        </p:nvSpPr>
        <p:spPr>
          <a:xfrm>
            <a:off x="4762000" y="2420000"/>
            <a:ext cx="1700000" cy="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
Solve</a:t>
            </a:r>
            <a:endParaRPr lang="en-US"/>
          </a:p>
        </p:txBody>
      </p:sp>
      <p:sp>
        <p:nvSpPr>
          <p:cNvPr id="14" name="StepL3"/>
          <p:cNvSpPr/>
          <p:nvPr/>
        </p:nvSpPr>
        <p:spPr>
          <a:xfrm>
            <a:off x="6842000" y="2420000"/>
            <a:ext cx="1700000" cy="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
แสดงผล</a:t>
            </a:r>
            <a:endParaRPr lang="en-US"/>
          </a:p>
        </p:txBody>
      </p:sp>
      <p:sp>
        <p:nvSpPr>
          <p:cNvPr id="15" name="Files"/>
          <p:cNvSpPr/>
          <p:nvPr/>
        </p:nvSpPr>
        <p:spPr>
          <a:xfrm>
            <a:off x="457200" y="3000000"/>
            <a:ext cx="8229600" cy="4300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/>
        </p:spPr>
        <p:txBody>
          <a:bodyPr wrap="square" rtlCol="0" anchor="ctr" lIns="137160" tIns="91440" rIns="137160" bIns="91440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ไฟล์ในโฟลเดอร์ day6/capstone/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jobshop_model.mzn  |  capstone_data.xlsx  |  run_capstone.py</a:t>
            </a:r>
            <a:endParaRPr lang="en-US"/>
          </a:p>
        </p:txBody>
      </p:sp>
      <p:sp>
        <p:nvSpPr>
          <p:cNvPr id="16" name="B0"/>
          <p:cNvSpPr/>
          <p:nvPr/>
        </p:nvSpPr>
        <p:spPr>
          <a:xfrm>
            <a:off x="457200" y="3560000"/>
            <a:ext cx="2716533" cy="4400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/>
        </p:spPr>
        <p:txBody>
          <a:bodyPr wrap="square" rtlCol="0" anchor="ctr" lIns="137160" tIns="91440" rIns="137160" bIns="91440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Integration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ต่อกับ ERP, Excel, Database ขององค์กรได้</a:t>
            </a:r>
            <a:endParaRPr lang="en-US"/>
          </a:p>
        </p:txBody>
      </p:sp>
      <p:sp>
        <p:nvSpPr>
          <p:cNvPr id="17" name="B1"/>
          <p:cNvSpPr/>
          <p:nvPr/>
        </p:nvSpPr>
        <p:spPr>
          <a:xfrm>
            <a:off x="3213733" y="3560000"/>
            <a:ext cx="2716533" cy="4400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/>
        </p:spPr>
        <p:txBody>
          <a:bodyPr wrap="square" rtlCol="0" anchor="ctr" lIns="137160" tIns="91440" rIns="137160" bIns="91440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Automation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รัน schedule ใหม่อัตโนมัติทุกวันหรือทุก shift</a:t>
            </a:r>
            <a:endParaRPr lang="en-US"/>
          </a:p>
        </p:txBody>
      </p:sp>
      <p:sp>
        <p:nvSpPr>
          <p:cNvPr id="18" name="B2"/>
          <p:cNvSpPr/>
          <p:nvPr/>
        </p:nvSpPr>
        <p:spPr>
          <a:xfrm>
            <a:off x="5970266" y="3560000"/>
            <a:ext cx="2716533" cy="4400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/>
        </p:spPr>
        <p:txBody>
          <a:bodyPr wrap="square" rtlCol="0" anchor="ctr" lIns="137160" tIns="91440" rIns="137160" bIns="91440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Visualization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แสดงผลสวยงาม ผู้บริหารเข้าใจง่าย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pstone_Code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457200" y="200000"/>
            <a:ext cx="2000000" cy="31000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/>
        </p:spPr>
        <p:txBody>
          <a:bodyPr wrap="square" rtlCol="0" anchor="ctr" lIns="137160" tIns="91440" rIns="137160" bIns="91440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570000"/>
            <a:ext cx="8229600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อ่าน Excel → ส่งให้ MiniZinc</a:t>
            </a:r>
            <a:endParaRPr lang="en-US"/>
          </a:p>
        </p:txBody>
      </p:sp>
      <p:sp>
        <p:nvSpPr>
          <p:cNvPr id="4" name="LH"/>
          <p:cNvSpPr/>
          <p:nvPr/>
        </p:nvSpPr>
        <p:spPr>
          <a:xfrm>
            <a:off x="457200" y="1250000"/>
            <a:ext cx="3800000" cy="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STEP 1-2: อ่าน Excel + เตรียม parameters</a:t>
            </a:r>
            <a:endParaRPr lang="en-US"/>
          </a:p>
        </p:txBody>
      </p:sp>
      <p:sp>
        <p:nvSpPr>
          <p:cNvPr id="5" name="Code"/>
          <p:cNvSpPr/>
          <p:nvPr/>
        </p:nvSpPr>
        <p:spPr>
          <a:xfrm>
            <a:off x="457200" y="1550000"/>
            <a:ext cx="3800000" cy="2350000"/>
          </a:xfrm>
          <a:prstGeom prst="roundRect">
            <a:avLst>
              <a:gd name="adj" fmla="val 8000"/>
            </a:avLst>
          </a:prstGeom>
          <a:solidFill>
            <a:srgbClr val="1E2D3D"/>
          </a:solidFill>
          <a:ln>
            <a:solidFill>
              <a:srgbClr val="2D4A6B"/>
            </a:solidFill>
          </a:ln>
        </p:spPr>
        <p:txBody>
          <a:bodyPr wrap="square" rtlCol="0" anchor="t" lIns="137160" tIns="91440" rIns="137160" bIns="91440"/>
          <a:lstStyle/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minizinc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อ่านข้อมูลจาก Excel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df_j = pd.read_excel('capstone_data.xlsx',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sheet_name='orders')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df_p = pd.read_excel('capstone_data.xlsx',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sheet_name='proc_times')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n_job, n_task, n_machine = 4, 3, 3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สร้าง dur[j,t,m] — flatten เป็น list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dur_flat = []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j in range(1, n_job+1):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t in range(1, n_task+1):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 = df_p[(df_p.JobID==j) &amp;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(df_p.TaskID==t)]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m in ['M_A','M_B','M_C']: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dur_flat.append(int(row[m]))</a:t>
            </a:r>
            <a:endParaRPr lang="en-US"/>
          </a:p>
        </p:txBody>
      </p:sp>
      <p:sp>
        <p:nvSpPr>
          <p:cNvPr id="6" name="RH"/>
          <p:cNvSpPr/>
          <p:nvPr/>
        </p:nvSpPr>
        <p:spPr>
          <a:xfrm>
            <a:off x="4800000" y="1250000"/>
            <a:ext cx="4000000" cy="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STEP 3: รัน MiniZinc via Python API</a:t>
            </a:r>
            <a:endParaRPr lang="en-US"/>
          </a:p>
        </p:txBody>
      </p:sp>
      <p:sp>
        <p:nvSpPr>
          <p:cNvPr id="7" name="Code"/>
          <p:cNvSpPr/>
          <p:nvPr/>
        </p:nvSpPr>
        <p:spPr>
          <a:xfrm>
            <a:off x="4800000" y="1550000"/>
            <a:ext cx="4000000" cy="2350000"/>
          </a:xfrm>
          <a:prstGeom prst="roundRect">
            <a:avLst>
              <a:gd name="adj" fmla="val 8000"/>
            </a:avLst>
          </a:prstGeom>
          <a:solidFill>
            <a:srgbClr val="1E2D3D"/>
          </a:solidFill>
          <a:ln>
            <a:solidFill>
              <a:srgbClr val="2D4A6B"/>
            </a:solidFill>
          </a:ln>
        </p:spPr>
        <p:txBody>
          <a:bodyPr wrap="square" rtlCol="0" anchor="t" lIns="137160" tIns="91440" rIns="137160" bIns="91440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โหลด model และ solver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 = minizinc.Model(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['jobshop_model.mzn'])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solver = minizinc.Solver.lookup(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"gecode")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   = minizinc.Instance(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solver, model)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ส่ง parameters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inst["n_job"]     = n_job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inst["n_task"]    = n_task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inst["n_machine"] = n_machine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inst["dur"]       = dur_flat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Solve!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48F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inst.solve()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9D7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makespan = result["makespan"]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9D7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   = result["start"]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9D7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machine  = result["machine"]</a:t>
            </a:r>
            <a:endParaRPr lang="en-US"/>
          </a:p>
        </p:txBody>
      </p:sp>
      <p:sp>
        <p:nvSpPr>
          <p:cNvPr id="8" name="Note"/>
          <p:cNvSpPr/>
          <p:nvPr/>
        </p:nvSpPr>
        <p:spPr>
          <a:xfrm>
            <a:off x="457200" y="4050000"/>
            <a:ext cx="8229600" cy="3600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/>
        </p:spPr>
        <p:txBody>
          <a:bodyPr wrap="square" rtlCol="0" anchor="ctr" lIns="137160" tIns="91440" rIns="137160" bIns="91440"/>
          <a:lstStyle/>
          <a:p>
            <a:pPr marL="0" indent="0">
              <a:buNone/>
            </a:pPr>
            <a:r>
              <a:rPr lang="en-US" sz="1100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minizinc pandas openpyxl matplotlib  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MiniZinc ต้องติดตั้งแยก: https://www.minizinc.org/software.html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pstone_Code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457200" y="200000"/>
            <a:ext cx="2000000" cy="31000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/>
        </p:spPr>
        <p:txBody>
          <a:bodyPr wrap="square" rtlCol="0" anchor="ctr" lIns="137160" tIns="91440" rIns="137160" bIns="91440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570000"/>
            <a:ext cx="8229600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แสดง Gantt Chart + ทดลองรัน</a:t>
            </a:r>
            <a:endParaRPr lang="en-US"/>
          </a:p>
        </p:txBody>
      </p:sp>
      <p:sp>
        <p:nvSpPr>
          <p:cNvPr id="4" name="LH"/>
          <p:cNvSpPr/>
          <p:nvPr/>
        </p:nvSpPr>
        <p:spPr>
          <a:xfrm>
            <a:off x="457200" y="1230000"/>
            <a:ext cx="4200000" cy="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3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STEP 4: Gantt Chart ด้วย matplotlib</a:t>
            </a:r>
            <a:endParaRPr lang="en-US"/>
          </a:p>
        </p:txBody>
      </p:sp>
      <p:sp>
        <p:nvSpPr>
          <p:cNvPr id="5" name="Code"/>
          <p:cNvSpPr/>
          <p:nvPr/>
        </p:nvSpPr>
        <p:spPr>
          <a:xfrm>
            <a:off x="457200" y="1530000"/>
            <a:ext cx="4200000" cy="2500000"/>
          </a:xfrm>
          <a:prstGeom prst="roundRect">
            <a:avLst>
              <a:gd name="adj" fmla="val 8000"/>
            </a:avLst>
          </a:prstGeom>
          <a:solidFill>
            <a:srgbClr val="1E2D3D"/>
          </a:solidFill>
          <a:ln>
            <a:solidFill>
              <a:srgbClr val="2D4A6B"/>
            </a:solidFill>
          </a:ln>
        </p:spPr>
        <p:txBody>
          <a:bodyPr wrap="square" rtlCol="0" anchor="t" lIns="137160" tIns="91440" rIns="137160" bIns="91440"/>
          <a:lstStyle/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matplotlib.patches as mp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 = ["#2E86AB","#D97706",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"#1A6B47","#DC2626"]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plt.subplots()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j in range(n_job):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t in range(n_task):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 = machine[j][t] - 1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 = dur[j][t][m]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ax.barh(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y=m, width=d,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left=start[j][t],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color=COLORS[j])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48F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plt.savefig('schedule_result.png')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48F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/>
          </a:p>
        </p:txBody>
      </p:sp>
      <p:sp>
        <p:nvSpPr>
          <p:cNvPr id="6" name="GanttBg"/>
          <p:cNvSpPr/>
          <p:nvPr/>
        </p:nvSpPr>
        <p:spPr>
          <a:xfrm>
            <a:off x="4800000" y="1230000"/>
            <a:ext cx="4001000" cy="25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  <p:txBody>
          <a:bodyPr wrap="square" rtlCol="0" anchor="ctr" lIns="137160" tIns="91440" rIns="137160" bIns="91440"/>
          <a:lstStyle/>
          <a:p>
            <a:pPr marL="0" indent="0">
              <a:buNone/>
            </a:pPr>
            <a:endParaRPr lang="en-TH"/>
            <a:endParaRPr lang="en-US"/>
          </a:p>
        </p:txBody>
      </p:sp>
      <p:sp>
        <p:nvSpPr>
          <p:cNvPr id="7" name="GT"/>
          <p:cNvSpPr/>
          <p:nvPr/>
        </p:nvSpPr>
        <p:spPr>
          <a:xfrm>
            <a:off x="4900000" y="1310000"/>
            <a:ext cx="3801000" cy="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 Output (schedule_result.png)</a:t>
            </a:r>
            <a:endParaRPr lang="en-US"/>
          </a:p>
        </p:txBody>
      </p:sp>
      <p:sp>
        <p:nvSpPr>
          <p:cNvPr id="8" name="ML0"/>
          <p:cNvSpPr/>
          <p:nvPr/>
        </p:nvSpPr>
        <p:spPr>
          <a:xfrm>
            <a:off x="4880000" y="1610000"/>
            <a:ext cx="280000" cy="4800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 lIns="137160" tIns="91440" rIns="137160" bIns="91440"/>
          <a:lstStyle/>
          <a:p>
            <a:pPr marL="0" indent="0">
              <a:buNone/>
            </a:pPr>
            <a:endParaRPr lang="en-TH"/>
            <a:endParaRPr lang="en-US"/>
          </a:p>
        </p:txBody>
      </p:sp>
      <p:sp>
        <p:nvSpPr>
          <p:cNvPr id="9" name="MLt0"/>
          <p:cNvSpPr/>
          <p:nvPr/>
        </p:nvSpPr>
        <p:spPr>
          <a:xfrm>
            <a:off x="4880000" y="1610000"/>
            <a:ext cx="280000" cy="4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M_A</a:t>
            </a:r>
            <a:endParaRPr lang="en-US"/>
          </a:p>
        </p:txBody>
      </p:sp>
      <p:sp>
        <p:nvSpPr>
          <p:cNvPr id="10" name="ML1"/>
          <p:cNvSpPr/>
          <p:nvPr/>
        </p:nvSpPr>
        <p:spPr>
          <a:xfrm>
            <a:off x="4880000" y="2170000"/>
            <a:ext cx="280000" cy="4800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 lIns="137160" tIns="91440" rIns="137160" bIns="91440"/>
          <a:lstStyle/>
          <a:p>
            <a:pPr marL="0" indent="0">
              <a:buNone/>
            </a:pPr>
            <a:endParaRPr lang="en-TH"/>
            <a:endParaRPr lang="en-US"/>
          </a:p>
        </p:txBody>
      </p:sp>
      <p:sp>
        <p:nvSpPr>
          <p:cNvPr id="11" name="MLt1"/>
          <p:cNvSpPr/>
          <p:nvPr/>
        </p:nvSpPr>
        <p:spPr>
          <a:xfrm>
            <a:off x="4880000" y="2170000"/>
            <a:ext cx="280000" cy="4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M_B</a:t>
            </a:r>
            <a:endParaRPr lang="en-US"/>
          </a:p>
        </p:txBody>
      </p:sp>
      <p:sp>
        <p:nvSpPr>
          <p:cNvPr id="12" name="ML2"/>
          <p:cNvSpPr/>
          <p:nvPr/>
        </p:nvSpPr>
        <p:spPr>
          <a:xfrm>
            <a:off x="4880000" y="2730000"/>
            <a:ext cx="280000" cy="4800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 lIns="137160" tIns="91440" rIns="137160" bIns="91440"/>
          <a:lstStyle/>
          <a:p>
            <a:pPr marL="0" indent="0">
              <a:buNone/>
            </a:pPr>
            <a:endParaRPr lang="en-TH"/>
            <a:endParaRPr lang="en-US"/>
          </a:p>
        </p:txBody>
      </p:sp>
      <p:sp>
        <p:nvSpPr>
          <p:cNvPr id="13" name="MLt2"/>
          <p:cNvSpPr/>
          <p:nvPr/>
        </p:nvSpPr>
        <p:spPr>
          <a:xfrm>
            <a:off x="4880000" y="2730000"/>
            <a:ext cx="280000" cy="4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M_C</a:t>
            </a:r>
            <a:endParaRPr lang="en-US"/>
          </a:p>
        </p:txBody>
      </p:sp>
      <p:sp>
        <p:nvSpPr>
          <p:cNvPr id="14" name="GB000"/>
          <p:cNvSpPr/>
          <p:nvPr/>
        </p:nvSpPr>
        <p:spPr>
          <a:xfrm>
            <a:off x="5200000" y="1610000"/>
            <a:ext cx="449570" cy="4800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 lIns="137160" tIns="91440" rIns="137160" bIns="91440"/>
          <a:lstStyle/>
          <a:p>
            <a:pPr marL="0" indent="0">
              <a:buNone/>
            </a:pPr>
            <a:endParaRPr lang="en-TH"/>
            <a:endParaRPr lang="en-US"/>
          </a:p>
        </p:txBody>
      </p:sp>
      <p:sp>
        <p:nvSpPr>
          <p:cNvPr id="15" name="GB105"/>
          <p:cNvSpPr/>
          <p:nvPr/>
        </p:nvSpPr>
        <p:spPr>
          <a:xfrm>
            <a:off x="5659570" y="1610000"/>
            <a:ext cx="541484" cy="48000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rtlCol="0" anchor="ctr" lIns="137160" tIns="91440" rIns="137160" bIns="91440"/>
          <a:lstStyle/>
          <a:p>
            <a:pPr marL="0" indent="0">
              <a:buNone/>
            </a:pPr>
            <a:endParaRPr lang="en-TH"/>
            <a:endParaRPr lang="en-US"/>
          </a:p>
        </p:txBody>
      </p:sp>
      <p:sp>
        <p:nvSpPr>
          <p:cNvPr id="16" name="GB220"/>
          <p:cNvSpPr/>
          <p:nvPr/>
        </p:nvSpPr>
        <p:spPr>
          <a:xfrm>
            <a:off x="5200000" y="2730000"/>
            <a:ext cx="633398" cy="480000"/>
          </a:xfrm>
          <a:prstGeom prst="rect">
            <a:avLst/>
          </a:prstGeom>
          <a:solidFill>
            <a:srgbClr val="1A6B47"/>
          </a:solidFill>
          <a:ln/>
        </p:spPr>
        <p:txBody>
          <a:bodyPr wrap="square" rtlCol="0" anchor="ctr" lIns="137160" tIns="91440" rIns="137160" bIns="91440"/>
          <a:lstStyle/>
          <a:p>
            <a:pPr marL="0" indent="0">
              <a:buNone/>
            </a:pPr>
            <a:endParaRPr lang="en-TH"/>
            <a:endParaRPr lang="en-US"/>
          </a:p>
        </p:txBody>
      </p:sp>
      <p:sp>
        <p:nvSpPr>
          <p:cNvPr id="17" name="GB3011"/>
          <p:cNvSpPr/>
          <p:nvPr/>
        </p:nvSpPr>
        <p:spPr>
          <a:xfrm>
            <a:off x="6211054" y="1610000"/>
            <a:ext cx="633398" cy="48000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 lIns="137160" tIns="91440" rIns="137160" bIns="91440"/>
          <a:lstStyle/>
          <a:p>
            <a:pPr marL="0" indent="0">
              <a:buNone/>
            </a:pPr>
            <a:endParaRPr lang="en-TH"/>
            <a:endParaRPr lang="en-US"/>
          </a:p>
        </p:txBody>
      </p:sp>
      <p:sp>
        <p:nvSpPr>
          <p:cNvPr id="18" name="GB015"/>
          <p:cNvSpPr/>
          <p:nvPr/>
        </p:nvSpPr>
        <p:spPr>
          <a:xfrm>
            <a:off x="5659570" y="2170000"/>
            <a:ext cx="541484" cy="4800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 lIns="137160" tIns="91440" rIns="137160" bIns="91440"/>
          <a:lstStyle/>
          <a:p>
            <a:pPr marL="0" indent="0">
              <a:buNone/>
            </a:pPr>
            <a:endParaRPr lang="en-TH"/>
            <a:endParaRPr lang="en-US"/>
          </a:p>
        </p:txBody>
      </p:sp>
      <p:sp>
        <p:nvSpPr>
          <p:cNvPr id="19" name="GB2111"/>
          <p:cNvSpPr/>
          <p:nvPr/>
        </p:nvSpPr>
        <p:spPr>
          <a:xfrm>
            <a:off x="6211054" y="2170000"/>
            <a:ext cx="449570" cy="480000"/>
          </a:xfrm>
          <a:prstGeom prst="rect">
            <a:avLst/>
          </a:prstGeom>
          <a:solidFill>
            <a:srgbClr val="1A6B47"/>
          </a:solidFill>
          <a:ln/>
        </p:spPr>
        <p:txBody>
          <a:bodyPr wrap="square" rtlCol="0" anchor="ctr" lIns="137160" tIns="91440" rIns="137160" bIns="91440"/>
          <a:lstStyle/>
          <a:p>
            <a:pPr marL="0" indent="0">
              <a:buNone/>
            </a:pPr>
            <a:endParaRPr lang="en-TH"/>
            <a:endParaRPr lang="en-US"/>
          </a:p>
        </p:txBody>
      </p:sp>
      <p:sp>
        <p:nvSpPr>
          <p:cNvPr id="20" name="GB1116"/>
          <p:cNvSpPr/>
          <p:nvPr/>
        </p:nvSpPr>
        <p:spPr>
          <a:xfrm>
            <a:off x="6670624" y="2170000"/>
            <a:ext cx="633398" cy="48000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rtlCol="0" anchor="ctr" lIns="137160" tIns="91440" rIns="137160" bIns="91440"/>
          <a:lstStyle/>
          <a:p>
            <a:pPr marL="0" indent="0">
              <a:buNone/>
            </a:pPr>
            <a:endParaRPr lang="en-TH"/>
            <a:endParaRPr lang="en-US"/>
          </a:p>
        </p:txBody>
      </p:sp>
      <p:sp>
        <p:nvSpPr>
          <p:cNvPr id="21" name="GB3123"/>
          <p:cNvSpPr/>
          <p:nvPr/>
        </p:nvSpPr>
        <p:spPr>
          <a:xfrm>
            <a:off x="7314022" y="2170000"/>
            <a:ext cx="725312" cy="48000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 lIns="137160" tIns="91440" rIns="137160" bIns="91440"/>
          <a:lstStyle/>
          <a:p>
            <a:pPr marL="0" indent="0">
              <a:buNone/>
            </a:pPr>
            <a:endParaRPr lang="en-TH"/>
            <a:endParaRPr lang="en-US"/>
          </a:p>
        </p:txBody>
      </p:sp>
      <p:sp>
        <p:nvSpPr>
          <p:cNvPr id="22" name="GB0011"/>
          <p:cNvSpPr/>
          <p:nvPr/>
        </p:nvSpPr>
        <p:spPr>
          <a:xfrm>
            <a:off x="6211054" y="1610000"/>
            <a:ext cx="357656" cy="4800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 lIns="137160" tIns="91440" rIns="137160" bIns="91440"/>
          <a:lstStyle/>
          <a:p>
            <a:pPr marL="0" indent="0">
              <a:buNone/>
            </a:pPr>
            <a:endParaRPr lang="en-TH"/>
            <a:endParaRPr lang="en-US"/>
          </a:p>
        </p:txBody>
      </p:sp>
      <p:sp>
        <p:nvSpPr>
          <p:cNvPr id="23" name="GB2016"/>
          <p:cNvSpPr/>
          <p:nvPr/>
        </p:nvSpPr>
        <p:spPr>
          <a:xfrm>
            <a:off x="6670624" y="1610000"/>
            <a:ext cx="265742" cy="480000"/>
          </a:xfrm>
          <a:prstGeom prst="rect">
            <a:avLst/>
          </a:prstGeom>
          <a:solidFill>
            <a:srgbClr val="1A6B47"/>
          </a:solidFill>
          <a:ln/>
        </p:spPr>
        <p:txBody>
          <a:bodyPr wrap="square" rtlCol="0" anchor="ctr" lIns="137160" tIns="91440" rIns="137160" bIns="91440"/>
          <a:lstStyle/>
          <a:p>
            <a:pPr marL="0" indent="0">
              <a:buNone/>
            </a:pPr>
            <a:endParaRPr lang="en-TH"/>
            <a:endParaRPr lang="en-US"/>
          </a:p>
        </p:txBody>
      </p:sp>
      <p:sp>
        <p:nvSpPr>
          <p:cNvPr id="24" name="GB1023"/>
          <p:cNvSpPr/>
          <p:nvPr/>
        </p:nvSpPr>
        <p:spPr>
          <a:xfrm>
            <a:off x="7314022" y="1610000"/>
            <a:ext cx="449570" cy="48000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rtlCol="0" anchor="ctr" lIns="137160" tIns="91440" rIns="137160" bIns="91440"/>
          <a:lstStyle/>
          <a:p>
            <a:pPr marL="0" indent="0">
              <a:buNone/>
            </a:pPr>
            <a:endParaRPr lang="en-TH"/>
            <a:endParaRPr lang="en-US"/>
          </a:p>
        </p:txBody>
      </p:sp>
      <p:sp>
        <p:nvSpPr>
          <p:cNvPr id="25" name="GB3031"/>
          <p:cNvSpPr/>
          <p:nvPr/>
        </p:nvSpPr>
        <p:spPr>
          <a:xfrm>
            <a:off x="8049334" y="1610000"/>
            <a:ext cx="541484" cy="48000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 lIns="137160" tIns="91440" rIns="137160" bIns="91440"/>
          <a:lstStyle/>
          <a:p>
            <a:pPr marL="0" indent="0">
              <a:buNone/>
            </a:pPr>
            <a:endParaRPr lang="en-TH"/>
            <a:endParaRPr lang="en-US"/>
          </a:p>
        </p:txBody>
      </p:sp>
      <p:sp>
        <p:nvSpPr>
          <p:cNvPr id="26" name="MSLine"/>
          <p:cNvSpPr/>
          <p:nvPr/>
        </p:nvSpPr>
        <p:spPr>
          <a:xfrm>
            <a:off x="8600818" y="1600000"/>
            <a:ext cx="30000" cy="219000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 lIns="137160" tIns="91440" rIns="137160" bIns="91440"/>
          <a:lstStyle/>
          <a:p>
            <a:pPr marL="0" indent="0">
              <a:buNone/>
            </a:pPr>
            <a:endParaRPr lang="en-TH"/>
            <a:endParaRPr lang="en-US"/>
          </a:p>
        </p:txBody>
      </p:sp>
      <p:sp>
        <p:nvSpPr>
          <p:cNvPr id="27" name="MSLabel"/>
          <p:cNvSpPr/>
          <p:nvPr/>
        </p:nvSpPr>
        <p:spPr>
          <a:xfrm>
            <a:off x="8640818" y="1610000"/>
            <a:ext cx="500000" cy="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min</a:t>
            </a:r>
            <a:endParaRPr lang="en-US"/>
          </a:p>
        </p:txBody>
      </p:sp>
      <p:sp>
        <p:nvSpPr>
          <p:cNvPr id="29" name="Handson"/>
          <p:cNvSpPr/>
          <p:nvPr/>
        </p:nvSpPr>
        <p:spPr>
          <a:xfrm>
            <a:off x="457200" y="4150000"/>
            <a:ext cx="8229600" cy="68000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/>
        </p:spPr>
        <p:txBody>
          <a:bodyPr wrap="square" rtlCol="0" anchor="ctr" lIns="137160" tIns="91440" rIns="137160" bIns="91440"/>
          <a:lstStyle/>
          <a:p>
            <a:pPr marL="0" indent="0">
              <a:buNone/>
            </a:pPr>
            <a:r>
              <a:rPr lang="en-US" sz="1400" b="1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Hands-on: รันเลย!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day6/capstone/</a:t>
            </a:r>
            <a:endParaRPr lang="en-US"/>
          </a:p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run_capstone.py</a:t>
            </a:r>
            <a:endParaRPr lang="en-US"/>
          </a:p>
          <a:p>
            <a:pPr marL="0" indent="0">
              <a:buNone/>
            </a:pPr>
            <a:r>
              <a:rPr lang="en-US" sz="1000" i="1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ลองแก้ capstone_data.xlsx → เพิ่ม order ใหม่ → รันใหม่ → Gantt chart เปลี่ยนยังไง?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สรุปหลักสูตร 6 วัน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62179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475488" cy="62179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859536"/>
            <a:ext cx="7543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133856"/>
            <a:ext cx="7543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var, constraint, solve satisfy/minimize/maximize, data files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499616"/>
            <a:ext cx="8229600" cy="62179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457200" y="1499616"/>
            <a:ext cx="475488" cy="62179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457200" y="1499616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1554480"/>
            <a:ext cx="7543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 &amp; Enums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1828800"/>
            <a:ext cx="7543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forall, sum, array indexing, enum types, bool2int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8229600" cy="62179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457200" y="2194560"/>
            <a:ext cx="475488" cy="62179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457200" y="2194560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2249424"/>
            <a:ext cx="7543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3: Global Constraints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2523744"/>
            <a:ext cx="7543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alldifferent, cumulative, table, disjunctive, Job Shop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889504"/>
            <a:ext cx="8229600" cy="62179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457200" y="2889504"/>
            <a:ext cx="475488" cy="62179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457200" y="2889504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51560" y="2944368"/>
            <a:ext cx="7543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4: Scheduling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3218688"/>
            <a:ext cx="7543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predicate, Flexible Job Shop, Rostering, regular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584448"/>
            <a:ext cx="8229600" cy="62179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457200" y="3584448"/>
            <a:ext cx="475488" cy="62179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457200" y="3584448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51560" y="3639312"/>
            <a:ext cx="7543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5: Routing &amp; Packing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3913632"/>
            <a:ext cx="7543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circuit/TSP/VRP, bin_packing_capa, Knapsack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4279392"/>
            <a:ext cx="8229600" cy="62179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0" name="Shape 28"/>
          <p:cNvSpPr/>
          <p:nvPr/>
        </p:nvSpPr>
        <p:spPr>
          <a:xfrm>
            <a:off x="457200" y="4279392"/>
            <a:ext cx="475488" cy="62179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Text 29"/>
          <p:cNvSpPr/>
          <p:nvPr/>
        </p:nvSpPr>
        <p:spPr>
          <a:xfrm>
            <a:off x="457200" y="4279392"/>
            <a:ext cx="4754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51560" y="4334256"/>
            <a:ext cx="7543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6: Effective Modelling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51560" y="4608576"/>
            <a:ext cx="7543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bounds, redundant constraints, debugging, Capstone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สรุปทุก Pattern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Reference: Global Constraints ทั้งหมด</a:t>
            </a:r>
            <a:endParaRPr lang="en-US" sz="2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37490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Constraint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Include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ใช้กับ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ตัวอย่าง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alldifferent(x)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76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globals.mzn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Assignment, no-dup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alldifferent(assigned)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cumulative(s,d,r,b)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76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cumulative.mzn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scheduling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cumulative(start,dur,workers,cap)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disjunctive(s,d)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76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disjunctive.mzn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no-overlap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disjunctive([s[j,t]|j in J],[d[j,t]|j in J])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table(x,tuples)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76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table.mzn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Lookup/spec 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table([mat,hard,wt,cost],mat_table)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regular(seq,tr,q0,F)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76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regular.mzn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patterns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regular([roster[e,d]|d in D],tr,S1,STATE)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circuit(next)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76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circuit.mzn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TSP/VRP routing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circuit(next)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bin_packing_capa(c,b,w)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76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bin_packing_capa.mzn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 packing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bin_packing_capa(cap,bin_of,sizes)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6: Effective Modelling — Quick Ref: All Constraints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ก่อน Submit โมเดล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069080" cy="1078992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64008" cy="107899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📐  Bounds แน่น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ไม่ใช้ 0..9999 — คำนวณ lb/ub จากข้อมูลจริง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78992"/>
            <a:ext cx="406908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4663440" y="1078992"/>
            <a:ext cx="64008" cy="1078992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4800600" y="117043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✅  solve satisfy ก่อน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55448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ทดสอบว่า model ถูกก่อนเพิ่ม objective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267712"/>
            <a:ext cx="4069080" cy="1078992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365760" y="2267712"/>
            <a:ext cx="64008" cy="1078992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502920" y="235915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🔢  ข้อมูลขนาดเล็กก่อน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274320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ทดสอบกับ n=2,3 ก่อน scale ขึ้น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267712"/>
            <a:ext cx="406908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4663440" y="2267712"/>
            <a:ext cx="64008" cy="1078992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4800600" y="235915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🔍  ตรวจ output มือ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274320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คำนวณ resource usage เทียบกับ constraint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456432"/>
            <a:ext cx="4069080" cy="1078992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2" name="Shape 20"/>
          <p:cNvSpPr/>
          <p:nvPr/>
        </p:nvSpPr>
        <p:spPr>
          <a:xfrm>
            <a:off x="365760" y="3456432"/>
            <a:ext cx="64008" cy="107899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502920" y="354787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💬  มี assert() ตรวจ data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393192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บอก error ที่ชัดเจนถ้า data ผิด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456432"/>
            <a:ext cx="406908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6" name="Shape 24"/>
          <p:cNvSpPr/>
          <p:nvPr/>
        </p:nvSpPr>
        <p:spPr>
          <a:xfrm>
            <a:off x="4663440" y="3456432"/>
            <a:ext cx="64008" cy="107899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4800600" y="354787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📖  Comment อธิบาย constraint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393192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คนอื่น (หรือตัวเองในอีก 1 เดือน) อ่านรู้เรื่อง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6: Effective Modelling — Modelling Checklist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ขั้นต่อไป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ขั้นต่อไปหลังอบรม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069080" cy="3749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069080" cy="384048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แหล่งเรียนรู้เพิ่มเติม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docs.minizinc.dev — Official tutorial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21408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minizinc.org/challenge — ตัวอย่างโมเดลจาก competition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670048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MiniZinc Playground — ทดลองออนไลน์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218688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Python + minizinc package — เชื่อม automation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767328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Gurobi/CPLEX — สำหรับปัญหาใหญ่ระดับ enterprise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078992"/>
            <a:ext cx="4069080" cy="374904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4709160" y="1078992"/>
            <a:ext cx="4069080" cy="384048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4709160" y="1078992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นำไปใช้จริง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572768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นำ Capstone model ไปทดสอบกับข้อมูลจริง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121408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เพิ่ม solver เชิงพาณิชย์ถ้าปัญหาใหญ่ขึ้น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670048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ขยาย model เพิ่ม constraint ใหม่ตามความต้องการ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218688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แชร์ model กับทีม — ทำ documentation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767328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ติดต่อวิทยากรถ้าติดปัญหา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6: Effective Modelling — ขั้นต่อไป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22B4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3931920" y="5486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🎉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ขอแสดงความยินดี!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ท่านสามารถใช้ MiniZinc แก้ปัญหา Optimization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ในงานอุตสาหกรรมได้แล้ว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71600" y="2926080"/>
            <a:ext cx="6400800" cy="36576"/>
          </a:xfrm>
          <a:prstGeom prst="rect">
            <a:avLst/>
          </a:prstGeom>
          <a:solidFill>
            <a:srgbClr val="2E5075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1115568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691640" y="3063240"/>
            <a:ext cx="1115568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1691640" y="3063240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926080" y="3063240"/>
            <a:ext cx="1115568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2926080" y="3063240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forall/sum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60520" y="3063240"/>
            <a:ext cx="1115568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4160520" y="3063240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394960" y="3063240"/>
            <a:ext cx="1115568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5394960" y="3063240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629400" y="3063240"/>
            <a:ext cx="1115568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6629400" y="3063240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Constraints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863840" y="3063240"/>
            <a:ext cx="1115568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7863840" y="3063240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3538728"/>
            <a:ext cx="1115568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457200" y="3538728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alldifferent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691640" y="3538728"/>
            <a:ext cx="1115568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1691640" y="3538728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Shop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926080" y="3538728"/>
            <a:ext cx="1115568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8" name="Text 26"/>
          <p:cNvSpPr/>
          <p:nvPr/>
        </p:nvSpPr>
        <p:spPr>
          <a:xfrm>
            <a:off x="2926080" y="3538728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60520" y="3538728"/>
            <a:ext cx="1115568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/>
          <p:nvPr/>
        </p:nvSpPr>
        <p:spPr>
          <a:xfrm>
            <a:off x="4160520" y="3538728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394960" y="3538728"/>
            <a:ext cx="1115568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5394960" y="3538728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629400" y="3538728"/>
            <a:ext cx="1115568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4" name="Text 32"/>
          <p:cNvSpPr/>
          <p:nvPr/>
        </p:nvSpPr>
        <p:spPr>
          <a:xfrm>
            <a:off x="6629400" y="3538728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Packing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863840" y="3538728"/>
            <a:ext cx="1115568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6" name="Text 34"/>
          <p:cNvSpPr/>
          <p:nvPr/>
        </p:nvSpPr>
        <p:spPr>
          <a:xfrm>
            <a:off x="7863840" y="3538728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Knapsack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" y="4014216"/>
            <a:ext cx="1115568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8" name="Text 36"/>
          <p:cNvSpPr/>
          <p:nvPr/>
        </p:nvSpPr>
        <p:spPr>
          <a:xfrm>
            <a:off x="457200" y="4014216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7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docs.minizinc.dev  |  minizinc.org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Reference: Effective Modelling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370332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37033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12064" y="1152144"/>
            <a:ext cx="8247888" cy="3630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TIGHT BOUNDS ──────────────────────────────────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total = sum(j,t)(d[j,t]);         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upper bound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lb    = max(j)(sum(t)(d[j,t]));   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lower bound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lb..total: makespan;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REDUNDANT CONSTRAINTS ─────────────────────────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Lower bound: objective &gt;= sum(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row_min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sum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(w)(min(t)(cost[w,t])) &lt;= sum(w)(cost[w,assigned[w]]);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SYMMETRY BREAKING (examples) ──────────────────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Bin Packing: bin_of[i] &lt;= bin_of[i+1]+1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in 1..n-1)(bin_of[i] &lt;= bin_of[i+1]+1);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Job Shop: ถ้า 2 jobs ทำ task เดียวกันพร้อมกัน force j&lt;k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Assignment: worker 1 ได้ task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หมายเลขน้อยที่สุด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assigned[1] = min(TASKS);  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อาจเร็วขึ้น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6: Effective Modelling — Quick Ref: Effective Modelling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Reference: Debugging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370332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3703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12064" y="1152144"/>
            <a:ext cx="8247888" cy="3630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UNSATISFIABLE ──────────────────────────────────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1. เพิ่ม constraint ทีละอย่าง: เริ่ม solve satisfy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ก่อน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satisfy;  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ไม่ minimize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ก่อน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2. ลด n: เริ่มด้วยข้อมูล 2-3 items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3. Comment constraint ออก แล้วเพิ่มทีละอย่าง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SLOW SOLVER ───────────────────────────────────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1. คำนวณ bounds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แทน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hardcode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ub = sum(j,t)(d[j,t]);  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แทน var 0..999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2. เพิ่ม symmetry breaking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3. ลอง solver อื่น: --solver chuffed หรือ or-tools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WRONG RESULTS ─────────────────────────────────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1. เพิ่ม assert() ตรวจ input data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assert(n &gt; 0, "n must be positive");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2. เพิ่ม output ตรวจ intermediate values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["resource_used = ", show(sum(p)(c[p,r]*x[p])), "\n"];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6: Effective Modelling — Quick Ref: Debugging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Library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ตัดสินใจเลือก Pattern ให้ถูก</a:t>
            </a:r>
            <a:endParaRPr lang="en-US" sz="27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374904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ต้องการ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Pattern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วันที่เรียน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ทุกค่าต้องต่างกัน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alldifferent(x)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วัน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ทรัพยากรไม่เกิน cap ทุกเวลา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cumulative(s,d,r,cap)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วัน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เครื่องทีละ 1 job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disjunctive(s,d)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วัน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เลือกจาก tuple ที่กำหนด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table(x, allowed)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วัน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บังคับ shift pattern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regular(seq,tr,q0,F)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วัน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Hamiltonian cycle (TSP/VRP)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circuit(next)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วัน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จัดสิ่งของลงกล่อง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bin_packing_capa(cap,b,w)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วัน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เลือก item maximize profit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0/1 Knapsack หรือ var set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วัน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ลด duplicate solutions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Symmetry breaking constraint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วัน 5/6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เพิ่ม pruning speed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Redundant constraints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วัน 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6: Effective Modelling — Pattern Library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ข้อผิดพลาด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ข้อผิดพลาดที่พบบ่อย — Effective Modelling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0467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30352" y="11155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var 0..1000: makespan  % hardcode bound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35331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int: ub = sum(j,t)(d[j,t]);  var lb..ub: makespan;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6459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ที่ดีคำนวณได้เสมอ — ไม่ต้อง guess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993392"/>
            <a:ext cx="8412480" cy="8046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365760" y="1993392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530352" y="20299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solve minimize cost;  % ก่อนทดสอบ satisfy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226771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solve satisfy;  % ทดสอบก่อน, เปลี่ยนเป็น minimize ทีหลัง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2560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เริ่ม minimize โดยไม่ตรวจว่า model ถูก → UNSAT หาสาเหตุยาก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907792"/>
            <a:ext cx="8412480" cy="80467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65760" y="2907792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30352" y="29443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% ไม่มี comment อธิบาย constraint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" y="318211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% Demand: กะเช้าต้องมีพนักงานอย่างน้อย req_morning คน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" y="34747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ที่ไม่มี comment อ่านยากมาก โดยเฉพาะเมื่อกลับมาแก้ทีหลัง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822192"/>
            <a:ext cx="8412480" cy="8046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365760" y="3822192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530352" y="38587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forall(i,j in 1..n where i&lt;j)(sym_break[i,j])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" y="409651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% ตรวจว่า symmetry breaking ไม่ตัด optimal solution ออก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" y="43891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breaking ผิดอาจตัดคำตอบที่ดีออก — ต้องระวัง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6: Effective Modelling — Common Mistakes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ที่รองรับใน MiniZinc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2841174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Solver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ประเภท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เหมาะกับ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Flag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 (default)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Integer, Scheduling, Rostering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76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--solver gecode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Chuffed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 (lazy)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Scheduling ใหญ่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76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--solver chuffed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OR-Tools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CP+MIP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problems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76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--solver org.minizinc.ortools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MIP (free)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Linear/Integer Programming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76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--solver highs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COIN-BC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MIP (free)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Programming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76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--solver cbc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Gurobi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MIP (commercial)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LP/MIP ขนาดใหญ่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76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--solver gurobi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005072"/>
            <a:ext cx="8412480" cy="804672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4"/>
          <p:cNvSpPr/>
          <p:nvPr/>
        </p:nvSpPr>
        <p:spPr>
          <a:xfrm>
            <a:off x="365760" y="4005072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5"/>
          <p:cNvSpPr/>
          <p:nvPr/>
        </p:nvSpPr>
        <p:spPr>
          <a:xfrm>
            <a:off x="530352" y="40416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แนะนำสำหรับผู้เริ่มต้น: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0352" y="43159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Gecode (default) สำหรับปัญหาทั่วไป  |  Chuffed สำหรับ Scheduling  |  HiGHS/COIN-BC สำหรับปัญหา Linear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6: Effective Modelling — Solver Comparison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164592"/>
            <a:ext cx="68580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TH"/>
            <a:endParaRPr lang="en-US"/>
          </a:p>
        </p:txBody>
      </p:sp>
      <p:sp>
        <p:nvSpPr>
          <p:cNvPr id="3" name="HeaderText"/>
          <p:cNvSpPr/>
          <p:nvPr/>
        </p:nvSpPr>
        <p:spPr>
          <a:xfrm>
            <a:off x="685800" y="164592"/>
            <a:ext cx="40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สรุปวันที่ 6</a:t>
            </a:r>
            <a:endParaRPr lang="en-US"/>
          </a:p>
        </p:txBody>
      </p:sp>
      <p:sp>
        <p:nvSpPr>
          <p:cNvPr id="4" name="TitleBg"/>
          <p:cNvSpPr/>
          <p:nvPr/>
        </p:nvSpPr>
        <p:spPr>
          <a:xfrm>
            <a:off x="0" y="457200"/>
            <a:ext cx="9144000" cy="502920"/>
          </a:xfrm>
          <a:prstGeom prst="rect">
            <a:avLst/>
          </a:prstGeom>
          <a:solidFill>
            <a:srgbClr val="1A3C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สรุปวันที่ 6 — Effective Modelling &amp; Dynamic Re-optimization</a:t>
            </a:r>
            <a:endParaRPr lang="en-US"/>
          </a:p>
        </p:txBody>
      </p:sp>
      <p:sp>
        <p:nvSpPr>
          <p:cNvPr id="5" name="CardBg0"/>
          <p:cNvSpPr/>
          <p:nvPr/>
        </p:nvSpPr>
        <p:spPr>
          <a:xfrm>
            <a:off x="457200" y="1080000"/>
            <a:ext cx="8229600" cy="56880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TH"/>
            <a:endParaRPr lang="en-US"/>
          </a:p>
        </p:txBody>
      </p:sp>
      <p:sp>
        <p:nvSpPr>
          <p:cNvPr id="6" name="Bar0"/>
          <p:cNvSpPr/>
          <p:nvPr/>
        </p:nvSpPr>
        <p:spPr>
          <a:xfrm>
            <a:off x="457200" y="1080000"/>
            <a:ext cx="64008" cy="5688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TH"/>
            <a:endParaRPr lang="en-US"/>
          </a:p>
        </p:txBody>
      </p:sp>
      <p:sp>
        <p:nvSpPr>
          <p:cNvPr id="7" name="CardTitle0"/>
          <p:cNvSpPr/>
          <p:nvPr/>
        </p:nvSpPr>
        <p:spPr>
          <a:xfrm>
            <a:off x="612648" y="1140000"/>
            <a:ext cx="8074152" cy="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Tight Bounds — solver เร็วขึ้น</a:t>
            </a:r>
            <a:endParaRPr lang="en-US"/>
          </a:p>
        </p:txBody>
      </p:sp>
      <p:sp>
        <p:nvSpPr>
          <p:cNvPr id="8" name="CardBody0"/>
          <p:cNvSpPr/>
          <p:nvPr/>
        </p:nvSpPr>
        <p:spPr>
          <a:xfrm>
            <a:off x="612648" y="1390000"/>
            <a:ext cx="8074152" cy="2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= min possible  |  ub = max reasonable  |  var lb..ub แทน var 0..999</a:t>
            </a:r>
            <a:endParaRPr lang="en-US"/>
          </a:p>
        </p:txBody>
      </p:sp>
      <p:sp>
        <p:nvSpPr>
          <p:cNvPr id="9" name="CardBg1"/>
          <p:cNvSpPr/>
          <p:nvPr/>
        </p:nvSpPr>
        <p:spPr>
          <a:xfrm>
            <a:off x="457200" y="1678800"/>
            <a:ext cx="8229600" cy="568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TH"/>
            <a:endParaRPr lang="en-US"/>
          </a:p>
        </p:txBody>
      </p:sp>
      <p:sp>
        <p:nvSpPr>
          <p:cNvPr id="10" name="Bar1"/>
          <p:cNvSpPr/>
          <p:nvPr/>
        </p:nvSpPr>
        <p:spPr>
          <a:xfrm>
            <a:off x="457200" y="1678800"/>
            <a:ext cx="64008" cy="568800"/>
          </a:xfrm>
          <a:prstGeom prst="rect">
            <a:avLst/>
          </a:prstGeom>
          <a:solidFill>
            <a:srgbClr val="1A3C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TH"/>
            <a:endParaRPr lang="en-US"/>
          </a:p>
        </p:txBody>
      </p:sp>
      <p:sp>
        <p:nvSpPr>
          <p:cNvPr id="11" name="CardTitle1"/>
          <p:cNvSpPr/>
          <p:nvPr/>
        </p:nvSpPr>
        <p:spPr>
          <a:xfrm>
            <a:off x="612648" y="1738800"/>
            <a:ext cx="8074152" cy="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Redundant Constraints — prune เพิ่ม</a:t>
            </a:r>
            <a:endParaRPr lang="en-US"/>
          </a:p>
        </p:txBody>
      </p:sp>
      <p:sp>
        <p:nvSpPr>
          <p:cNvPr id="12" name="CardBody1"/>
          <p:cNvSpPr/>
          <p:nvPr/>
        </p:nvSpPr>
        <p:spPr>
          <a:xfrm>
            <a:off x="612648" y="1988800"/>
            <a:ext cx="8074152" cy="2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ที่ซ้ำซ้อนทางตรรกะ แต่ช่วย solver ตัด branch ได้เร็ว</a:t>
            </a:r>
            <a:endParaRPr lang="en-US"/>
          </a:p>
        </p:txBody>
      </p:sp>
      <p:sp>
        <p:nvSpPr>
          <p:cNvPr id="13" name="CardBg2"/>
          <p:cNvSpPr/>
          <p:nvPr/>
        </p:nvSpPr>
        <p:spPr>
          <a:xfrm>
            <a:off x="457200" y="2277600"/>
            <a:ext cx="8229600" cy="56880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TH"/>
            <a:endParaRPr lang="en-US"/>
          </a:p>
        </p:txBody>
      </p:sp>
      <p:sp>
        <p:nvSpPr>
          <p:cNvPr id="14" name="Bar2"/>
          <p:cNvSpPr/>
          <p:nvPr/>
        </p:nvSpPr>
        <p:spPr>
          <a:xfrm>
            <a:off x="457200" y="2277600"/>
            <a:ext cx="64008" cy="5688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TH"/>
            <a:endParaRPr lang="en-US"/>
          </a:p>
        </p:txBody>
      </p:sp>
      <p:sp>
        <p:nvSpPr>
          <p:cNvPr id="15" name="CardTitle2"/>
          <p:cNvSpPr/>
          <p:nvPr/>
        </p:nvSpPr>
        <p:spPr>
          <a:xfrm>
            <a:off x="612648" y="2337600"/>
            <a:ext cx="8074152" cy="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 Debugging: 3 ประเภท</a:t>
            </a:r>
            <a:endParaRPr lang="en-US"/>
          </a:p>
        </p:txBody>
      </p:sp>
      <p:sp>
        <p:nvSpPr>
          <p:cNvPr id="16" name="CardBody2"/>
          <p:cNvSpPr/>
          <p:nvPr/>
        </p:nvSpPr>
        <p:spPr>
          <a:xfrm>
            <a:off x="612648" y="2587600"/>
            <a:ext cx="8074152" cy="2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UNSAT → เพิ่ม constraint ทีละอย่าง | Slow → bounds + redundant | Wrong → ตรวจ output มือ</a:t>
            </a:r>
            <a:endParaRPr lang="en-US"/>
          </a:p>
        </p:txBody>
      </p:sp>
      <p:sp>
        <p:nvSpPr>
          <p:cNvPr id="17" name="CardBg3"/>
          <p:cNvSpPr/>
          <p:nvPr/>
        </p:nvSpPr>
        <p:spPr>
          <a:xfrm>
            <a:off x="457200" y="2876400"/>
            <a:ext cx="8229600" cy="568800"/>
          </a:xfrm>
          <a:prstGeom prst="rect">
            <a:avLst/>
          </a:prstGeom>
          <a:solidFill>
            <a:srgbClr val="EE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TH"/>
            <a:endParaRPr lang="en-US"/>
          </a:p>
        </p:txBody>
      </p:sp>
      <p:sp>
        <p:nvSpPr>
          <p:cNvPr id="18" name="Bar3"/>
          <p:cNvSpPr/>
          <p:nvPr/>
        </p:nvSpPr>
        <p:spPr>
          <a:xfrm>
            <a:off x="457200" y="2876400"/>
            <a:ext cx="64008" cy="568800"/>
          </a:xfrm>
          <a:prstGeom prst="rect">
            <a:avLst/>
          </a:prstGeom>
          <a:solidFill>
            <a:srgbClr val="1A3C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TH"/>
            <a:endParaRPr lang="en-US"/>
          </a:p>
        </p:txBody>
      </p:sp>
      <p:sp>
        <p:nvSpPr>
          <p:cNvPr id="19" name="CardTitle3"/>
          <p:cNvSpPr/>
          <p:nvPr/>
        </p:nvSpPr>
        <p:spPr>
          <a:xfrm>
            <a:off x="612648" y="2936400"/>
            <a:ext cx="8074152" cy="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Dynamic Re-optimization — 6 เทคนิค</a:t>
            </a:r>
            <a:endParaRPr lang="en-US"/>
          </a:p>
        </p:txBody>
      </p:sp>
      <p:sp>
        <p:nvSpPr>
          <p:cNvPr id="20" name="CardBody3"/>
          <p:cNvSpPr/>
          <p:nvPr/>
        </p:nvSpPr>
        <p:spPr>
          <a:xfrm>
            <a:off x="612648" y="3186400"/>
            <a:ext cx="8074152" cy="2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Re-opt / Penalize / Rolling Horizon / Slack / Scenario Planning / Warm Start</a:t>
            </a:r>
            <a:endParaRPr lang="en-US"/>
          </a:p>
        </p:txBody>
      </p:sp>
      <p:sp>
        <p:nvSpPr>
          <p:cNvPr id="21" name="CardBg4"/>
          <p:cNvSpPr/>
          <p:nvPr/>
        </p:nvSpPr>
        <p:spPr>
          <a:xfrm>
            <a:off x="457200" y="3475200"/>
            <a:ext cx="8229600" cy="568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TH"/>
            <a:endParaRPr lang="en-US"/>
          </a:p>
        </p:txBody>
      </p:sp>
      <p:sp>
        <p:nvSpPr>
          <p:cNvPr id="22" name="Bar4"/>
          <p:cNvSpPr/>
          <p:nvPr/>
        </p:nvSpPr>
        <p:spPr>
          <a:xfrm>
            <a:off x="457200" y="3475200"/>
            <a:ext cx="64008" cy="5688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TH"/>
            <a:endParaRPr lang="en-US"/>
          </a:p>
        </p:txBody>
      </p:sp>
      <p:sp>
        <p:nvSpPr>
          <p:cNvPr id="23" name="CardTitle4"/>
          <p:cNvSpPr/>
          <p:nvPr/>
        </p:nvSpPr>
        <p:spPr>
          <a:xfrm>
            <a:off x="612648" y="3535200"/>
            <a:ext cx="8074152" cy="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Capstone = นำไปใช้จริง</a:t>
            </a:r>
            <a:endParaRPr lang="en-US"/>
          </a:p>
        </p:txBody>
      </p:sp>
      <p:sp>
        <p:nvSpPr>
          <p:cNvPr id="24" name="CardBody4"/>
          <p:cNvSpPr/>
          <p:nvPr/>
        </p:nvSpPr>
        <p:spPr>
          <a:xfrm>
            <a:off x="612648" y="3785200"/>
            <a:ext cx="8074152" cy="2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ปัญหาจริงขององค์กร → MiniZinc model → ผลลัพธ์ที่ดีขึ้น</a:t>
            </a:r>
            <a:endParaRPr lang="en-US"/>
          </a:p>
        </p:txBody>
      </p:sp>
      <p:sp>
        <p:nvSpPr>
          <p:cNvPr id="25" name="CongratsBg"/>
          <p:cNvSpPr/>
          <p:nvPr/>
        </p:nvSpPr>
        <p:spPr>
          <a:xfrm>
            <a:off x="457200" y="4114000"/>
            <a:ext cx="8229600" cy="201168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ยินดีด้วย! ท่านจบหลักสูตร MiniZinc for Industrial Optimization แล้ว</a:t>
            </a:r>
            <a:endParaRPr lang="en-US"/>
          </a:p>
        </p:txBody>
      </p:sp>
      <p:sp>
        <p:nvSpPr>
          <p:cNvPr id="26" name="FooterL"/>
          <p:cNvSpPr/>
          <p:nvPr/>
        </p:nvSpPr>
        <p:spPr>
          <a:xfrm>
            <a:off x="457200" y="4883500"/>
            <a:ext cx="500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6: Effective Modelling</a:t>
            </a:r>
            <a:endParaRPr lang="en-US"/>
          </a:p>
        </p:txBody>
      </p:sp>
      <p:sp>
        <p:nvSpPr>
          <p:cNvPr id="27" name="FooterR"/>
          <p:cNvSpPr/>
          <p:nvPr/>
        </p:nvSpPr>
        <p:spPr>
          <a:xfrm>
            <a:off x="7772400" y="48835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ynReopt_Intro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Left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TH"/>
            <a:endParaRPr lang="en-US"/>
          </a:p>
        </p:txBody>
      </p:sp>
      <p:sp>
        <p:nvSpPr>
          <p:cNvPr id="3" name="BarRight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F4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TH"/>
            <a:endParaRPr lang="en-US"/>
          </a:p>
        </p:txBody>
      </p:sp>
      <p:sp>
        <p:nvSpPr>
          <p:cNvPr id="4" name="Label"/>
          <p:cNvSpPr/>
          <p:nvPr/>
        </p:nvSpPr>
        <p:spPr>
          <a:xfrm>
            <a:off x="457200" y="10972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Re-optimization</a:t>
            </a:r>
            <a:endParaRPr lang="en-US"/>
          </a:p>
        </p:txBody>
      </p:sp>
      <p:sp>
        <p:nvSpPr>
          <p:cNvPr id="5" name="Title"/>
          <p:cNvSpPr/>
          <p:nvPr/>
        </p:nvSpPr>
        <p:spPr>
          <a:xfrm>
            <a:off x="457200" y="164592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รับมือเมื่อแผน</a:t>
            </a:r>
            <a:endParaRPr lang="en-US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เปลี่ยนกลางทาง</a:t>
            </a:r>
            <a:endParaRPr lang="en-US"/>
          </a:p>
        </p:txBody>
      </p:sp>
      <p:sp>
        <p:nvSpPr>
          <p:cNvPr id="6" name="Sub"/>
          <p:cNvSpPr/>
          <p:nvPr/>
        </p:nvSpPr>
        <p:spPr>
          <a:xfrm>
            <a:off x="457200" y="3429000"/>
            <a:ext cx="59436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เครื่องเสีย · Order เพิ่ม · วัตถุดิบขาด · พนักงานลา</a:t>
            </a: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blem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457200" y="228600"/>
            <a:ext cx="3000000" cy="32000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Re-optimization</a:t>
            </a:r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600000"/>
            <a:ext cx="8458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ทำไม Plan ถึงเปลี่ยนกลางทาง?</a:t>
            </a:r>
            <a:endParaRPr lang="en-US"/>
          </a:p>
        </p:txBody>
      </p:sp>
      <p:sp>
        <p:nvSpPr>
          <p:cNvPr id="10" name="Card"/>
          <p:cNvSpPr/>
          <p:nvPr/>
        </p:nvSpPr>
        <p:spPr>
          <a:xfrm>
            <a:off x="457200" y="1400000"/>
            <a:ext cx="2700000" cy="120000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/>
        </p:spPr>
        <p:txBody>
          <a:bodyPr wrap="square" rtlCol="0" anchor="t" lIns="137160" tIns="91440" rIns="137160" bIns="91440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เครื่องจักรขัดข้อง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M_B เสียกะทันหัน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งาน Weld ทั้งหมดต้องย้ายเครื่อง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Makespan จะบวมขึ้นเท่าไหร่?</a:t>
            </a:r>
            <a:endParaRPr lang="en-US"/>
          </a:p>
        </p:txBody>
      </p:sp>
      <p:sp>
        <p:nvSpPr>
          <p:cNvPr id="11" name="Card"/>
          <p:cNvSpPr/>
          <p:nvPr/>
        </p:nvSpPr>
        <p:spPr>
          <a:xfrm>
            <a:off x="3224100" y="1400000"/>
            <a:ext cx="2700000" cy="1200000"/>
          </a:xfrm>
          <a:prstGeom prst="roundRect">
            <a:avLst>
              <a:gd name="adj" fmla="val 10000"/>
            </a:avLst>
          </a:prstGeom>
          <a:solidFill>
            <a:srgbClr val="FEF3E2"/>
          </a:solidFill>
          <a:ln/>
        </p:spPr>
        <p:txBody>
          <a:bodyPr wrap="square" rtlCol="0" anchor="t" lIns="137160" tIns="91440" rIns="137160" bIns="91440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เพิ่มกะทันหัน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ลูกค้า VIP ส่ง order ใหม่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ความต้องการ +40% กะทันหัน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พอไหม? OT ต้องเท่าไหร่?</a:t>
            </a:r>
            <a:endParaRPr lang="en-US"/>
          </a:p>
        </p:txBody>
      </p:sp>
      <p:sp>
        <p:nvSpPr>
          <p:cNvPr id="12" name="Card"/>
          <p:cNvSpPr/>
          <p:nvPr/>
        </p:nvSpPr>
        <p:spPr>
          <a:xfrm>
            <a:off x="5991000" y="1400000"/>
            <a:ext cx="2700000" cy="12000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/>
        </p:spPr>
        <p:txBody>
          <a:bodyPr wrap="square" rtlCol="0" anchor="t" lIns="137160" tIns="91440" rIns="137160" bIns="91440"/>
          <a:lstStyle/>
          <a:p>
            <a:pPr marL="0" indent="0">
              <a:buNone/>
            </a:pPr>
            <a:r>
              <a:rPr lang="en-US" sz="13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วัตถุดิบมาช้า / ขาด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แจ้งว่าส่งช้า 3 วัน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งานที่รอวัตถุดิบต้องเลื่อน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Ripple effect ทั้ง schedule</a:t>
            </a:r>
            <a:endParaRPr lang="en-US"/>
          </a:p>
        </p:txBody>
      </p:sp>
      <p:sp>
        <p:nvSpPr>
          <p:cNvPr id="13" name="Note"/>
          <p:cNvSpPr/>
          <p:nvPr/>
        </p:nvSpPr>
        <p:spPr>
          <a:xfrm>
            <a:off x="457200" y="2750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คำถาม: แก้ plan อย่างไร? — Re-plan ใหม่ทั้งหมด vs. แก้น้อยที่สุด vs. วางแผนรับมือล่วงหน้า</a:t>
            </a:r>
            <a:endParaRPr lang="en-US"/>
          </a:p>
        </p:txBody>
      </p:sp>
      <p:sp>
        <p:nvSpPr>
          <p:cNvPr id="14" name="Files"/>
          <p:cNvSpPr/>
          <p:nvPr/>
        </p:nvSpPr>
        <p:spPr>
          <a:xfrm>
            <a:off x="457200" y="3300000"/>
            <a:ext cx="82296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day6/  06_reoptimize.mzn  |  07_penalize_changes.mzn  |  08_rolling_horizon.mzn  |  09_slack_variables.mzn  |  10_scenario_planning.mzn</a:t>
            </a: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chniques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457200" y="228600"/>
            <a:ext cx="3000000" cy="32000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Re-optimization</a:t>
            </a:r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600000"/>
            <a:ext cx="8458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เทคนิครับมือการเปลี่ยนแปลง</a:t>
            </a:r>
            <a:endParaRPr lang="en-US"/>
          </a:p>
        </p:txBody>
      </p:sp>
      <p:sp>
        <p:nvSpPr>
          <p:cNvPr id="10" name="Card"/>
          <p:cNvSpPr/>
          <p:nvPr/>
        </p:nvSpPr>
        <p:spPr>
          <a:xfrm>
            <a:off x="457200" y="1450000"/>
            <a:ext cx="4114800" cy="70000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/>
        </p:spPr>
        <p:txBody>
          <a:bodyPr wrap="square" rtlCol="0" anchor="t" lIns="137160" tIns="91440" rIns="137160" bIns="91440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Re-optimize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อัปเดตข้อมูล แล้ว solve ใหม่</a:t>
            </a:r>
            <a:endParaRPr lang="en-US"/>
          </a:p>
        </p:txBody>
      </p:sp>
      <p:sp>
        <p:nvSpPr>
          <p:cNvPr id="11" name="Card"/>
          <p:cNvSpPr/>
          <p:nvPr/>
        </p:nvSpPr>
        <p:spPr>
          <a:xfrm>
            <a:off x="4800000" y="1450000"/>
            <a:ext cx="4114800" cy="700000"/>
          </a:xfrm>
          <a:prstGeom prst="roundRect">
            <a:avLst>
              <a:gd name="adj" fmla="val 10000"/>
            </a:avLst>
          </a:prstGeom>
          <a:solidFill>
            <a:srgbClr val="FEF3E2"/>
          </a:solidFill>
          <a:ln/>
        </p:spPr>
        <p:txBody>
          <a:bodyPr wrap="square" rtlCol="0" anchor="t" lIns="137160" tIns="91440" rIns="137160" bIns="91440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Penalize Changes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ลงโทษการเบี่ยงเบนจาก plan เดิม</a:t>
            </a:r>
            <a:endParaRPr lang="en-US"/>
          </a:p>
        </p:txBody>
      </p:sp>
      <p:sp>
        <p:nvSpPr>
          <p:cNvPr id="12" name="Card"/>
          <p:cNvSpPr/>
          <p:nvPr/>
        </p:nvSpPr>
        <p:spPr>
          <a:xfrm>
            <a:off x="457200" y="2350000"/>
            <a:ext cx="4114800" cy="70000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/>
        </p:spPr>
        <p:txBody>
          <a:bodyPr wrap="square" rtlCol="0" anchor="t" lIns="137160" tIns="91440" rIns="137160" bIns="91440"/>
          <a:lstStyle/>
          <a:p>
            <a:pPr marL="0" indent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Rolling Horizon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ทีละ window แล้วเลื่อนไป</a:t>
            </a:r>
            <a:endParaRPr lang="en-US"/>
          </a:p>
        </p:txBody>
      </p:sp>
      <p:sp>
        <p:nvSpPr>
          <p:cNvPr id="13" name="Card"/>
          <p:cNvSpPr/>
          <p:nvPr/>
        </p:nvSpPr>
        <p:spPr>
          <a:xfrm>
            <a:off x="4800000" y="2350000"/>
            <a:ext cx="4114800" cy="700000"/>
          </a:xfrm>
          <a:prstGeom prst="roundRect">
            <a:avLst>
              <a:gd name="adj" fmla="val 10000"/>
            </a:avLst>
          </a:prstGeom>
          <a:solidFill>
            <a:srgbClr val="E8F5EE"/>
          </a:solidFill>
          <a:ln/>
        </p:spPr>
        <p:txBody>
          <a:bodyPr wrap="square" rtlCol="0" anchor="t" lIns="137160" tIns="91440" rIns="137160" bIns="91440"/>
          <a:lstStyle/>
          <a:p>
            <a:pPr marL="0" indent="0">
              <a:buNone/>
            </a:pPr>
            <a:r>
              <a:rPr lang="en-US" sz="1300" b="1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Slack Variables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buffer สำหรับ demand spike</a:t>
            </a:r>
            <a:endParaRPr lang="en-US"/>
          </a:p>
        </p:txBody>
      </p:sp>
      <p:sp>
        <p:nvSpPr>
          <p:cNvPr id="14" name="Card"/>
          <p:cNvSpPr/>
          <p:nvPr/>
        </p:nvSpPr>
        <p:spPr>
          <a:xfrm>
            <a:off x="457200" y="3250000"/>
            <a:ext cx="4114800" cy="70000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/>
        </p:spPr>
        <p:txBody>
          <a:bodyPr wrap="square" rtlCol="0" anchor="t" lIns="137160" tIns="91440" rIns="137160" bIns="91440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Scenario Planning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under multiple demand scenarios</a:t>
            </a:r>
            <a:endParaRPr lang="en-US"/>
          </a:p>
        </p:txBody>
      </p:sp>
      <p:sp>
        <p:nvSpPr>
          <p:cNvPr id="15" name="Card"/>
          <p:cNvSpPr/>
          <p:nvPr/>
        </p:nvSpPr>
        <p:spPr>
          <a:xfrm>
            <a:off x="4800000" y="3250000"/>
            <a:ext cx="4114800" cy="70000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/>
        </p:spPr>
        <p:txBody>
          <a:bodyPr wrap="square" rtlCol="0" anchor="t" lIns="137160" tIns="91440" rIns="137160" bIns="91440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Warm Starting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solution เดิมเป็น hint แก่ solver</a:t>
            </a:r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457200" y="228600"/>
            <a:ext cx="3000000" cy="32000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1 / 6</a:t>
            </a:r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600000"/>
            <a:ext cx="8458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Re-optimize from Current State</a:t>
            </a:r>
            <a:endParaRPr lang="en-US"/>
          </a:p>
        </p:txBody>
      </p:sp>
      <p:sp>
        <p:nvSpPr>
          <p:cNvPr id="10" name="Card"/>
          <p:cNvSpPr/>
          <p:nvPr/>
        </p:nvSpPr>
        <p:spPr>
          <a:xfrm>
            <a:off x="457200" y="1400000"/>
            <a:ext cx="3900000" cy="28000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/>
        </p:spPr>
        <p:txBody>
          <a:bodyPr wrap="square" rtlCol="0" anchor="t" lIns="137160" tIns="91440" rIns="137160" bIns="91440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แนวคิด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เมื่อ event เกิดขึ้น: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อัปเดตข้อมูลให้ตรงสถานการณ์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Fix งานที่เริ่มไปแล้ว (start time)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Run solver ใหม่ด้วยข้อมูลใหม่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ได้ plan ที่ optimal สำหรับสถานการณ์ใหม่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แต่ plan อาจเปลี่ยนมาก → shop floor สับสน</a:t>
            </a:r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4571000" y="1400000"/>
            <a:ext cx="4230000" cy="2800000"/>
          </a:xfrm>
          <a:prstGeom prst="roundRect">
            <a:avLst>
              <a:gd name="adj" fmla="val 10000"/>
            </a:avLst>
          </a:prstGeom>
          <a:solidFill>
            <a:srgbClr val="1E2D3D"/>
          </a:solidFill>
          <a:ln>
            <a:solidFill>
              <a:srgbClr val="2D4A6B"/>
            </a:solidFill>
          </a:ln>
        </p:spPr>
        <p:txBody>
          <a:bodyPr wrap="square" rtlCol="0" anchor="t" lIns="137160" tIns="91440" rIns="137160" bIns="91440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%% 06_reoptimize.mzn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%% แค่เปลี่ยน 1 บรรทัด แล้ว re-run!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bool: M_B_available = false;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array[TASK,MACHINE] of bool: capable =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array2d(TASK, MACHINE, [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true,  M_B_available, true,  %% Cut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false, M_B_available, true,  %% Weld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true,  M_B_available, true,  %% Finish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]);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 minimize makespan;</a:t>
            </a:r>
            <a:endParaRPr lang="en-US"/>
          </a:p>
        </p:txBody>
      </p:sp>
      <p:sp>
        <p:nvSpPr>
          <p:cNvPr id="12" name="When"/>
          <p:cNvSpPr/>
          <p:nvPr/>
        </p:nvSpPr>
        <p:spPr>
          <a:xfrm>
            <a:off x="457200" y="4400000"/>
            <a:ext cx="82296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เหมาะกับ: เหตุการณ์ไม่คาดฝัน ที่ต้องการ plan ใหม่ทั้งหมด  |  ข้อเสีย: plan เปลี่ยนมาก สื่อสารยาก</a:t>
            </a:r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457200" y="228600"/>
            <a:ext cx="3000000" cy="32000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2 / 6</a:t>
            </a:r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600000"/>
            <a:ext cx="8458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Penalize Changing the Plan</a:t>
            </a:r>
            <a:endParaRPr lang="en-US"/>
          </a:p>
        </p:txBody>
      </p:sp>
      <p:sp>
        <p:nvSpPr>
          <p:cNvPr id="10" name="Card"/>
          <p:cNvSpPr/>
          <p:nvPr/>
        </p:nvSpPr>
        <p:spPr>
          <a:xfrm>
            <a:off x="457200" y="1380000"/>
            <a:ext cx="8229600" cy="56000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/>
        </p:spPr>
        <p:txBody>
          <a:bodyPr wrap="square" rtlCol="0" anchor="t" lIns="137160" tIns="91440" rIns="137160" bIns="91440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= makespan + alpha × disruption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= จำนวน task ที่ถูกย้ายเครื่องจาก plan เดิม</a:t>
            </a:r>
            <a:endParaRPr lang="en-US"/>
          </a:p>
        </p:txBody>
      </p:sp>
      <p:sp>
        <p:nvSpPr>
          <p:cNvPr id="11" name="Card"/>
          <p:cNvSpPr/>
          <p:nvPr/>
        </p:nvSpPr>
        <p:spPr>
          <a:xfrm>
            <a:off x="457200" y="2100000"/>
            <a:ext cx="3800000" cy="14000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/>
        </p:spPr>
        <p:txBody>
          <a:bodyPr wrap="square" rtlCol="0" anchor="t" lIns="137160" tIns="91440" rIns="137160" bIns="91440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ปรับ alpha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= 0  → ไม่สนใจ plan เดิม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= 5  → สมดุล speed vs. stability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= 50 → รักษา plan เดิมเป็นหลัก</a:t>
            </a:r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4400000" y="2100000"/>
            <a:ext cx="4401000" cy="1400000"/>
          </a:xfrm>
          <a:prstGeom prst="roundRect">
            <a:avLst>
              <a:gd name="adj" fmla="val 10000"/>
            </a:avLst>
          </a:prstGeom>
          <a:solidFill>
            <a:srgbClr val="1E2D3D"/>
          </a:solidFill>
          <a:ln>
            <a:solidFill>
              <a:srgbClr val="2D4A6B"/>
            </a:solidFill>
          </a:ln>
        </p:spPr>
        <p:txBody>
          <a:bodyPr wrap="square" rtlCol="0" anchor="t" lIns="137160" tIns="91440" rIns="137160" bIns="91440"/>
          <a:lstStyle/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int: alpha = 5;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0..N: disruption =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sum(j,t)(bool2int(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machine[j,t] != orig_machine[j,t]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));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 minimize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makespan + alpha * disruption;</a:t>
            </a:r>
            <a:endParaRPr lang="en-US"/>
          </a:p>
        </p:txBody>
      </p:sp>
      <p:sp>
        <p:nvSpPr>
          <p:cNvPr id="13" name="File"/>
          <p:cNvSpPr/>
          <p:nvPr/>
        </p:nvSpPr>
        <p:spPr>
          <a:xfrm>
            <a:off x="457200" y="3650000"/>
            <a:ext cx="822960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ลองรัน: day6/07_penalize_changes.mzn  |  ทดลองเปลี่ยน alpha = 0, 5, 50 แล้วเปรียบเทียบ</a:t>
            </a:r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457200" y="228600"/>
            <a:ext cx="3000000" cy="32000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3 / 6</a:t>
            </a:r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600000"/>
            <a:ext cx="8458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Rolling Horizon Optimization</a:t>
            </a:r>
            <a:endParaRPr lang="en-US"/>
          </a:p>
        </p:txBody>
      </p:sp>
      <p:sp>
        <p:nvSpPr>
          <p:cNvPr id="10" name="HorizonBg"/>
          <p:cNvSpPr/>
          <p:nvPr/>
        </p:nvSpPr>
        <p:spPr>
          <a:xfrm>
            <a:off x="457200" y="1300000"/>
            <a:ext cx="8229600" cy="9000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Horizon: Day 1 - 6</a:t>
            </a:r>
            <a:endParaRPr lang="en-US"/>
          </a:p>
        </p:txBody>
      </p:sp>
      <p:sp>
        <p:nvSpPr>
          <p:cNvPr id="11" name="W1"/>
          <p:cNvSpPr/>
          <p:nvPr/>
        </p:nvSpPr>
        <p:spPr>
          <a:xfrm>
            <a:off x="457200" y="1400000"/>
            <a:ext cx="2743200" cy="70000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1: D1-D3  ✓ solved, fixed</a:t>
            </a:r>
            <a:endParaRPr lang="en-US"/>
          </a:p>
        </p:txBody>
      </p:sp>
      <p:sp>
        <p:nvSpPr>
          <p:cNvPr id="12" name="W2"/>
          <p:cNvSpPr/>
          <p:nvPr/>
        </p:nvSpPr>
        <p:spPr>
          <a:xfrm>
            <a:off x="3200400" y="1400000"/>
            <a:ext cx="2743200" cy="70000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2: D4-D6  ← solving now</a:t>
            </a:r>
            <a:endParaRPr lang="en-US"/>
          </a:p>
        </p:txBody>
      </p:sp>
      <p:sp>
        <p:nvSpPr>
          <p:cNvPr id="13" name="W3"/>
          <p:cNvSpPr/>
          <p:nvPr/>
        </p:nvSpPr>
        <p:spPr>
          <a:xfrm>
            <a:off x="5943600" y="1400000"/>
            <a:ext cx="2743200" cy="700000"/>
          </a:xfrm>
          <a:prstGeom prst="rect">
            <a:avLst/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3: D7-D9  (unknown)</a:t>
            </a:r>
            <a:endParaRPr lang="en-US"/>
          </a:p>
        </p:txBody>
      </p:sp>
      <p:sp>
        <p:nvSpPr>
          <p:cNvPr id="14" name="Card"/>
          <p:cNvSpPr/>
          <p:nvPr/>
        </p:nvSpPr>
        <p:spPr>
          <a:xfrm>
            <a:off x="457200" y="2300000"/>
            <a:ext cx="4000000" cy="1300000"/>
          </a:xfrm>
          <a:prstGeom prst="roundRect">
            <a:avLst>
              <a:gd name="adj" fmla="val 10000"/>
            </a:avLst>
          </a:prstGeom>
          <a:solidFill>
            <a:srgbClr val="E8F5EE"/>
          </a:solidFill>
          <a:ln/>
        </p:spPr>
        <p:txBody>
          <a:bodyPr wrap="square" rtlCol="0" anchor="t" lIns="137160" tIns="91440" rIns="137160" bIns="91440"/>
          <a:lstStyle/>
          <a:p>
            <a:pPr marL="0" indent="0">
              <a:buNone/>
            </a:pPr>
            <a:r>
              <a:rPr lang="en-US" sz="1300" b="1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ข้อดี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ปัญหาเล็กลง → solve เร็วกว่ามาก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รับ demand จริงทุก window (ปรับได้ตาม reality)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ไม่ต้อง commit กับ plan ไกล ๆ ที่ไม่แน่นอน</a:t>
            </a:r>
            <a:endParaRPr lang="en-US"/>
          </a:p>
        </p:txBody>
      </p:sp>
      <p:sp>
        <p:nvSpPr>
          <p:cNvPr id="15" name="Card"/>
          <p:cNvSpPr/>
          <p:nvPr/>
        </p:nvSpPr>
        <p:spPr>
          <a:xfrm>
            <a:off x="4600000" y="2300000"/>
            <a:ext cx="4201000" cy="130000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/>
        </p:spPr>
        <p:txBody>
          <a:bodyPr wrap="square" rtlCol="0" anchor="t" lIns="137160" tIns="91440" rIns="137160" bIns="91440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วิธีรัน 2 windows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horizon_start = 1  → solve D1-D3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 stock ปลาย window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horizon_start = 4  → solve D4-D6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ใส่ initial_stock = [3, 0, 2]</a:t>
            </a:r>
            <a:endParaRPr lang="en-US"/>
          </a:p>
        </p:txBody>
      </p:sp>
      <p:sp>
        <p:nvSpPr>
          <p:cNvPr id="16" name="File"/>
          <p:cNvSpPr/>
          <p:nvPr/>
        </p:nvSpPr>
        <p:spPr>
          <a:xfrm>
            <a:off x="457200" y="3750000"/>
            <a:ext cx="822960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day6/08_rolling_horizon.mzn  |  เปลี่ยน horizon_start = 1 แล้ว 4 ดูผลต่างกัน</a:t>
            </a:r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457200" y="228600"/>
            <a:ext cx="3000000" cy="32000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4 / 6</a:t>
            </a:r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600000"/>
            <a:ext cx="8458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Slack Variables — Overtime Buffer</a:t>
            </a:r>
            <a:endParaRPr lang="en-US"/>
          </a:p>
        </p:txBody>
      </p:sp>
      <p:sp>
        <p:nvSpPr>
          <p:cNvPr id="10" name="Card"/>
          <p:cNvSpPr/>
          <p:nvPr/>
        </p:nvSpPr>
        <p:spPr>
          <a:xfrm>
            <a:off x="457200" y="1380000"/>
            <a:ext cx="3700000" cy="29000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/>
        </p:spPr>
        <p:txBody>
          <a:bodyPr wrap="square" rtlCol="0" anchor="t" lIns="137160" tIns="91440" rIns="137160" bIns="91440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แนวคิด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overtime เป็น "slack buffer"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+ overtime &gt;= demand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regular_cap = 40h  (ปกติ)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max_overtime = 12h (กรณีฉุกเฉิน)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minimize total_cost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regular_cost * regular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overtime_cost * overtime</a:t>
            </a:r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4300000" y="1380000"/>
            <a:ext cx="4501000" cy="2900000"/>
          </a:xfrm>
          <a:prstGeom prst="roundRect">
            <a:avLst>
              <a:gd name="adj" fmla="val 10000"/>
            </a:avLst>
          </a:prstGeom>
          <a:solidFill>
            <a:srgbClr val="1E2D3D"/>
          </a:solidFill>
          <a:ln>
            <a:solidFill>
              <a:srgbClr val="2D4A6B"/>
            </a:solidFill>
          </a:ln>
        </p:spPr>
        <p:txBody>
          <a:bodyPr wrap="square" rtlCol="0" anchor="t" lIns="137160" tIns="91440" rIns="137160" bIns="91440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%% 09_slack_variables.mzn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0..100: regular[m,p];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0..20:  overtime[m,p];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 forall(m,p)(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regular[m,p]  &lt;= normal_cap[m]  /\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overtime[m,p] &lt;= max_overtime[m] /\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regular[m,p] + overtime[m,p]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&gt;= hours_needed[m,p]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 minimize total_cost;</a:t>
            </a:r>
            <a:endParaRPr lang="en-US"/>
          </a:p>
        </p:txBody>
      </p:sp>
      <p:sp>
        <p:nvSpPr>
          <p:cNvPr id="12" name="When"/>
          <p:cNvSpPr/>
          <p:nvPr/>
        </p:nvSpPr>
        <p:spPr>
          <a:xfrm>
            <a:off x="457200" y="4440000"/>
            <a:ext cx="8229600" cy="3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เหมาะกับ: demand spike ที่รู้ล่วงหน้า  |  ตอบได้ว่า "รับ order ได้ไหม? ต้นทุน OT เท่าไหร่?"</a:t>
            </a:r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457200" y="228600"/>
            <a:ext cx="3000000" cy="32000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5 / 6</a:t>
            </a:r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600000"/>
            <a:ext cx="8458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Scenario-based Planning</a:t>
            </a:r>
            <a:endParaRPr lang="en-US"/>
          </a:p>
        </p:txBody>
      </p:sp>
      <p:sp>
        <p:nvSpPr>
          <p:cNvPr id="10" name="Card"/>
          <p:cNvSpPr/>
          <p:nvPr/>
        </p:nvSpPr>
        <p:spPr>
          <a:xfrm>
            <a:off x="457200" y="1400000"/>
            <a:ext cx="2743800" cy="600000"/>
          </a:xfrm>
          <a:prstGeom prst="roundRect">
            <a:avLst>
              <a:gd name="adj" fmla="val 10000"/>
            </a:avLst>
          </a:prstGeom>
          <a:solidFill>
            <a:srgbClr val="E8F5EE"/>
          </a:solidFill>
          <a:ln/>
        </p:spPr>
        <p:txBody>
          <a:bodyPr wrap="square" rtlCol="0" anchor="t" lIns="137160" tIns="91440" rIns="137160" bIns="91440"/>
          <a:lstStyle/>
          <a:p>
            <a:pPr marL="0" indent="0">
              <a:buNone/>
            </a:pPr>
            <a:r>
              <a:rPr lang="en-US" sz="1300" b="1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Normal (50%)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ปกติ</a:t>
            </a:r>
            <a:endParaRPr lang="en-US"/>
          </a:p>
        </p:txBody>
      </p:sp>
      <p:sp>
        <p:nvSpPr>
          <p:cNvPr id="11" name="Card"/>
          <p:cNvSpPr/>
          <p:nvPr/>
        </p:nvSpPr>
        <p:spPr>
          <a:xfrm>
            <a:off x="3352800" y="1400000"/>
            <a:ext cx="2743800" cy="600000"/>
          </a:xfrm>
          <a:prstGeom prst="roundRect">
            <a:avLst>
              <a:gd name="adj" fmla="val 10000"/>
            </a:avLst>
          </a:prstGeom>
          <a:solidFill>
            <a:srgbClr val="FEF3E2"/>
          </a:solidFill>
          <a:ln/>
        </p:spPr>
        <p:txBody>
          <a:bodyPr wrap="square" rtlCol="0" anchor="t" lIns="137160" tIns="91440" rIns="137160" bIns="91440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Surge (30%)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+40%</a:t>
            </a:r>
            <a:endParaRPr lang="en-US"/>
          </a:p>
        </p:txBody>
      </p:sp>
      <p:sp>
        <p:nvSpPr>
          <p:cNvPr id="12" name="Card"/>
          <p:cNvSpPr/>
          <p:nvPr/>
        </p:nvSpPr>
        <p:spPr>
          <a:xfrm>
            <a:off x="6248400" y="1400000"/>
            <a:ext cx="2743800" cy="60000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/>
        </p:spPr>
        <p:txBody>
          <a:bodyPr wrap="square" rtlCol="0" anchor="t" lIns="137160" tIns="91440" rIns="137160" bIns="91440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Decline (20%)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-25%</a:t>
            </a:r>
            <a:endParaRPr lang="en-US"/>
          </a:p>
        </p:txBody>
      </p:sp>
      <p:sp>
        <p:nvSpPr>
          <p:cNvPr id="13" name="Arrow"/>
          <p:cNvSpPr/>
          <p:nvPr/>
        </p:nvSpPr>
        <p:spPr>
          <a:xfrm>
            <a:off x="4114800" y="2100000"/>
            <a:ext cx="914400" cy="3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/>
          </a:p>
        </p:txBody>
      </p:sp>
      <p:sp>
        <p:nvSpPr>
          <p:cNvPr id="14" name="Card"/>
          <p:cNvSpPr/>
          <p:nvPr/>
        </p:nvSpPr>
        <p:spPr>
          <a:xfrm>
            <a:off x="457200" y="2560000"/>
            <a:ext cx="8229600" cy="60000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/>
        </p:spPr>
        <p:txBody>
          <a:bodyPr wrap="square" rtlCol="0" anchor="t" lIns="137160" tIns="91440" rIns="137160" bIns="91440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แผนเดียวที่ minimize expected cost ทุก scenario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 Σ prob[s] × cost(plan, s)   s.t. แผนต้องใช้ก่อนรู้ scenario</a:t>
            </a:r>
            <a:endParaRPr lang="en-US"/>
          </a:p>
        </p:txBody>
      </p:sp>
      <p:sp>
        <p:nvSpPr>
          <p:cNvPr id="15" name="Code"/>
          <p:cNvSpPr/>
          <p:nvPr/>
        </p:nvSpPr>
        <p:spPr>
          <a:xfrm>
            <a:off x="457200" y="3300000"/>
            <a:ext cx="8229600" cy="740000"/>
          </a:xfrm>
          <a:prstGeom prst="roundRect">
            <a:avLst>
              <a:gd name="adj" fmla="val 10000"/>
            </a:avLst>
          </a:prstGeom>
          <a:solidFill>
            <a:srgbClr val="1E2D3D"/>
          </a:solidFill>
          <a:ln>
            <a:solidFill>
              <a:srgbClr val="2D4A6B"/>
            </a:solidFill>
          </a:ln>
        </p:spPr>
        <p:txBody>
          <a:bodyPr wrap="square" rtlCol="0" anchor="t" lIns="137160" tIns="91440" rIns="137160" bIns="91440"/>
          <a:lstStyle/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int: expected_cost =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sum(s in SCENARIO)(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prob[s] * (unit_cost*produce + holding*leftover + stockout*unmet)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B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div 100;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 minimize expected_cost;</a:t>
            </a:r>
            <a:endParaRPr lang="en-US"/>
          </a:p>
        </p:txBody>
      </p:sp>
      <p:sp>
        <p:nvSpPr>
          <p:cNvPr id="16" name="File"/>
          <p:cNvSpPr/>
          <p:nvPr/>
        </p:nvSpPr>
        <p:spPr>
          <a:xfrm>
            <a:off x="457200" y="4170000"/>
            <a:ext cx="8229600" cy="3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day6/10_scenario_planning.mzn  |  ลอง: ลด stockout_cost / เพิ่ม prob[Surge] แล้วดูว่า plan เปลี่ยนยังไง</a:t>
            </a:r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457200" y="228600"/>
            <a:ext cx="3000000" cy="32000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6 / 6</a:t>
            </a:r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600000"/>
            <a:ext cx="8458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Warm Starting — ให้ Hint แก่ Solver</a:t>
            </a:r>
            <a:endParaRPr lang="en-US"/>
          </a:p>
        </p:txBody>
      </p:sp>
      <p:sp>
        <p:nvSpPr>
          <p:cNvPr id="10" name="Card"/>
          <p:cNvSpPr/>
          <p:nvPr/>
        </p:nvSpPr>
        <p:spPr>
          <a:xfrm>
            <a:off x="457200" y="1400000"/>
            <a:ext cx="3800000" cy="20000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/>
        </p:spPr>
        <p:txBody>
          <a:bodyPr wrap="square" rtlCol="0" anchor="t" lIns="137160" tIns="91440" rIns="137160" bIns="91440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แนวคิด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ให้ solution เดิมเป็น "initial hint" แก่ solver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Solver เริ่มจากจุดที่ดี ไม่ต้อง explore จาก scratch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มีประโยชน์มากเมื่อ: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ปัญหาใหญ่ / solve นาน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Solve ซ้ำบ่อย (real-time re-planning)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Plan เปลี่ยนนิดเดียว (เช่น เพิ่ม 1 job)</a:t>
            </a:r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4400000" y="1400000"/>
            <a:ext cx="4401000" cy="2000000"/>
          </a:xfrm>
          <a:prstGeom prst="roundRect">
            <a:avLst>
              <a:gd name="adj" fmla="val 10000"/>
            </a:avLst>
          </a:prstGeom>
          <a:solidFill>
            <a:srgbClr val="1E2D3D"/>
          </a:solidFill>
          <a:ln>
            <a:solidFill>
              <a:srgbClr val="2D4A6B"/>
            </a:solidFill>
          </a:ln>
        </p:spPr>
        <p:txBody>
          <a:bodyPr wrap="square" rtlCol="0" anchor="t" lIns="137160" tIns="91440" rIns="137160" bIns="91440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%% Warm start: fix known part of solution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%% ด้วย constraint ชั่วคราว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 machine[OrderA, Cut] = M_A;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 machine[OrderA, Weld]= M_C;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 start[OrderA, Cut]   = 0;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%% หรือใช้ search annotation: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:: int_search([machine[j,t]|j,t],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first_fail, indomain_median)</a:t>
            </a:r>
            <a:endParaRPr lang="en-US"/>
          </a:p>
          <a:p>
            <a:pPr marL="0" indent="0">
              <a:buNone/>
            </a:pPr>
            <a:r>
              <a:rPr lang="en-US" sz="10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minimize makespan;</a:t>
            </a:r>
            <a:endParaRPr lang="en-US"/>
          </a:p>
        </p:txBody>
      </p:sp>
      <p:sp>
        <p:nvSpPr>
          <p:cNvPr id="12" name="Card"/>
          <p:cNvSpPr/>
          <p:nvPr/>
        </p:nvSpPr>
        <p:spPr>
          <a:xfrm>
            <a:off x="457200" y="3560000"/>
            <a:ext cx="8229600" cy="500000"/>
          </a:xfrm>
          <a:prstGeom prst="roundRect">
            <a:avLst>
              <a:gd name="adj" fmla="val 10000"/>
            </a:avLst>
          </a:prstGeom>
          <a:solidFill>
            <a:srgbClr val="E8F5EE"/>
          </a:solidFill>
          <a:ln/>
        </p:spPr>
        <p:txBody>
          <a:bodyPr wrap="square" rtlCol="0" anchor="t" lIns="137160" tIns="91440" rIns="137160" bIns="91440"/>
          <a:lstStyle/>
          <a:p>
            <a:pPr marL="0" indent="0">
              <a:buNone/>
            </a:pPr>
            <a:r>
              <a:rPr lang="en-US" sz="1300" b="1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Gecode (default solver): ใช้ constraint fix บางส่วนเป็น hint</a:t>
            </a:r>
            <a:endParaRPr lang="en-US"/>
          </a:p>
          <a:p>
            <a:pPr marL="0" indent="0">
              <a:buNone/>
            </a:pPr>
            <a:r>
              <a:rPr lang="en-US" sz="11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 / Gurobi / CPLEX มี API-level warm start ที่ทรงพลังกว่า</a:t>
            </a:r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ummary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457200" y="228600"/>
            <a:ext cx="3000000" cy="32000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Re-optimization</a:t>
            </a:r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600000"/>
            <a:ext cx="8458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สรุป: เลือก Technique ไหน?</a:t>
            </a:r>
            <a:endParaRPr lang="en-US"/>
          </a:p>
        </p:txBody>
      </p:sp>
      <p:sp>
        <p:nvSpPr>
          <p:cNvPr id="10" name="TH"/>
          <p:cNvSpPr/>
          <p:nvPr/>
        </p:nvSpPr>
        <p:spPr>
          <a:xfrm>
            <a:off x="457200" y="1350000"/>
            <a:ext cx="8229600" cy="340000"/>
          </a:xfrm>
          <a:prstGeom prst="rect">
            <a:avLst/>
          </a:prstGeom>
          <a:solidFill>
            <a:srgbClr val="1A3C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สถานการณ์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Technique        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ไฟล์ตัวอย่าง</a:t>
            </a:r>
            <a:endParaRPr lang="en-US"/>
          </a:p>
        </p:txBody>
      </p:sp>
      <p:sp>
        <p:nvSpPr>
          <p:cNvPr id="11" name="Row0"/>
          <p:cNvSpPr/>
          <p:nvPr/>
        </p:nvSpPr>
        <p:spPr>
          <a:xfrm>
            <a:off x="457200" y="1700000"/>
            <a:ext cx="8229600" cy="480000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เครื่องเสีย / demand spike ฉุกเฉิน</a:t>
            </a: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1. Re-optimize</a:t>
            </a: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06_reoptimize.mzn</a:t>
            </a:r>
            <a:endParaRPr lang="en-US"/>
          </a:p>
        </p:txBody>
      </p:sp>
      <p:sp>
        <p:nvSpPr>
          <p:cNvPr id="12" name="Row1"/>
          <p:cNvSpPr/>
          <p:nvPr/>
        </p:nvSpPr>
        <p:spPr>
          <a:xfrm>
            <a:off x="457200" y="2180000"/>
            <a:ext cx="8229600" cy="480000"/>
          </a:xfrm>
          <a:prstGeom prst="rect">
            <a:avLst/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ต้องการ plan เปลี่ยนน้อยที่สุด</a:t>
            </a: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2. Penalize Changes</a:t>
            </a: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07_penalize_changes.mzn</a:t>
            </a:r>
            <a:endParaRPr lang="en-US"/>
          </a:p>
        </p:txBody>
      </p:sp>
      <p:sp>
        <p:nvSpPr>
          <p:cNvPr id="13" name="Row2"/>
          <p:cNvSpPr/>
          <p:nvPr/>
        </p:nvSpPr>
        <p:spPr>
          <a:xfrm>
            <a:off x="457200" y="2660000"/>
            <a:ext cx="8229600" cy="480000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Horizon ยาว / demand ไม่แน่นอนไกล</a:t>
            </a: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3. Rolling Horizon</a:t>
            </a: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08_rolling_horizon.mzn</a:t>
            </a:r>
            <a:endParaRPr lang="en-US"/>
          </a:p>
        </p:txBody>
      </p:sp>
      <p:sp>
        <p:nvSpPr>
          <p:cNvPr id="14" name="Row3"/>
          <p:cNvSpPr/>
          <p:nvPr/>
        </p:nvSpPr>
        <p:spPr>
          <a:xfrm>
            <a:off x="457200" y="3140000"/>
            <a:ext cx="8229600" cy="480000"/>
          </a:xfrm>
          <a:prstGeom prst="rect">
            <a:avLst/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รับ order พิเศษ / overtime ได้</a:t>
            </a: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4. Slack Variables</a:t>
            </a: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09_slack_variables.mzn</a:t>
            </a:r>
            <a:endParaRPr lang="en-US"/>
          </a:p>
        </p:txBody>
      </p:sp>
      <p:sp>
        <p:nvSpPr>
          <p:cNvPr id="15" name="Row4"/>
          <p:cNvSpPr/>
          <p:nvPr/>
        </p:nvSpPr>
        <p:spPr>
          <a:xfrm>
            <a:off x="457200" y="3620000"/>
            <a:ext cx="8229600" cy="480000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ตัดสินใจล่วงหน้าภายใต้ uncertainty</a:t>
            </a: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5. Scenario Planning</a:t>
            </a: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10_scenario_planning.mzn</a:t>
            </a:r>
            <a:endParaRPr lang="en-US"/>
          </a:p>
        </p:txBody>
      </p:sp>
      <p:sp>
        <p:nvSpPr>
          <p:cNvPr id="16" name="Row5"/>
          <p:cNvSpPr/>
          <p:nvPr/>
        </p:nvSpPr>
        <p:spPr>
          <a:xfrm>
            <a:off x="457200" y="4100000"/>
            <a:ext cx="8229600" cy="480000"/>
          </a:xfrm>
          <a:prstGeom prst="rect">
            <a:avLst/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ปัญหาใหญ่ / solve ซ้ำบ่อย</a:t>
            </a: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6. Warm Starting</a:t>
            </a: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(เพิ่ม constraint hint)</a:t>
            </a:r>
            <a:endParaRPr lang="en-US"/>
          </a:p>
        </p:txBody>
      </p:sp>
      <p:sp>
        <p:nvSpPr>
          <p:cNvPr id="17" name="Tip"/>
          <p:cNvSpPr/>
          <p:nvPr/>
        </p:nvSpPr>
        <p:spPr>
          <a:xfrm>
            <a:off x="457200" y="4650000"/>
            <a:ext cx="8229600" cy="3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ในทางปฏิบัติ: ผสมหลาย technique เช่น Rolling Horizon + Penalize Changes + Slack Variables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3028</Words>
  <Application>Microsoft Macintosh PowerPoint</Application>
  <PresentationFormat>On-screen Show (16:9)</PresentationFormat>
  <Paragraphs>460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MiniZinc Day 6 - Effective Modelling &amp; Capstone</dc:title>
  <dc:subject>PptxGenJS Presentation</dc:subject>
  <dc:creator>PptxGenJS</dc:creator>
  <cp:lastModifiedBy>Vacharapat METTANANT</cp:lastModifiedBy>
  <cp:revision>4</cp:revision>
  <dcterms:created xsi:type="dcterms:W3CDTF">2026-06-05T02:48:23Z</dcterms:created>
  <dcterms:modified xsi:type="dcterms:W3CDTF">2026-06-05T02:55:23Z</dcterms:modified>
</cp:coreProperties>
</file>