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98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8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2806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พื้นฐาน MiniZinc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Optimization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สำหรับพนักงานอุตสาหกรรม — ไม่ต้องมีพื้นฐานการเขียนโปรแกรม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ระยะเวลา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ชั่วโมง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43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ช่วงเช้า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09:00–12:00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0" y="3657600"/>
            <a:ext cx="201168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🌆 ช่วงบ่าย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40050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13:00–16:00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– 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078992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Optimization คืออะไร?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107899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แนวคิด, ตัวอย่างในอุตสาหกรรม, ทำไมต้อง MiniZinc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641348"/>
            <a:ext cx="8412480" cy="512064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641348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64134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 – 10:15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1641348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ติดตั้งและเริ่มต้น IDE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577840" y="164134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ดาวน์โหลด, ทำความรู้จัก IDE, รัน Hello World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03704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203704"/>
            <a:ext cx="64008" cy="512064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203704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10:15 – 11:00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2203704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โมเดลแรก: Map Coloring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577840" y="2203704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Constraints, solve satisfy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766060"/>
            <a:ext cx="8412480" cy="512064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766060"/>
            <a:ext cx="64008" cy="51206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76606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– 12:00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2766060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1A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577840" y="27660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ฝึกแก้โจทย์ Map Coloring ด้วยตนเอง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328416"/>
            <a:ext cx="8412480" cy="51206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328416"/>
            <a:ext cx="64008" cy="512064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328416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 – 14:00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11680" y="3328416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Arithmetic Optimization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577840" y="3328416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maximize/minimize, arithmetic constraints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890772"/>
            <a:ext cx="8412480" cy="512064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3890772"/>
            <a:ext cx="64008" cy="512064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389077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 – 15:00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011680" y="3890772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Data Files &amp; Parameters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577840" y="389077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.mzn และ .dzn, assert()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453128"/>
            <a:ext cx="8412480" cy="512064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Shape 34"/>
          <p:cNvSpPr/>
          <p:nvPr/>
        </p:nvSpPr>
        <p:spPr>
          <a:xfrm>
            <a:off x="365760" y="4453128"/>
            <a:ext cx="64008" cy="51206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502920" y="445312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 – 16:00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011680" y="4453128"/>
            <a:ext cx="34747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1B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577840" y="445312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โรงงานผลิตสินค้า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คืออะไร?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1440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"การหาคำตอบที่ดีที่สุด ภายใต้เงื่อนไขที่กำหนด"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3035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จัดตารางกะ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หาตารางกะพนักงานที่ครบทุก shift และยุติธรรมที่สุด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20040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36499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🚚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36499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จัดเส้นทางรถ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6499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หาเส้นทางส่งสินค้าที่สั้นที่สุดหรือถูกที่สุด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212848"/>
            <a:ext cx="2606040" cy="228600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6035040" y="2212848"/>
            <a:ext cx="64008" cy="22860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199632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99632" y="29077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จัดสินค้าลงกล่อง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99632" y="32918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ใช้กล่องน้อยที่สุดในการบรรจุสินค้าทั้งหมด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Optimization คืออะไร?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วิธีดั้งเดิม vs. Optimization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977640" cy="34747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3977640" cy="4572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วิธีดั้งเดิม (ลองทุกคำตอบ)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พนักงาน 10 คน, 3 กะ → ลองทุกการจัดเรียง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= 3¹⁰ = 59,049 คำตอบ!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8803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ใช้เวลานาน, อาจพลาดคำตอบที่ดีที่สุด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47472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เมื่อขนาดปัญหาใหญ่ขึ้น → เป็นไปไม่ได้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00600" y="1097280"/>
            <a:ext cx="3977640" cy="3474720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4800600" y="1097280"/>
            <a:ext cx="3977640" cy="4572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480060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Constraint Programming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6916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บอก solver ว่า 'อยากได้อะไร'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ไม่ต้องบอก 'วิธีหา'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8803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Solver ใช้ algorithm ฉลาด ตัดสาขาที่เป็นไปไม่ได้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47472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หาคำตอบที่ดีที่สุด (proved optimal)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Optimization คืออะไร?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 คืออะไร?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ภาษาสำหรับ อธิบายปัญหา — ไม่ใช่ภาษาโปรแกรมทั่วไป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4069080" cy="12344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Modelling Language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บอกว่า 'ปัญหาคืออะไร' ไม่ใช่ 'แก้อย่างไร'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920240"/>
            <a:ext cx="40690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663440" y="192024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846320" y="20116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ต่อกับ Solver ได้หลายตัว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423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Gecode, OR-Tools, Chuffed, Gurobi, CPLEX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337560"/>
            <a:ext cx="4069080" cy="12344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48640" y="3429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ใช้ในวิจัยและอุตสาหกรรม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มหาวิทยาลัย, โรงงาน, โลจิสติกส์, การแพทย์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337560"/>
            <a:ext cx="4069080" cy="1234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64008" cy="12344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846320" y="34290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  ฟรีและ Open Source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463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minizinc.org — ดาวน์โหลดได้เลย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MiniZinc คืออะไร?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ติดตั้ง MiniZinc 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51560" y="1097280"/>
            <a:ext cx="772668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1143000" y="10972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ดาวน์โหลด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10972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ไปที่ minizinc.org → Download → เลือก Windows / macOS / Linux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" y="16916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0116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51560" y="2011680"/>
            <a:ext cx="772668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1143000" y="20116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ติดตั้ง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0116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รันไฟล์ installer → กด Next จนเสร็จ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" y="26060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365760" y="2926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51560" y="2926080"/>
            <a:ext cx="7726680" cy="5943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1143000" y="29260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MiniZinc 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29260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เปิดโปรแกรม → จะเห็น editor, output panel, solver menu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3520440"/>
            <a:ext cx="182880" cy="32004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3840480"/>
            <a:ext cx="594360" cy="59436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365760" y="3840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1051560" y="3840480"/>
            <a:ext cx="772668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1143000" y="3840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4720" y="38404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สร้างไฟล์ใหม่ → พิมพ์ solve satisfy; → กด Run 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https://www.minizinc.org  — ดาวน์โหลด MiniZinc IDE ได้ฟรี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MiniZinc IDE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โครงสร้างพื้นฐานของโมเดล MiniZinc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20240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31720" y="10972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2377440" y="10972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ค่าคงที่ที่เรารู้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(กำหนดใน model หรือ .dzn)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0972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5029200" y="10972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193792" y="10972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int: n = 5;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" y="18470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011680"/>
            <a:ext cx="1920240" cy="74980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65760" y="20116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Variables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31720" y="20116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2377440" y="20116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ค่าที่ Solver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ต้องหาให้เรา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20116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193792" y="20116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0..n: x;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0392" y="27614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192024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29260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31720" y="29260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2377440" y="29260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กฎที่ต้องเป็นจริง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29260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5029200" y="29260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193792" y="29260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x &gt; 0;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50392" y="3675888"/>
            <a:ext cx="128016" cy="164592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3840480"/>
            <a:ext cx="1920240" cy="74980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384048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31720" y="3840480"/>
            <a:ext cx="2560320" cy="74980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2377440" y="3840480"/>
            <a:ext cx="24688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เป้าหมาย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(satisfy/min/max)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0" y="3840480"/>
            <a:ext cx="3749040" cy="74980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4" name="Shape 32"/>
          <p:cNvSpPr/>
          <p:nvPr/>
        </p:nvSpPr>
        <p:spPr>
          <a:xfrm>
            <a:off x="5029200" y="3840480"/>
            <a:ext cx="54864" cy="7498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5193792" y="3840480"/>
            <a:ext cx="3566160" cy="74980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โครงสร้างโมเดล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Coloring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ตัวอย่างแรก: ระบายสีแผนที่ออสเตรเลีย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058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ระบายสีแผนที่ 7 รัฐของออสเตรเลีย โดยรัฐที่มีพรมแดนติดกันต้องมีสีต่างกัน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2240280"/>
            <a:ext cx="4297680" cy="256032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แผนที่ออสเตรเลีย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4255" y="2812650"/>
            <a:ext cx="1188720" cy="109728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744255" y="2812650"/>
            <a:ext cx="1188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20240" y="2628610"/>
            <a:ext cx="914400" cy="658368"/>
          </a:xfrm>
          <a:prstGeom prst="rect">
            <a:avLst/>
          </a:prstGeom>
          <a:solidFill>
            <a:srgbClr val="F4D35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1920240" y="2524436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920240" y="3297549"/>
            <a:ext cx="914400" cy="1142844"/>
          </a:xfrm>
          <a:prstGeom prst="rect">
            <a:avLst/>
          </a:prstGeom>
          <a:solidFill>
            <a:srgbClr val="EE6C4D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1828800" y="3432122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21905" y="2651760"/>
            <a:ext cx="1188720" cy="86868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2821905" y="2651760"/>
            <a:ext cx="1188720" cy="10095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44475" y="3529115"/>
            <a:ext cx="1005840" cy="672152"/>
          </a:xfrm>
          <a:prstGeom prst="rect">
            <a:avLst/>
          </a:prstGeom>
          <a:solidFill>
            <a:srgbClr val="F4D35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2821325" y="3529115"/>
            <a:ext cx="1005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35800" y="4202760"/>
            <a:ext cx="822960" cy="457200"/>
          </a:xfrm>
          <a:prstGeom prst="rect">
            <a:avLst/>
          </a:prstGeom>
          <a:solidFill>
            <a:srgbClr val="AED9E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2835800" y="4214335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49735" y="4721729"/>
            <a:ext cx="640080" cy="320040"/>
          </a:xfrm>
          <a:prstGeom prst="rect">
            <a:avLst/>
          </a:prstGeom>
          <a:solidFill>
            <a:srgbClr val="EE6C4D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781155" y="4717198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2240280"/>
            <a:ext cx="3977640" cy="25603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4937760" y="2331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รัฐที่ติดกัน (ต้องสีต่างกัน):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788920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 ↔ NT, SA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3118104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NT ↔ SA, QLD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447288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SA ↔ QLD, NSW, VIC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776472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QLD ↔ NSW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4105656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NSW ↔ VIC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434840"/>
            <a:ext cx="3657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TAS — (ไม่ติดกับใคร)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Map Coloring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Coloring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 MiniZinc: aust.mzn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120640" cy="38404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64008" cy="38404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4846320" cy="38404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Parameter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nc =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Decision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wa; 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sa; 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q;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nsw; 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v;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Constraints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 !=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 !=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 != sa;  nt != q;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 != q;   sa != nsw;  sa != v;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satisfy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23444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234440"/>
            <a:ext cx="54864" cy="5943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2344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กำหนดจำนวนสีที่ใช้ได้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192024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1920240"/>
            <a:ext cx="54864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19202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แต่ละรัฐคือ 1 ตัวแปร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ค่าคือหมายเลขสี (1-3)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324612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3246120"/>
            <a:ext cx="54864" cy="5943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32461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รัฐที่ติดกัน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ต้องสีต่างกัน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4224528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4224528"/>
            <a:ext cx="54864" cy="5943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4224528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หาคำตอบที่ตรงเงื่อนไข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Map Coloring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vs. Decision Variables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3657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69080" cy="5029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Parameters (ค่าคงที่)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เราเป็นคนกำหนดค่า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0756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ไม่เปลี่ยนระหว่าง solve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4597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Solver ไม่แตะต้อง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437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2278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ตัวอย่าง: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3840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21792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nc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capacity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078992"/>
            <a:ext cx="4069080" cy="36576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709160" y="1078992"/>
            <a:ext cx="4069080" cy="502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709160" y="1078992"/>
            <a:ext cx="4069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Decision Variables (ตัวแปร)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169164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Solver เป็นคนหาค่า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07568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ต้องกำหนดชนิด (int/bool/float)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245973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ต้องกำหนด domain (ขอบเขต)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28437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2278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ตัวอย่าง: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03320"/>
            <a:ext cx="3840480" cy="868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4800600" y="3703320"/>
            <a:ext cx="54864" cy="868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965192" y="3703320"/>
            <a:ext cx="365760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1..nc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wa;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amount;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Parameters vs. Variables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— กฎที่ต้องเป็นจริง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 &lt;Boolean expression&gt;;    →   ต้องเป็น true เสมอ!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Operators: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475488" y="21762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หรือ  ==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17627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เท่ากับ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2176272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727448" y="21762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217627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ไม่เท่ากับ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43200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" y="274320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 และ  &gt;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274320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น้อยกว่า/มากกว่า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2743200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727448" y="274320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 และ  &gt;=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274320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น้อยกว่าเท่ากับ/มากกว่าเท่ากับ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336499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Operators: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3749040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75488" y="374904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/\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37490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— ต้องเป็นจริงทั้งคู่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17720" y="3749040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4727448" y="374904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\/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715000" y="37490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— เป็นจริงอย่างน้อยหนึ่งอย่าง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315968"/>
            <a:ext cx="4023360" cy="4754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475488" y="431596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463040" y="43159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— ต้องเป็นเท็จ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17720" y="4315968"/>
            <a:ext cx="4023360" cy="47548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4727448" y="431596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15000" y="43159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IMPLIES — ถ้า A จริง ต้อง B จริง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Constraints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แนวคิดหลัก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satisfy — และผลลัพธ์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64008" cy="84124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76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09728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หาคำตอบที่ตรงทุก constraint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(ไม่สนว่าดีแค่ไหน)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64008" cy="8412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205740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maximize obj;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205740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หาคำตอบที่ทำให้ obj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มีค่ามากที่สุด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8412480" cy="84124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64008" cy="84124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3017520"/>
            <a:ext cx="4114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obj;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840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หาคำตอบที่ทำให้ obj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มีค่าน้อยที่สุด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069080"/>
            <a:ext cx="8412480" cy="841248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069080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wa=3  nt=2  sa=1  ...  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----------   </a:t>
            </a:r>
            <a:r>
              <a:rPr lang="en-US" sz="13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==========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4645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คำตอบ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23160" y="464515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 = พบคำตอบ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0" y="464515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=== = optimal (min/max)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solve + ผลลัพธ์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1A — Map Coloring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workshop1a_starter.mzn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8992" y="154533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รันโมเดลที่มีอยู่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8992" y="1874520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เปิด workshop1a_starter.mzn → กด Run ▶ → ดูผลลัพธ์ แต่ละรัฐได้สีอะไร?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359152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359152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359152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78992" y="23957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ลด nc =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724912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 nc = 3 → nc = 2 แล้วรันใหม่ → เกิดอะไรขึ้น? ทำไม? (UNSATISFIABLE คืออะไร?)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209544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209544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3209544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78992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เพิ่มรัฐใหม่ 'act'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575304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Uncomment บรรทัด act → เพิ่ม constraint act != nsw; และ act != v; → รันและตรวจสอบ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059936"/>
            <a:ext cx="841248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4059936"/>
            <a:ext cx="594360" cy="749808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4059936"/>
            <a:ext cx="594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78992" y="409651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Minimize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78992" y="4425696"/>
            <a:ext cx="7543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 solve satisfy เป็น solve minimize wa+nt+sa+q+nsw+v+t → ผลเปลี่ยนไปไหม?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Workshop 1A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Optimization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Data Files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maximize / minimize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0080" y="38130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40080" y="419709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 (.dzn)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assert()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ตัวอย่าง: Maximize กำไรการอบเค้ก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อบเค้กกล้วย (กำไร 40 บาท) และเค้กช็อก (กำไร 45 บาท) ให้ได้กำไรสูงสุด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ภายใต้ข้อจำกัดวัตถุดิบ: แป้ง, กล้วย, น้ำตาล, เนย, โกโก้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วัตถุดิบที่ต้องการ: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67712"/>
          <a:ext cx="841248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วัตถุดิบ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เค้กกล้วย (b)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เค้กช็อกโกแลต (c)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ที่มีทั้งหมด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แป้ง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กล้วย (ลูก)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น้ำตาล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เนย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โกโก้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กำไร (บาท)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Optimization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โค้ด MiniZinc: cakes.mzn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5212080" cy="3611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64008" cy="36118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15568"/>
            <a:ext cx="4937760" cy="361188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Decision Variables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เค้กกล้วย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เค้กช็อก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Constraints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250*b + 200*c &lt;= 4000;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2*b &lt;= 6;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75*b + 150*c &lt;= 2000;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100*b + 150*c &lt;= 500;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75*c &lt;= 500;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Objective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400*b + 450*c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["b=", show(b), ", c=", show(c)];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508760"/>
            <a:ext cx="54864" cy="5943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5087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ตัวแปรเป็น integer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bound ให้ solver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15000" y="2423160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423160"/>
            <a:ext cx="54864" cy="5943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4231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แต่ละ constraint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คือ resource ที่จำกัด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3559137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559137"/>
            <a:ext cx="54864" cy="5943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559137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objective function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ที่ต้อง maximize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15000" y="4081991"/>
            <a:ext cx="3063240" cy="59436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4081991"/>
            <a:ext cx="54864" cy="5943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4081991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\(expr) = string interpolation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Optimization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 ใน MiniZinc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14300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บวก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+ 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663440" y="114300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60720" y="123444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ลบ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0" y="16459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- 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31720"/>
            <a:ext cx="1005840" cy="10515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233172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24231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คูณ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* 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33172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4663440" y="2331720"/>
            <a:ext cx="1005840" cy="10515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663440" y="233172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242316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หารจำนวนเต็ม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div 3  → 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20440"/>
            <a:ext cx="1005840" cy="105156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365760" y="352044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3040" y="36118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เศษการหาร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63040" y="40233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mod 3  →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663440" y="3520440"/>
            <a:ext cx="4069080" cy="10515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4663440" y="3520440"/>
            <a:ext cx="1005840" cy="10515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4663440" y="352044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abs(x)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760720" y="3611880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ค่าสัมบูรณ์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760720" y="40233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abs(-5)  →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ใน MiniZinc ตัวเลข a/b จะเป็น floating point เสมอ ถ้าต้องการหารจำนวนเต็มให้ใช้ a div b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Arithmetic Operators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Model (.mzn) และ Data (.dzn)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ทำไมต้องแยก? → โมเดลเดิม + ข้อมูลต่างกัน = ผลลัพธ์ต่างกัน — ไม่ต้องแก้โค้ดทุกครั้ง!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cakes_param.mzn  (Model)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76272"/>
            <a:ext cx="4160520" cy="21031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76272"/>
            <a:ext cx="54864" cy="21031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30352" y="2176272"/>
            <a:ext cx="3977640" cy="2103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รับค่าจาก data file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flour;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banana;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0..100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b;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250*b &lt;= flour;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017520"/>
            <a:ext cx="320040" cy="182880"/>
          </a:xfrm>
          <a:prstGeom prst="rect">
            <a:avLst/>
          </a:prstGeom>
          <a:solidFill>
            <a:srgbClr val="CBD5E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4553712" y="28803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17830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pantry.dzn  (Data)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2176272"/>
            <a:ext cx="4114800" cy="21031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663440" y="2176272"/>
            <a:ext cx="54864" cy="21031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828032" y="2176272"/>
            <a:ext cx="3931920" cy="21031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ค่าจริงที่ใช้วันนี้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flour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banana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sugar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butter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cocoa  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407408"/>
            <a:ext cx="8412480" cy="530352"/>
          </a:xfrm>
          <a:prstGeom prst="rect">
            <a:avLst/>
          </a:prstGeom>
          <a:solidFill>
            <a:srgbClr val="1E2D3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440740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 </a:t>
            </a:r>
            <a:r>
              <a:rPr lang="en-US" sz="13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 </a:t>
            </a:r>
            <a:r>
              <a:rPr lang="en-US" sz="13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03_cakes_param.mzn  03_pantry.dzn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Data Files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assert() — ตรวจสอบข้อมูลก่อน Solve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assert(condition, error_message)  →  ถ้า condition เป็น false จะ ERROR พร้อมแสดง message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20116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874520"/>
            <a:ext cx="54864" cy="20116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30352" y="1874520"/>
            <a:ext cx="8229600" cy="2011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ตรวจสอบว่าข้อมูลสมเหตุสมผลก่อน solve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(flour &gt;=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"แป้งต้องไม่ติดลบ");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(banana &gt;=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"กล้วยต้องไม่ติดลบ");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(capacity &gt; </a:t>
            </a: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"ความจุต้องมากกว่า 0");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9959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assert?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4315968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ป้องกัน garbage-in garbage-out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448056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ช่วย debug ข้อมูลผิดพลาดได้เร็ว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4645152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เป็น best practice สำหรับโมเดลที่ใช้กับ data file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480974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Error message ที่ชัดเจนดีกว่า solver ที่ crash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assert()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แสดงผลลัพธ์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9202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92024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078992"/>
            <a:ext cx="8229600" cy="1920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"เค้กกล้วย: ",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show(b)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"\n",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"กำไรรวม:   ", </a:t>
            </a:r>
            <a:r>
              <a:rPr lang="en-US" sz="110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show(400*b + 450*c)</a:t>
            </a: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"\n",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"เค้กกล้วย: \(b) ชิ้น\n"</a:t>
            </a:r>
            <a:r>
              <a:rPr lang="en-US" sz="110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% string interpolation</a:t>
            </a: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9067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ฟังก์ชัน Output ที่มีประโยชน์: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419856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3419856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show(x)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49040" y="3419856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แสดงค่าของ x เป็น string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685032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685032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show_int(n, x)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3685032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 integer ในความกว้าง n ตัวอักษร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950208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02920" y="3950208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show_float(n, d, x)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950208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 float ความกว้าง n ทศนิยม d ตำแหน่ง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4215384"/>
            <a:ext cx="841248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4215384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\(expr)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749040" y="4215384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interpolation — ใส่ใน double quotes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480560"/>
            <a:ext cx="8412480" cy="24688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4480560"/>
            <a:ext cx="3200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\n  \t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49040" y="4480560"/>
            <a:ext cx="4846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 และ Tab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Output Statement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1B — Production Planning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workshop1b_starter.mzn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64008" cy="11887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47088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ผลิตภัณฑ์ A: แรงงาน 3 ชม. + วัตถุดิบ 5 กก., กำไร 800 บาท/หน่วย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ผลิตภัณฑ์ B: แรงงาน 5 ชม. + วัตถุดิบ 2 กก., กำไร 1,200 บาท/หน่วย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ข้อจำกัด: แรงงาน 120 ชม./วัน, วัตถุดิบ 150 กก./วัน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788920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788920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65760" y="2788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7889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Decision Variables: 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2788920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???: a; และ var ???: b; — bound ควรเป็นเท่าไร?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182112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3182112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318211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18211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Constraints: 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3182112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สำหรับแรงงาน (3*a + 5*b &lt;= 120) และวัตถุดิบ (5*a + 2*b &lt;= 150)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575304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365760" y="3575304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" y="357530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Objective: 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74720" y="3575304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maximize 800*a + 1200*b; แล้วรันและตรวจสอบคำตอบ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3968496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968496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968496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396849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minimum requirement: 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3968496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a &gt;= 5; และ b &gt;= 3; — คำตอบเปลี่ยนไปไหม?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65760" y="4361688"/>
            <a:ext cx="841248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365760" y="4361688"/>
            <a:ext cx="384048" cy="3474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365760" y="4361688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" y="43616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 Data File: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436168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ย้ายค่าทั้งหมดไป workshop1b_data.dzn แล้วรัน: minizinc ... model.mzn data.dzn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Workshop 1B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1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Parameters vs. Decision Variables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เราระบุ | Variables Solver หาให้ | ใช้ var ก่อนประกาศ variable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Constraint คือกฎ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ต้องเป็นจริงทุกข้อพร้อมกัน | ถ้าขัดกัน → UNSATISFIABLE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solve satisfy / maximize / minimize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 solver ว่าต้องการอะไร | maximize/minimize ต้องมี objective expression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Data Files (.dzn)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แยก model กับ data ทำให้ reuse ได้ | ใช้ assert() ตรวจสอบข้อมูล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Arrays, forall, sum — build more flexible models!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 MiniZinc — สรุป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แหล่งเรียนรู้เพิ่มเติม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docs.minizinc.dev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อย่างเป็นทางการ — อ้างอิงในหลักสูตรนี้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MiniZinc Playground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ทดลองเขียน MiniZinc ออนไลน์ไม่ต้องติดตั้ง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640080" y="315468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Global Constraints Catalog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รายการ global constraints ทั้งหมดพร้อมตัวอย่าง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321040" cy="804672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MiniZinc Forum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4805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ถามคำถาม, แชร์โมเดล, เรียนรู้จากชุมชน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0060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ไฟล์ประกอบวันที่ 1: day1/ folder — มีตัวอย่างทั้งหมดและ Workshop starter + solution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2414</Words>
  <Application>Microsoft Macintosh PowerPoint</Application>
  <PresentationFormat>On-screen Show (16:9)</PresentationFormat>
  <Paragraphs>442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1 - Basics</dc:title>
  <dc:subject>PptxGenJS Presentation</dc:subject>
  <dc:creator>PptxGenJS</dc:creator>
  <cp:lastModifiedBy>Vacharapat METTANANT</cp:lastModifiedBy>
  <cp:revision>5</cp:revision>
  <dcterms:created xsi:type="dcterms:W3CDTF">2026-06-04T06:27:12Z</dcterms:created>
  <dcterms:modified xsi:type="dcterms:W3CDTF">2026-06-05T03:32:15Z</dcterms:modified>
</cp:coreProperties>
</file>