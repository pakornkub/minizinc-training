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3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8454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E185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6858000" y="0"/>
            <a:ext cx="36576" cy="51435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เชิงลึก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Employee Rostering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114800" cy="365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· Flexible Job Shop · Rostering · regular constraint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นิยาม constraint ใหม่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0604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60604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Flexible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เลือกเครื่องได้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75488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กะ + กฎ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90372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90372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DFA pattern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กำหนดการวันที่ 4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07899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09:00–09:45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38528" y="107899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predicate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0" y="107899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นิยาม constraint ใหม่ — no_overlap, disjunctive เทียบกัน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700784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700784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02920" y="170078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09:45–11:00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38528" y="1700784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Flexible Job Shop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0" y="170078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เลือกเครื่องจักรได้ — machine variable, duration เปลี่ยนตาม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322576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322576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2322576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11:00–12:00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938528" y="2322576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4A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0" y="232257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Manufacturing — 4 orders, 3 tasks, 3 machines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944368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944368"/>
            <a:ext cx="64008" cy="548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294436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13:00–14:30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38528" y="294436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Employee Rostering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0" y="29443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กะ, demand, rest rule, fairness — ปัญหาจริงในโรงงาน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566160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566160"/>
            <a:ext cx="64008" cy="548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02920" y="3566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14:30–15:30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938528" y="35661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regular constraint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0" y="3566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DFA → transition table → บังคับ shift pattern ซับซ้อน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187952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365760" y="4187952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02920" y="418795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15:30–16:00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38528" y="41879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4B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0" y="41879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Scheduling — 10 คน, 14 วัน, กฎแรงงาน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— นิยาม Constraint ใหม่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&lt;name&gt;(&lt;args&gt;) = &lt;bool-expression&gt;;  →  ใช้แทน constraint ได้ทุกที่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8412480" cy="16002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54864" cy="1600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8247888" cy="1527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นิยาม predicate: 2 task ห้าม overlap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s2,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d2)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s1 + d1 &lt;= s2  \/  s2 + d2 &lt;= s1;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ใช้งาน — อ่านเข้าใจง่ายกว่า inline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(start[A], dur[A], start[B], dur[B]);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349300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ทำไมต้องใช้ predicate: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822192"/>
            <a:ext cx="8412480" cy="265176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365760" y="3822192"/>
            <a:ext cx="54864" cy="2651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02920" y="3822192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อ่านง่ายขึ้น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880360" y="3822192"/>
            <a:ext cx="580644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no_overlap(...) ชัดกว่า s1+d1&lt;=s2 \/ s2+d2&lt;=s1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114800"/>
            <a:ext cx="8412480" cy="2651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4114800"/>
            <a:ext cx="54864" cy="2651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4114800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♻️ นำมาใช้ซ้ำได้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80360" y="4114800"/>
            <a:ext cx="580644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เรียกใช้ได้ทุกที่ในโมเดล — ไม่ต้องเขียนซ้ำ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4407408"/>
            <a:ext cx="8412480" cy="265176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4407408"/>
            <a:ext cx="54864" cy="2651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502920" y="4407408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modular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880360" y="4407408"/>
            <a:ext cx="580644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ซ่อนรายละเอียด — เปลี่ยน implementation ได้โดยไม่กระทบส่วนอื่น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predicate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no_overlap vs. disjunctive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69080" cy="35478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069080" cy="384048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(pairwise)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886200" cy="29718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54864" cy="2971800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603504" y="1581912"/>
            <a:ext cx="3721608" cy="2898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no_overlap(...)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s1+d1&lt;=s2 \/ s2+d2&lt;=s1;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(j,k in JOB where j&lt;k)(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50" dirty="0" err="1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(s[j,t],d[j,t],s[k,t],d[k,t])));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n*(n-1)/2 constraints ต่อ task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ยืดหยุ่น — ใส่ extra condition ได้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051560"/>
            <a:ext cx="4069080" cy="3547872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4709160" y="1051560"/>
            <a:ext cx="4069080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709160" y="1051560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disjunctive (global)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00600" y="1508760"/>
            <a:ext cx="3886200" cy="29718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4800600" y="1508760"/>
            <a:ext cx="54864" cy="29718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946904" y="1581912"/>
            <a:ext cx="3721608" cy="2898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"disjunctive.mzn";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([s[j,t]|j in JOB],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[d[j,t]|j in JOB]));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 constraint ต่อ task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solver มี algorithm พิเศษ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เร็วกว่าสำหรับปัญหาใหญ่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4727448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ใช้ predicate เมื่อต้องการความยืดหยุ่น  |  ใช้ disjunctive เมื่อต้องการความเร็ว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predicate vs disjunctive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 — เลือกเครื่องจักรได้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Job Shop: task ใช้เครื่องตายตัว  →  Flexible: task เลือกเครื่องได้ duration ต่างกัน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755648"/>
          <a:ext cx="8412480" cy="265176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Job Shop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Flexible Job Shop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เครื่องที่ใช้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ต่อ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เลือกได้ — เป็น decision 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d[job,task]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d[job,task,machine] — ขึ้นกับเครื่อง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ตัวแปรเพิ่ม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machine[job,task]: var MACHINE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 เพิ่ม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dur[j,t,machine[j,t]] &gt;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ต่ำกว่า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สูงกว่า — solver ต้องเลือกเครื่องด้วย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4544568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6"/>
          <p:cNvSpPr/>
          <p:nvPr/>
        </p:nvSpPr>
        <p:spPr>
          <a:xfrm>
            <a:off x="457200" y="45445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ประยุกต์จริง: เครื่องจักรทดแทน, ขนาดงานกับขนาดเครื่อง, ค่าใช้จ่ายต่างกันต่อเครื่อง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Flexible Job Shop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 — โมเดล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212080" cy="356616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661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5047488" cy="3493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JOB; enum TASK; enum MACHINE;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[JOB,TASK,MACHINE]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dur;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0 = เครื่องนั้นทำ task นี้ไม่ได้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ตัวแปรสำคัญ: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เลือกเครื่อง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MACHINE: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machine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0..total: start;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1.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เลือกเฉพาะเครื่องที่ทำได้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(j,t)(dur[j,t,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machine[j,t]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&gt; 0);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2. Precedence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ใน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job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start[j,t]+dur[j,t,machine[j,t]] &lt;= start[j,t+1]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3. No-overlap: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เครื่องเดียวกันทีละ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machine[j,t]=m /\ machine[k,t]=m -&gt; no_overlap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715000" y="1463040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715000" y="1463040"/>
            <a:ext cx="54864" cy="65836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806440" y="1463040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3D array!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by job, task, machine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15000" y="2578608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715000" y="2578608"/>
            <a:ext cx="54864" cy="658368"/>
          </a:xfrm>
          <a:prstGeom prst="rect">
            <a:avLst/>
          </a:prstGeom>
          <a:solidFill>
            <a:srgbClr val="BE185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806440" y="2578608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machine เป็น variable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Solver เลือกให้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3089352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715000" y="3089352"/>
            <a:ext cx="54864" cy="65836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806440" y="3089352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duration ขึ้นกับ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เครื่องที่เลือก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715000" y="3756864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715000" y="3756864"/>
            <a:ext cx="54864" cy="65836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806440" y="3756864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no-overlap: เช็คเฉพาะ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ที่เครื่องตรงกัน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Flexible Job Shop โมเดล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4A — Flexible Manufacturing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workshop4a_starter.mzn + workshop4a_data.dzn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80467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80467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4 ออร์เดอร์ (J1-J4), 3 ขั้นตอน (T1-T3), 3 เครื่องจักร (MA,MB,MC)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แต่ละ task ทำได้บางเครื่องเท่านั้น (0 = ทำไม่ได้)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304288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304288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365760" y="230428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304288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constraint เลือกเครื่องที่ทำได้: 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65760" y="277977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2779776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Precedence: 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255264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365760" y="3255264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365760" y="3255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3255264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No-overlap ต่อเครื่อง: 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5760" y="3730752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365760" y="3730752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365760" y="37307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3730752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minimize makespan: 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206240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365760" y="4206240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365760" y="42062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" y="420624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เปรียบเทียบ makespan: 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931920" y="4206240"/>
            <a:ext cx="4754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ลบ constraint เลือกเครื่อง → solver เลือกไม่ดี → makespan นานขึ้น?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Workshop 4A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Rostering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regular constraint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34290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demand: ทุกวันต้องมีคนครบทุกกะ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813048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81304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rule: หลังกะดึกต้องหยุด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197096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419709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fairness: กระจาย shift อย่างเป็นธรรม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581144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58368" y="4581144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regular: DFA บังคับ pattern ที่ซับซ้อน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Rostering — ปัญหาจริงในโรงงาน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Rostering = กำหนดว่าใครทำกะไหน วันไหน โดยตรงทุก constraint พร้อมกัน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2633472" cy="28346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64008" cy="2834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02920" y="18470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Demand Constraints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2677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กะเช้าต้องมี &gt;= req_morning คน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81635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กะดึกต้องมี &gt;= req_night คน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3649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ทุกวันทุกกะต้องครบ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755648"/>
            <a:ext cx="2633472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200400" y="1755648"/>
            <a:ext cx="64008" cy="2834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337560" y="18470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😴  Rest Rules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22677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หลังกะดึกต้องหยุดอย่างน้อย 1 วัน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7560" y="281635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ห้ามทำ 3 กะดึกติดต่อกัน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33649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ทำงานติดต่อกันไม่เกิน 6 วัน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755648"/>
            <a:ext cx="2633472" cy="28346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6035040" y="1755648"/>
            <a:ext cx="64008" cy="2834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6172200" y="18470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Fairness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72200" y="22677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กะดึกกระจายเท่ากัน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81635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วันหยุดกระจายเท่ากัน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72200" y="33649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Minimize กะดึกรวม (หรือ max-min)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4663440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502920" y="46634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MiniZinc: array[EMPLOYEE, DAY] of var SHIFT: roster;  — 1 ตัวแปรต่อ 1 slot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Employee Rostering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Rostering — โมเดล MiniZinc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120640" cy="352044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204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4956048" cy="34472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 = { M, E, N, O };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% morning/eve/night/off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[EMP,DAY] of var SHIFT: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Demand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 in DAY)(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EMP)(roster[e,d]=M) &gt;=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req_M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/\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EMP)(roster[e,d]=N) &gt;= req_N);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Rest after night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(e,d where d &lt; max(DAY))(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roster[e,d]=N -&gt; roster[e,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enum_next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(DAY,d)]=O);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Fairness: minimize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กะดึก</a:t>
            </a:r>
            <a:r>
              <a:rPr lang="th-TH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ของทุกคน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nights = max(e)(sum(d)(</a:t>
            </a:r>
            <a:r>
              <a:rPr lang="en-US" sz="10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bool2int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(roster[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e,d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]=N)));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nights;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23560" y="1417320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623560" y="1417320"/>
            <a:ext cx="54864" cy="6400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715000" y="1417320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ตัวแปรหลัก: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cell ต่อ (พนักงาน,วัน)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2093648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623560" y="2093648"/>
            <a:ext cx="54864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715000" y="2093648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Demand: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bool2int auto-coerce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23560" y="2973199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623560" y="2973199"/>
            <a:ext cx="54864" cy="6400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15000" y="2973199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Rest rule: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enum_next สำหรับวันถัดไป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23560" y="3777871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623560" y="3777871"/>
            <a:ext cx="54864" cy="640080"/>
          </a:xfrm>
          <a:prstGeom prst="rect">
            <a:avLst/>
          </a:prstGeom>
          <a:solidFill>
            <a:srgbClr val="BE185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715000" y="3777871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Minimize nights: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เพื่อความเป็นธรรม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Rostering โมเดล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constraint — Pattern ที่ซับซ้อน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regular(sequence, transition_table, start_state, accepting_states)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เมื่อไรต้องใช้ regular: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103120"/>
            <a:ext cx="8412480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103120"/>
            <a:ext cx="54864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02920" y="210312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ธรรมดาเขียนยาก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20440" y="2103120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ห้ามทำดึก 3 คืนติดกัน: ต้องจำ 'นับกี่คืนแล้ว'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542032"/>
            <a:ext cx="841248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365760" y="2542032"/>
            <a:ext cx="54864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502920" y="2542032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กฎขึ้นกับ history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20440" y="2542032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5 วัน → ต้องหยุด 2 วัน → ทำได้อีก...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980944"/>
            <a:ext cx="8412480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365760" y="2980944"/>
            <a:ext cx="54864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502920" y="298094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กฎเป็น sequence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520440" y="2980944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เฉพาะลำดับกะที่กฎหมายแรงงานอนุญาต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42900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หลักการ: DFA (Deterministic Finite Automaton)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3767328"/>
            <a:ext cx="8412480" cy="1033272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365760" y="3767328"/>
            <a:ext cx="54864" cy="103327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502920" y="3813048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วาด state diagram: แต่ละ state = 'ประวัติที่เกี่ยวข้อง'  (เช่น กะดึกติดกันกี่คืน)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กำหนด transitions: จาก state ไหน รับ input อะไร ไป state ไหน  (&lt;&gt; = illegal)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แปลงเป็น transition table 2D array  →  ใส่ใน regular()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regular constraint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ออกแบบ DFA สำหรับกฎกะ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กฎ: ห้ามกะดึก (N) 3 คืนติดกัน  |  ในทุก 4 วัน ต้องมีหยุด (O) อย่างน้อย 1 วัน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64208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66420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เริ่ม/หยุด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0" y="1664208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2286000" y="166420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86000" y="198424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1 วัน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023360" y="1664208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023360" y="166420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23360" y="198424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2 วัน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760720" y="1664208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60720" y="166420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760720" y="198424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3 วัน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23360" y="2440046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4023360" y="2440046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023360" y="2760086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ดึก 1 คืน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760720" y="2440046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760720" y="2440046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60720" y="2760086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ดึก 2 คืน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65760" y="2800859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Table: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791169"/>
              </p:ext>
            </p:extLst>
          </p:nvPr>
        </p:nvGraphicFramePr>
        <p:xfrm>
          <a:off x="365760" y="3120899"/>
          <a:ext cx="8412480" cy="17526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(day)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(night)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(off)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ห้าม!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ห้าม!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ห้าม!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DFA Design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constraint — โค้ด MiniZinc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56616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6616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493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"regular.mzn";  enum SHIFT = { d, n, o };  enum STATE = { S1..S6 };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Transition table [state, shift] -&gt; next_state (&lt;&gt; = illegal)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[STATE,SHIFT] of opt STATE: tr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[|      d:  n:  o:</a:t>
            </a:r>
            <a:endParaRPr lang="en-US" sz="10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S1:  S2, S3, S1  | S2:  S4, S4, S1  | S3:  S4, S5, S1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S4:  S6, S6, S1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S5:  S6,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S1 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ห้ามดึก 3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คืนติดต่อกัน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S6: 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S1 |];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% ต้องหยุดก่อน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บังคับทุกพนักงาน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NURSE)(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([roster[e,d]|d in DAY], tr, S1, STATE));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4617720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02920" y="46177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&lt;&gt; = option type 'absent' — ใน MiniZinc หมายถึง illegal transition ทำให้ constraint fail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regular โค้ด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4B — Shift Scheduling โรงงาน 3 กะ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30 นาที  |  ไฟล์: workshop4b_starter.mzn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89611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89611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พนักงาน 10 คน, 14 วัน — กะ M/E/N/O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Demand: เช้า≥4, บ่าย≥3, ดึก≥2  |  Minimize กะดึกรวม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395728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395728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365760" y="2395728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39572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demand constraint: 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862072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862072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65760" y="2862072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286207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rest after night: 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328416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365760" y="3328416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365760" y="3328416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3328416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max 6 วันทำงานติด: 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5760" y="3794760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365760" y="3794760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365760" y="3794760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3794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minimize total_nights: 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261104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365760" y="4261104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365760" y="4261104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" y="4261104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ใช้ regular: 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749040" y="426110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เพิ่ม regular constraint สำหรับ rule ห้ามดึก 3 คืนติด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Workshop 4B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4 — สิ่งที่ต้องจำ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predicate — นิยาม constraint ที่นำมาใช้ซ้ำได้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no_overlap(s1,d1,s2,d2) = ... — อ่านง่าย reusable ซ่อน complexity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929384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1929384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199339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 Flexible Job Shop — เพิ่มมิติการเลือกเครื่อง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331720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machine[j,t]: var MACHINE — dur[j,t,machine[j,t]] — constraint เลือกเฉพาะที่ทำได้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28437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Rostering = demand + rest + fairness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182112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sum(e)(roster[e,d]=N) &gt;= req_N | N→O rest rule | minimize nights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30168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630168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48640" y="3694176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regular — DFA บังคับ shift pattern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032504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วาด DFA ก่อน → transition table → regular([roster[e,d]|d in DAY], tr, S1, STATE)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498848"/>
            <a:ext cx="8412480" cy="2011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57200" y="44988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5: Vehicle Routing (TSP/VRP) + Bin Packing — ปัญหาโลจิสติกส์จริง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predicate และ function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PREDICATE (returns bool) 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s2,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d2)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s1 + d1 &lt;= s2  \/  s2 + d2 &lt;= s1;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FUNCTION (returns value) 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total_dur(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MACHINE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m, JOB: j, TASK: t)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dur[j, t, m];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TEST (fixed bool, สำหรับ parameter เท่านั้น) 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is_weekday(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d) = d mod 7 &lt;= 5;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LOCAL VARIABLE ใน predicate 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overlap_free(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...) = let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int: gap = s2 - s1 - d1;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in gap &gt;= 0;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Quick Ref: predicate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regular constraint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"regular.mzn";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Signature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(array[int] of var $$Val: x,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array[$$State,$$Val] of opt $$State: d,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$$State: q0,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set of $$State: F)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ตัวอย่าง: ห้าม 3 วันดึกติดกัน 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STATE = { S0, S1, S2 };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[STATE,SHIFT] of opt STATE: tr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[| S0: S1, S0    % d=S1, o=S0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S1: S2, S0    % d=S2, o=S0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S2: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S0 |];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% illegal, o=S0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EMP)(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([roster[e,d]|d in DAYS], tr, S0, STATE));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Quick Ref: regular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ข้อผิดพลาดที่พบบ่อย — วันที่ 4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1155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predicate f(var int: x) = let {var int: y} in x=2*y;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" y="13533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predicate f(var int: x) = let {var int: y = x div 2} in x=2*y;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0352" y="16459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variable ใน predicate ต้องถูก define ถ้าอยู่ใน negative context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975104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975104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dur[j,t,machine[j,t]]  % ก่อนเพิ่ม constraint dur&gt;0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" y="224942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constraint forall(j,t)(dur[j,t,machine[j,t]] &gt; 0);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" y="2542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Shop: ต้องมี constraint บังคับว่าเลือกเฉพาะเครื่องที่ทำได้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871216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871216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30352" y="290779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roster[e, d+1]  % ถ้า DAY เป็น enum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" y="314553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roster[e, enum_next(DAY, d)]  % ใช้ enum_next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" y="343814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ถ้า index เป็น enum ต้องใช้ enum_next ไม่ใช่ +1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767328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3767328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30352" y="380390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regular(roster[e], ...)  % roster[e] เป็น 2D array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0352" y="40416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regular([roster[e,d] | d in DAY], ...)  % ต้องสร้าง 1D sequence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433425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รับ 1D array — ต้องสร้าง sequence ของแต่ละพนักงานก่อน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Common Mistakes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Preview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Routing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Bin Packing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28803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 — circuit() global constraint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29184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 — หลาย vehicle, หลายลูกค้า, capacity จำกัด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370332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Packing — minimize จำนวนกล่อง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58368" y="411480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 — set variables (var set of ITEMS)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กรณีศึกษา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กรณีศึกษา: ผลลัพธ์ Rostering จริง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13258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12527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ตาราง 7 พนักงาน 10 วัน (M=เช้า, N=ดึก, o=หยุด)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Nurse(1): d o n o n o d d n o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Nurse(2): d o d n n o d d n o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กะดึก: 3 วัน/คน เป็นธรรมดี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254203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889504"/>
            <a:ext cx="8412480" cy="39319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889504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02920" y="2889504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N→O ถูกบังคับ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2889504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หลังกะดึกทุกครั้งจะมี o ตามมาเสมอ — regular ทำงาน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337560"/>
            <a:ext cx="841248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3337560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02920" y="3337560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กะดึกกระจาย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46120" y="3337560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total_nights ทำให้ solver กระจาย N ออกไป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785616"/>
            <a:ext cx="8412480" cy="39319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785616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02920" y="3785616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46120" y="3785616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nights อาจไม่ minimize total_cost — ต้องเลือก objective ให้ตรงความต้องการ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233672"/>
            <a:ext cx="841248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365760" y="4233672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502920" y="4233672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ปัญหาจริงซับซ้อนกว่า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46120" y="4233672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วันลา, ทักษะพิเศษ, ข้อจำกัดส่วนตัว → เพิ่ม constraint ได้เรื่อยๆ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กรณีศึกษา Rostering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Flexible + Rostering Patterns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FLEXIBLE JOB SHOP 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MACHINE: machine;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(j,t)(dur[j,t,machine[j,t]] &gt; 0);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Precedence: start[j,t]+dur[j,t,machine[j,t]] &lt;= start[j,t+1]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ROSTERING STRUCTURE 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SHIFT = { M, E, N, O };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[EMP,DAY] of var SHIFT: roster;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Demand: sum(e)(roster[e,d]=M) &gt;=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req_M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Rest:   roster[e,d]=N -&gt; roster[e,enum_next(DAY,d)]=O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Fair:   solve minimize sum(e,d)(bool2int(roster[e,d]=N))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REGULAR FOR PATTERNS 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([roster[e,d]|d in DAY], tr, S0, STATE)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tr = transition table  |  S0 = start state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&lt;&gt; in tr = illegal transition (option type)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Quick Ref: Day 4 Patterns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537</TotalTime>
  <Words>3113</Words>
  <Application>Microsoft Macintosh PowerPoint</Application>
  <PresentationFormat>On-screen Show (16:9)</PresentationFormat>
  <Paragraphs>414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MiniZinc Day 4 - Scheduling In-depth &amp; Rostering</dc:title>
  <dc:subject>PptxGenJS Presentation</dc:subject>
  <dc:creator>PptxGenJS</dc:creator>
  <cp:lastModifiedBy>Vacharapat METTANANT</cp:lastModifiedBy>
  <cp:revision>9</cp:revision>
  <dcterms:created xsi:type="dcterms:W3CDTF">2026-06-04T12:37:11Z</dcterms:created>
  <dcterms:modified xsi:type="dcterms:W3CDTF">2026-07-08T08:23:04Z</dcterms:modified>
</cp:coreProperties>
</file>